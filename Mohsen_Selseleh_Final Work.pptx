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57" r:id="rId3"/>
    <p:sldId id="258" r:id="rId4"/>
    <p:sldId id="272" r:id="rId5"/>
    <p:sldId id="294" r:id="rId6"/>
    <p:sldId id="295" r:id="rId7"/>
    <p:sldId id="296" r:id="rId8"/>
    <p:sldId id="297" r:id="rId9"/>
    <p:sldId id="298" r:id="rId10"/>
    <p:sldId id="259" r:id="rId11"/>
    <p:sldId id="273" r:id="rId12"/>
    <p:sldId id="274" r:id="rId13"/>
    <p:sldId id="275" r:id="rId14"/>
    <p:sldId id="276" r:id="rId15"/>
    <p:sldId id="277" r:id="rId16"/>
    <p:sldId id="278" r:id="rId17"/>
    <p:sldId id="260" r:id="rId18"/>
    <p:sldId id="279" r:id="rId19"/>
    <p:sldId id="281" r:id="rId20"/>
    <p:sldId id="280" r:id="rId21"/>
    <p:sldId id="261" r:id="rId22"/>
    <p:sldId id="263" r:id="rId23"/>
    <p:sldId id="271" r:id="rId24"/>
    <p:sldId id="282" r:id="rId25"/>
    <p:sldId id="290" r:id="rId26"/>
    <p:sldId id="283" r:id="rId27"/>
    <p:sldId id="264" r:id="rId28"/>
    <p:sldId id="291" r:id="rId29"/>
    <p:sldId id="262" r:id="rId30"/>
    <p:sldId id="299" r:id="rId31"/>
    <p:sldId id="284" r:id="rId32"/>
    <p:sldId id="285" r:id="rId33"/>
    <p:sldId id="286" r:id="rId34"/>
    <p:sldId id="287" r:id="rId35"/>
    <p:sldId id="265" r:id="rId36"/>
    <p:sldId id="288" r:id="rId37"/>
    <p:sldId id="267" r:id="rId38"/>
    <p:sldId id="268" r:id="rId39"/>
    <p:sldId id="289" r:id="rId40"/>
    <p:sldId id="266" r:id="rId41"/>
    <p:sldId id="270" r:id="rId42"/>
    <p:sldId id="292" r:id="rId43"/>
    <p:sldId id="293"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6C6785-DDBA-44D7-BCAA-1A38F9CDDAAD}" v="114" dt="2026-03-26T15:34:32.1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sen Selseleh" userId="61269576-d6d8-4fb8-a27d-3f673a80f27b" providerId="ADAL" clId="{2CA7C028-0814-4A67-A745-3E391BF22BBE}"/>
    <pc:docChg chg="modSld">
      <pc:chgData name="Mohsen Selseleh" userId="61269576-d6d8-4fb8-a27d-3f673a80f27b" providerId="ADAL" clId="{2CA7C028-0814-4A67-A745-3E391BF22BBE}" dt="2026-03-26T19:27:43.685" v="0" actId="1076"/>
      <pc:docMkLst>
        <pc:docMk/>
      </pc:docMkLst>
      <pc:sldChg chg="modSp mod">
        <pc:chgData name="Mohsen Selseleh" userId="61269576-d6d8-4fb8-a27d-3f673a80f27b" providerId="ADAL" clId="{2CA7C028-0814-4A67-A745-3E391BF22BBE}" dt="2026-03-26T19:27:43.685" v="0" actId="1076"/>
        <pc:sldMkLst>
          <pc:docMk/>
          <pc:sldMk cId="2508116449" sldId="256"/>
        </pc:sldMkLst>
        <pc:picChg chg="mod">
          <ac:chgData name="Mohsen Selseleh" userId="61269576-d6d8-4fb8-a27d-3f673a80f27b" providerId="ADAL" clId="{2CA7C028-0814-4A67-A745-3E391BF22BBE}" dt="2026-03-26T19:27:43.685" v="0" actId="1076"/>
          <ac:picMkLst>
            <pc:docMk/>
            <pc:sldMk cId="2508116449" sldId="256"/>
            <ac:picMk id="4" creationId="{3F772A72-2E61-734B-4A90-DE0707B340B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F9FB2E-4231-4CEE-BE48-2325F7135FB0}" type="datetimeFigureOut">
              <a:rPr lang="en-CA" smtClean="0"/>
              <a:t>2026-03-26</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2A67B5-1A08-423A-848D-5D7CE736CAD1}" type="slidenum">
              <a:rPr lang="en-CA" smtClean="0"/>
              <a:t>‹#›</a:t>
            </a:fld>
            <a:endParaRPr lang="en-CA"/>
          </a:p>
        </p:txBody>
      </p:sp>
    </p:spTree>
    <p:extLst>
      <p:ext uri="{BB962C8B-B14F-4D97-AF65-F5344CB8AC3E}">
        <p14:creationId xmlns:p14="http://schemas.microsoft.com/office/powerpoint/2010/main" val="260131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991BE-C1A2-2026-CD55-BA7865FA25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83A29EBB-26CC-2A68-5903-05D179BFF0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D07817CF-CD94-5A61-88FC-373BEC5F9966}"/>
              </a:ext>
            </a:extLst>
          </p:cNvPr>
          <p:cNvSpPr>
            <a:spLocks noGrp="1"/>
          </p:cNvSpPr>
          <p:nvPr>
            <p:ph type="dt" sz="half" idx="10"/>
          </p:nvPr>
        </p:nvSpPr>
        <p:spPr/>
        <p:txBody>
          <a:bodyPr/>
          <a:lstStyle/>
          <a:p>
            <a:fld id="{321A8692-1B7B-421C-ADEC-FD15F5317A3F}" type="datetime1">
              <a:rPr lang="en-CA" smtClean="0"/>
              <a:t>2026-03-26</a:t>
            </a:fld>
            <a:endParaRPr lang="en-CA"/>
          </a:p>
        </p:txBody>
      </p:sp>
      <p:sp>
        <p:nvSpPr>
          <p:cNvPr id="5" name="Footer Placeholder 4">
            <a:extLst>
              <a:ext uri="{FF2B5EF4-FFF2-40B4-BE49-F238E27FC236}">
                <a16:creationId xmlns:a16="http://schemas.microsoft.com/office/drawing/2014/main" id="{361F31B8-272D-E121-C6C4-3C5AE9F6FBF8}"/>
              </a:ext>
            </a:extLst>
          </p:cNvPr>
          <p:cNvSpPr>
            <a:spLocks noGrp="1"/>
          </p:cNvSpPr>
          <p:nvPr>
            <p:ph type="ftr" sz="quarter" idx="11"/>
          </p:nvPr>
        </p:nvSpPr>
        <p:spPr/>
        <p:txBody>
          <a:bodyPr/>
          <a:lstStyle/>
          <a:p>
            <a:r>
              <a:rPr lang="en-US"/>
              <a:t>Lecturer at George Brown College and Ontario Tech university</a:t>
            </a:r>
            <a:endParaRPr lang="en-CA"/>
          </a:p>
        </p:txBody>
      </p:sp>
      <p:sp>
        <p:nvSpPr>
          <p:cNvPr id="6" name="Slide Number Placeholder 5">
            <a:extLst>
              <a:ext uri="{FF2B5EF4-FFF2-40B4-BE49-F238E27FC236}">
                <a16:creationId xmlns:a16="http://schemas.microsoft.com/office/drawing/2014/main" id="{FA0D0A9A-B486-D36F-0C63-F9C9B1801A57}"/>
              </a:ext>
            </a:extLst>
          </p:cNvPr>
          <p:cNvSpPr>
            <a:spLocks noGrp="1"/>
          </p:cNvSpPr>
          <p:nvPr>
            <p:ph type="sldNum" sz="quarter" idx="12"/>
          </p:nvPr>
        </p:nvSpPr>
        <p:spPr/>
        <p:txBody>
          <a:bodyPr/>
          <a:lstStyle/>
          <a:p>
            <a:fld id="{B264D5AC-D6CE-4031-956D-ECB73200ACA0}" type="slidenum">
              <a:rPr lang="en-CA" smtClean="0"/>
              <a:t>‹#›</a:t>
            </a:fld>
            <a:endParaRPr lang="en-CA"/>
          </a:p>
        </p:txBody>
      </p:sp>
    </p:spTree>
    <p:extLst>
      <p:ext uri="{BB962C8B-B14F-4D97-AF65-F5344CB8AC3E}">
        <p14:creationId xmlns:p14="http://schemas.microsoft.com/office/powerpoint/2010/main" val="1598116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DA740-4950-A3F2-22ED-FDA81CA4C36F}"/>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EB07B58F-B8CF-A606-451F-79F4C61B51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D455159-E278-53A7-9952-7EAD7BA1CDFF}"/>
              </a:ext>
            </a:extLst>
          </p:cNvPr>
          <p:cNvSpPr>
            <a:spLocks noGrp="1"/>
          </p:cNvSpPr>
          <p:nvPr>
            <p:ph type="dt" sz="half" idx="10"/>
          </p:nvPr>
        </p:nvSpPr>
        <p:spPr/>
        <p:txBody>
          <a:bodyPr/>
          <a:lstStyle/>
          <a:p>
            <a:fld id="{DEDDE548-0922-458C-A69A-EE8B2436D8B0}" type="datetime1">
              <a:rPr lang="en-CA" smtClean="0"/>
              <a:t>2026-03-26</a:t>
            </a:fld>
            <a:endParaRPr lang="en-CA"/>
          </a:p>
        </p:txBody>
      </p:sp>
      <p:sp>
        <p:nvSpPr>
          <p:cNvPr id="5" name="Footer Placeholder 4">
            <a:extLst>
              <a:ext uri="{FF2B5EF4-FFF2-40B4-BE49-F238E27FC236}">
                <a16:creationId xmlns:a16="http://schemas.microsoft.com/office/drawing/2014/main" id="{96BEBF81-4AD9-4B30-EE87-8ED2BC42DFE4}"/>
              </a:ext>
            </a:extLst>
          </p:cNvPr>
          <p:cNvSpPr>
            <a:spLocks noGrp="1"/>
          </p:cNvSpPr>
          <p:nvPr>
            <p:ph type="ftr" sz="quarter" idx="11"/>
          </p:nvPr>
        </p:nvSpPr>
        <p:spPr/>
        <p:txBody>
          <a:bodyPr/>
          <a:lstStyle/>
          <a:p>
            <a:r>
              <a:rPr lang="en-US"/>
              <a:t>Lecturer at George Brown College and Ontario Tech university</a:t>
            </a:r>
            <a:endParaRPr lang="en-CA"/>
          </a:p>
        </p:txBody>
      </p:sp>
      <p:sp>
        <p:nvSpPr>
          <p:cNvPr id="6" name="Slide Number Placeholder 5">
            <a:extLst>
              <a:ext uri="{FF2B5EF4-FFF2-40B4-BE49-F238E27FC236}">
                <a16:creationId xmlns:a16="http://schemas.microsoft.com/office/drawing/2014/main" id="{0ACC28FB-1E50-9B17-852F-072DAF79EFD3}"/>
              </a:ext>
            </a:extLst>
          </p:cNvPr>
          <p:cNvSpPr>
            <a:spLocks noGrp="1"/>
          </p:cNvSpPr>
          <p:nvPr>
            <p:ph type="sldNum" sz="quarter" idx="12"/>
          </p:nvPr>
        </p:nvSpPr>
        <p:spPr/>
        <p:txBody>
          <a:bodyPr/>
          <a:lstStyle/>
          <a:p>
            <a:fld id="{B264D5AC-D6CE-4031-956D-ECB73200ACA0}" type="slidenum">
              <a:rPr lang="en-CA" smtClean="0"/>
              <a:t>‹#›</a:t>
            </a:fld>
            <a:endParaRPr lang="en-CA"/>
          </a:p>
        </p:txBody>
      </p:sp>
    </p:spTree>
    <p:extLst>
      <p:ext uri="{BB962C8B-B14F-4D97-AF65-F5344CB8AC3E}">
        <p14:creationId xmlns:p14="http://schemas.microsoft.com/office/powerpoint/2010/main" val="2070743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EECEF-1316-7715-B5C1-F89F0E3494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12E8A5C6-EA7B-0277-2F0E-EDC0A8C9355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20C24D-60F0-2A9C-1134-1FE7FA521D72}"/>
              </a:ext>
            </a:extLst>
          </p:cNvPr>
          <p:cNvSpPr>
            <a:spLocks noGrp="1"/>
          </p:cNvSpPr>
          <p:nvPr>
            <p:ph type="dt" sz="half" idx="10"/>
          </p:nvPr>
        </p:nvSpPr>
        <p:spPr/>
        <p:txBody>
          <a:bodyPr/>
          <a:lstStyle/>
          <a:p>
            <a:fld id="{CD13A8F3-0900-425E-A35F-6B40AD68B387}" type="datetime1">
              <a:rPr lang="en-CA" smtClean="0"/>
              <a:t>2026-03-26</a:t>
            </a:fld>
            <a:endParaRPr lang="en-CA"/>
          </a:p>
        </p:txBody>
      </p:sp>
      <p:sp>
        <p:nvSpPr>
          <p:cNvPr id="5" name="Footer Placeholder 4">
            <a:extLst>
              <a:ext uri="{FF2B5EF4-FFF2-40B4-BE49-F238E27FC236}">
                <a16:creationId xmlns:a16="http://schemas.microsoft.com/office/drawing/2014/main" id="{A0B0EFE3-A793-05A2-C8D9-A292B7AF31AC}"/>
              </a:ext>
            </a:extLst>
          </p:cNvPr>
          <p:cNvSpPr>
            <a:spLocks noGrp="1"/>
          </p:cNvSpPr>
          <p:nvPr>
            <p:ph type="ftr" sz="quarter" idx="11"/>
          </p:nvPr>
        </p:nvSpPr>
        <p:spPr/>
        <p:txBody>
          <a:bodyPr/>
          <a:lstStyle/>
          <a:p>
            <a:r>
              <a:rPr lang="en-US"/>
              <a:t>Lecturer at George Brown College and Ontario Tech university</a:t>
            </a:r>
            <a:endParaRPr lang="en-CA"/>
          </a:p>
        </p:txBody>
      </p:sp>
      <p:sp>
        <p:nvSpPr>
          <p:cNvPr id="6" name="Slide Number Placeholder 5">
            <a:extLst>
              <a:ext uri="{FF2B5EF4-FFF2-40B4-BE49-F238E27FC236}">
                <a16:creationId xmlns:a16="http://schemas.microsoft.com/office/drawing/2014/main" id="{F60F286F-2999-B923-AB39-FA92A95CD6B9}"/>
              </a:ext>
            </a:extLst>
          </p:cNvPr>
          <p:cNvSpPr>
            <a:spLocks noGrp="1"/>
          </p:cNvSpPr>
          <p:nvPr>
            <p:ph type="sldNum" sz="quarter" idx="12"/>
          </p:nvPr>
        </p:nvSpPr>
        <p:spPr/>
        <p:txBody>
          <a:bodyPr/>
          <a:lstStyle/>
          <a:p>
            <a:fld id="{B264D5AC-D6CE-4031-956D-ECB73200ACA0}" type="slidenum">
              <a:rPr lang="en-CA" smtClean="0"/>
              <a:t>‹#›</a:t>
            </a:fld>
            <a:endParaRPr lang="en-CA"/>
          </a:p>
        </p:txBody>
      </p:sp>
    </p:spTree>
    <p:extLst>
      <p:ext uri="{BB962C8B-B14F-4D97-AF65-F5344CB8AC3E}">
        <p14:creationId xmlns:p14="http://schemas.microsoft.com/office/powerpoint/2010/main" val="1935185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F6C14-9B4F-F3A8-3413-BED00493F614}"/>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3776C916-B2ED-5D41-0296-2001ABBB12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1F4F824F-E6EA-1C1C-9463-E44A6E3CB6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0F369BC1-9D0F-10AD-99C2-469583D51DDD}"/>
              </a:ext>
            </a:extLst>
          </p:cNvPr>
          <p:cNvSpPr>
            <a:spLocks noGrp="1"/>
          </p:cNvSpPr>
          <p:nvPr>
            <p:ph type="dt" sz="half" idx="10"/>
          </p:nvPr>
        </p:nvSpPr>
        <p:spPr/>
        <p:txBody>
          <a:bodyPr/>
          <a:lstStyle/>
          <a:p>
            <a:fld id="{655A93C9-9038-4557-8655-D6965184CC42}" type="datetime1">
              <a:rPr lang="en-CA" smtClean="0"/>
              <a:t>2026-03-26</a:t>
            </a:fld>
            <a:endParaRPr lang="en-CA"/>
          </a:p>
        </p:txBody>
      </p:sp>
      <p:sp>
        <p:nvSpPr>
          <p:cNvPr id="6" name="Footer Placeholder 5">
            <a:extLst>
              <a:ext uri="{FF2B5EF4-FFF2-40B4-BE49-F238E27FC236}">
                <a16:creationId xmlns:a16="http://schemas.microsoft.com/office/drawing/2014/main" id="{8652F05C-E64B-ED10-DFAA-02388CBE8CC7}"/>
              </a:ext>
            </a:extLst>
          </p:cNvPr>
          <p:cNvSpPr>
            <a:spLocks noGrp="1"/>
          </p:cNvSpPr>
          <p:nvPr>
            <p:ph type="ftr" sz="quarter" idx="11"/>
          </p:nvPr>
        </p:nvSpPr>
        <p:spPr/>
        <p:txBody>
          <a:bodyPr/>
          <a:lstStyle/>
          <a:p>
            <a:r>
              <a:rPr lang="en-US"/>
              <a:t>Lecturer at George Brown College and Ontario Tech university</a:t>
            </a:r>
            <a:endParaRPr lang="en-CA"/>
          </a:p>
        </p:txBody>
      </p:sp>
      <p:sp>
        <p:nvSpPr>
          <p:cNvPr id="7" name="Slide Number Placeholder 6">
            <a:extLst>
              <a:ext uri="{FF2B5EF4-FFF2-40B4-BE49-F238E27FC236}">
                <a16:creationId xmlns:a16="http://schemas.microsoft.com/office/drawing/2014/main" id="{110E7320-A99D-71A9-0513-7581389D9963}"/>
              </a:ext>
            </a:extLst>
          </p:cNvPr>
          <p:cNvSpPr>
            <a:spLocks noGrp="1"/>
          </p:cNvSpPr>
          <p:nvPr>
            <p:ph type="sldNum" sz="quarter" idx="12"/>
          </p:nvPr>
        </p:nvSpPr>
        <p:spPr/>
        <p:txBody>
          <a:bodyPr/>
          <a:lstStyle/>
          <a:p>
            <a:fld id="{B264D5AC-D6CE-4031-956D-ECB73200ACA0}" type="slidenum">
              <a:rPr lang="en-CA" smtClean="0"/>
              <a:t>‹#›</a:t>
            </a:fld>
            <a:endParaRPr lang="en-CA"/>
          </a:p>
        </p:txBody>
      </p:sp>
    </p:spTree>
    <p:extLst>
      <p:ext uri="{BB962C8B-B14F-4D97-AF65-F5344CB8AC3E}">
        <p14:creationId xmlns:p14="http://schemas.microsoft.com/office/powerpoint/2010/main" val="1421042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DBE42-0776-40BB-3734-C7D604177E91}"/>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8BC0D038-3EAF-C72F-0197-66D86CB2DF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8F3241-831A-CD6F-685B-AEB3C4275E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A0DE8BE0-E52B-27AB-FB3E-0E59C1FE43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5A5B3F-EE84-E5CE-6A33-7F8C1FE6E8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AD1754E3-8567-E636-BB8B-ACDCA1270C36}"/>
              </a:ext>
            </a:extLst>
          </p:cNvPr>
          <p:cNvSpPr>
            <a:spLocks noGrp="1"/>
          </p:cNvSpPr>
          <p:nvPr>
            <p:ph type="dt" sz="half" idx="10"/>
          </p:nvPr>
        </p:nvSpPr>
        <p:spPr/>
        <p:txBody>
          <a:bodyPr/>
          <a:lstStyle/>
          <a:p>
            <a:fld id="{F1CE5A78-E0A1-45E8-ABA1-2F72E11E40F2}" type="datetime1">
              <a:rPr lang="en-CA" smtClean="0"/>
              <a:t>2026-03-26</a:t>
            </a:fld>
            <a:endParaRPr lang="en-CA"/>
          </a:p>
        </p:txBody>
      </p:sp>
      <p:sp>
        <p:nvSpPr>
          <p:cNvPr id="8" name="Footer Placeholder 7">
            <a:extLst>
              <a:ext uri="{FF2B5EF4-FFF2-40B4-BE49-F238E27FC236}">
                <a16:creationId xmlns:a16="http://schemas.microsoft.com/office/drawing/2014/main" id="{54A947F2-5841-7FE4-B7C8-E6F8B9826EFE}"/>
              </a:ext>
            </a:extLst>
          </p:cNvPr>
          <p:cNvSpPr>
            <a:spLocks noGrp="1"/>
          </p:cNvSpPr>
          <p:nvPr>
            <p:ph type="ftr" sz="quarter" idx="11"/>
          </p:nvPr>
        </p:nvSpPr>
        <p:spPr/>
        <p:txBody>
          <a:bodyPr/>
          <a:lstStyle/>
          <a:p>
            <a:r>
              <a:rPr lang="en-US"/>
              <a:t>Lecturer at George Brown College and Ontario Tech university</a:t>
            </a:r>
            <a:endParaRPr lang="en-CA"/>
          </a:p>
        </p:txBody>
      </p:sp>
      <p:sp>
        <p:nvSpPr>
          <p:cNvPr id="9" name="Slide Number Placeholder 8">
            <a:extLst>
              <a:ext uri="{FF2B5EF4-FFF2-40B4-BE49-F238E27FC236}">
                <a16:creationId xmlns:a16="http://schemas.microsoft.com/office/drawing/2014/main" id="{D49EA0A0-55B0-BBD7-C3F5-AE9F773560E7}"/>
              </a:ext>
            </a:extLst>
          </p:cNvPr>
          <p:cNvSpPr>
            <a:spLocks noGrp="1"/>
          </p:cNvSpPr>
          <p:nvPr>
            <p:ph type="sldNum" sz="quarter" idx="12"/>
          </p:nvPr>
        </p:nvSpPr>
        <p:spPr/>
        <p:txBody>
          <a:bodyPr/>
          <a:lstStyle/>
          <a:p>
            <a:fld id="{B264D5AC-D6CE-4031-956D-ECB73200ACA0}" type="slidenum">
              <a:rPr lang="en-CA" smtClean="0"/>
              <a:t>‹#›</a:t>
            </a:fld>
            <a:endParaRPr lang="en-CA"/>
          </a:p>
        </p:txBody>
      </p:sp>
    </p:spTree>
    <p:extLst>
      <p:ext uri="{BB962C8B-B14F-4D97-AF65-F5344CB8AC3E}">
        <p14:creationId xmlns:p14="http://schemas.microsoft.com/office/powerpoint/2010/main" val="47746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68621-2906-587C-684B-2C011177C785}"/>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A14F7841-A736-49A8-5F4A-86CB4C9606EB}"/>
              </a:ext>
            </a:extLst>
          </p:cNvPr>
          <p:cNvSpPr>
            <a:spLocks noGrp="1"/>
          </p:cNvSpPr>
          <p:nvPr>
            <p:ph type="dt" sz="half" idx="10"/>
          </p:nvPr>
        </p:nvSpPr>
        <p:spPr/>
        <p:txBody>
          <a:bodyPr/>
          <a:lstStyle/>
          <a:p>
            <a:fld id="{B830F13A-2F97-4CC6-A43D-FE3534EF56A8}" type="datetime1">
              <a:rPr lang="en-CA" smtClean="0"/>
              <a:t>2026-03-26</a:t>
            </a:fld>
            <a:endParaRPr lang="en-CA"/>
          </a:p>
        </p:txBody>
      </p:sp>
      <p:sp>
        <p:nvSpPr>
          <p:cNvPr id="4" name="Footer Placeholder 3">
            <a:extLst>
              <a:ext uri="{FF2B5EF4-FFF2-40B4-BE49-F238E27FC236}">
                <a16:creationId xmlns:a16="http://schemas.microsoft.com/office/drawing/2014/main" id="{5058943D-9018-1B27-EDC0-E195C20DEB6E}"/>
              </a:ext>
            </a:extLst>
          </p:cNvPr>
          <p:cNvSpPr>
            <a:spLocks noGrp="1"/>
          </p:cNvSpPr>
          <p:nvPr>
            <p:ph type="ftr" sz="quarter" idx="11"/>
          </p:nvPr>
        </p:nvSpPr>
        <p:spPr/>
        <p:txBody>
          <a:bodyPr/>
          <a:lstStyle/>
          <a:p>
            <a:r>
              <a:rPr lang="en-US"/>
              <a:t>Lecturer at George Brown College and Ontario Tech university</a:t>
            </a:r>
            <a:endParaRPr lang="en-CA"/>
          </a:p>
        </p:txBody>
      </p:sp>
      <p:sp>
        <p:nvSpPr>
          <p:cNvPr id="5" name="Slide Number Placeholder 4">
            <a:extLst>
              <a:ext uri="{FF2B5EF4-FFF2-40B4-BE49-F238E27FC236}">
                <a16:creationId xmlns:a16="http://schemas.microsoft.com/office/drawing/2014/main" id="{F85C67E8-133F-6914-EC67-D61791AE06B1}"/>
              </a:ext>
            </a:extLst>
          </p:cNvPr>
          <p:cNvSpPr>
            <a:spLocks noGrp="1"/>
          </p:cNvSpPr>
          <p:nvPr>
            <p:ph type="sldNum" sz="quarter" idx="12"/>
          </p:nvPr>
        </p:nvSpPr>
        <p:spPr/>
        <p:txBody>
          <a:bodyPr/>
          <a:lstStyle/>
          <a:p>
            <a:fld id="{B264D5AC-D6CE-4031-956D-ECB73200ACA0}" type="slidenum">
              <a:rPr lang="en-CA" smtClean="0"/>
              <a:t>‹#›</a:t>
            </a:fld>
            <a:endParaRPr lang="en-CA"/>
          </a:p>
        </p:txBody>
      </p:sp>
    </p:spTree>
    <p:extLst>
      <p:ext uri="{BB962C8B-B14F-4D97-AF65-F5344CB8AC3E}">
        <p14:creationId xmlns:p14="http://schemas.microsoft.com/office/powerpoint/2010/main" val="740785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2589AF-F431-77B4-FDBA-C9F304C2EFC9}"/>
              </a:ext>
            </a:extLst>
          </p:cNvPr>
          <p:cNvSpPr>
            <a:spLocks noGrp="1"/>
          </p:cNvSpPr>
          <p:nvPr>
            <p:ph type="dt" sz="half" idx="10"/>
          </p:nvPr>
        </p:nvSpPr>
        <p:spPr/>
        <p:txBody>
          <a:bodyPr/>
          <a:lstStyle/>
          <a:p>
            <a:fld id="{8AEA8813-A2C8-4D26-B59B-1414D872ED13}" type="datetime1">
              <a:rPr lang="en-CA" smtClean="0"/>
              <a:t>2026-03-26</a:t>
            </a:fld>
            <a:endParaRPr lang="en-CA"/>
          </a:p>
        </p:txBody>
      </p:sp>
      <p:sp>
        <p:nvSpPr>
          <p:cNvPr id="3" name="Footer Placeholder 2">
            <a:extLst>
              <a:ext uri="{FF2B5EF4-FFF2-40B4-BE49-F238E27FC236}">
                <a16:creationId xmlns:a16="http://schemas.microsoft.com/office/drawing/2014/main" id="{1A0948BB-3CB0-BD66-B780-0CF45AD92B43}"/>
              </a:ext>
            </a:extLst>
          </p:cNvPr>
          <p:cNvSpPr>
            <a:spLocks noGrp="1"/>
          </p:cNvSpPr>
          <p:nvPr>
            <p:ph type="ftr" sz="quarter" idx="11"/>
          </p:nvPr>
        </p:nvSpPr>
        <p:spPr/>
        <p:txBody>
          <a:bodyPr/>
          <a:lstStyle/>
          <a:p>
            <a:r>
              <a:rPr lang="en-US"/>
              <a:t>Lecturer at George Brown College and Ontario Tech university</a:t>
            </a:r>
            <a:endParaRPr lang="en-CA"/>
          </a:p>
        </p:txBody>
      </p:sp>
      <p:sp>
        <p:nvSpPr>
          <p:cNvPr id="4" name="Slide Number Placeholder 3">
            <a:extLst>
              <a:ext uri="{FF2B5EF4-FFF2-40B4-BE49-F238E27FC236}">
                <a16:creationId xmlns:a16="http://schemas.microsoft.com/office/drawing/2014/main" id="{601C4FFF-8601-D18F-B0A9-BCCCDE8A4D90}"/>
              </a:ext>
            </a:extLst>
          </p:cNvPr>
          <p:cNvSpPr>
            <a:spLocks noGrp="1"/>
          </p:cNvSpPr>
          <p:nvPr>
            <p:ph type="sldNum" sz="quarter" idx="12"/>
          </p:nvPr>
        </p:nvSpPr>
        <p:spPr/>
        <p:txBody>
          <a:bodyPr/>
          <a:lstStyle/>
          <a:p>
            <a:fld id="{B264D5AC-D6CE-4031-956D-ECB73200ACA0}" type="slidenum">
              <a:rPr lang="en-CA" smtClean="0"/>
              <a:t>‹#›</a:t>
            </a:fld>
            <a:endParaRPr lang="en-CA"/>
          </a:p>
        </p:txBody>
      </p:sp>
    </p:spTree>
    <p:extLst>
      <p:ext uri="{BB962C8B-B14F-4D97-AF65-F5344CB8AC3E}">
        <p14:creationId xmlns:p14="http://schemas.microsoft.com/office/powerpoint/2010/main" val="240816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6984E-60B5-820A-C2EA-18B27A4751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CD70F36B-8BF7-58AE-BDF2-494CCD68A6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91FC3A9F-B789-80CC-55C2-7CC83D532E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1B31C3-3E51-61DE-3FBD-43DB0E5EC1F7}"/>
              </a:ext>
            </a:extLst>
          </p:cNvPr>
          <p:cNvSpPr>
            <a:spLocks noGrp="1"/>
          </p:cNvSpPr>
          <p:nvPr>
            <p:ph type="dt" sz="half" idx="10"/>
          </p:nvPr>
        </p:nvSpPr>
        <p:spPr/>
        <p:txBody>
          <a:bodyPr/>
          <a:lstStyle/>
          <a:p>
            <a:fld id="{2E0D041B-767D-479D-BA63-C5D74886EC3F}" type="datetime1">
              <a:rPr lang="en-CA" smtClean="0"/>
              <a:t>2026-03-26</a:t>
            </a:fld>
            <a:endParaRPr lang="en-CA"/>
          </a:p>
        </p:txBody>
      </p:sp>
      <p:sp>
        <p:nvSpPr>
          <p:cNvPr id="6" name="Footer Placeholder 5">
            <a:extLst>
              <a:ext uri="{FF2B5EF4-FFF2-40B4-BE49-F238E27FC236}">
                <a16:creationId xmlns:a16="http://schemas.microsoft.com/office/drawing/2014/main" id="{F2F9830F-BB8A-4F94-6905-45EB3A1C3122}"/>
              </a:ext>
            </a:extLst>
          </p:cNvPr>
          <p:cNvSpPr>
            <a:spLocks noGrp="1"/>
          </p:cNvSpPr>
          <p:nvPr>
            <p:ph type="ftr" sz="quarter" idx="11"/>
          </p:nvPr>
        </p:nvSpPr>
        <p:spPr/>
        <p:txBody>
          <a:bodyPr/>
          <a:lstStyle/>
          <a:p>
            <a:r>
              <a:rPr lang="en-US"/>
              <a:t>Lecturer at George Brown College and Ontario Tech university</a:t>
            </a:r>
            <a:endParaRPr lang="en-CA"/>
          </a:p>
        </p:txBody>
      </p:sp>
      <p:sp>
        <p:nvSpPr>
          <p:cNvPr id="7" name="Slide Number Placeholder 6">
            <a:extLst>
              <a:ext uri="{FF2B5EF4-FFF2-40B4-BE49-F238E27FC236}">
                <a16:creationId xmlns:a16="http://schemas.microsoft.com/office/drawing/2014/main" id="{8E182721-168C-B622-6ADC-7CE7661A83CA}"/>
              </a:ext>
            </a:extLst>
          </p:cNvPr>
          <p:cNvSpPr>
            <a:spLocks noGrp="1"/>
          </p:cNvSpPr>
          <p:nvPr>
            <p:ph type="sldNum" sz="quarter" idx="12"/>
          </p:nvPr>
        </p:nvSpPr>
        <p:spPr/>
        <p:txBody>
          <a:bodyPr/>
          <a:lstStyle/>
          <a:p>
            <a:fld id="{B264D5AC-D6CE-4031-956D-ECB73200ACA0}" type="slidenum">
              <a:rPr lang="en-CA" smtClean="0"/>
              <a:t>‹#›</a:t>
            </a:fld>
            <a:endParaRPr lang="en-CA"/>
          </a:p>
        </p:txBody>
      </p:sp>
    </p:spTree>
    <p:extLst>
      <p:ext uri="{BB962C8B-B14F-4D97-AF65-F5344CB8AC3E}">
        <p14:creationId xmlns:p14="http://schemas.microsoft.com/office/powerpoint/2010/main" val="2259607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53AF4-35B2-1A0A-9DBF-2754FE4BD9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B6245C63-541B-8339-60B2-67EEFBB711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684DD244-1902-2D9C-FC38-916D7E5A7C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6B4C75-992C-955F-E243-9527C969BFB9}"/>
              </a:ext>
            </a:extLst>
          </p:cNvPr>
          <p:cNvSpPr>
            <a:spLocks noGrp="1"/>
          </p:cNvSpPr>
          <p:nvPr>
            <p:ph type="dt" sz="half" idx="10"/>
          </p:nvPr>
        </p:nvSpPr>
        <p:spPr/>
        <p:txBody>
          <a:bodyPr/>
          <a:lstStyle/>
          <a:p>
            <a:fld id="{2F86F575-679D-4315-91E4-BA1F9B791B2C}" type="datetime1">
              <a:rPr lang="en-CA" smtClean="0"/>
              <a:t>2026-03-26</a:t>
            </a:fld>
            <a:endParaRPr lang="en-CA"/>
          </a:p>
        </p:txBody>
      </p:sp>
      <p:sp>
        <p:nvSpPr>
          <p:cNvPr id="6" name="Footer Placeholder 5">
            <a:extLst>
              <a:ext uri="{FF2B5EF4-FFF2-40B4-BE49-F238E27FC236}">
                <a16:creationId xmlns:a16="http://schemas.microsoft.com/office/drawing/2014/main" id="{D0AAF36A-1739-3698-17AF-143787686E24}"/>
              </a:ext>
            </a:extLst>
          </p:cNvPr>
          <p:cNvSpPr>
            <a:spLocks noGrp="1"/>
          </p:cNvSpPr>
          <p:nvPr>
            <p:ph type="ftr" sz="quarter" idx="11"/>
          </p:nvPr>
        </p:nvSpPr>
        <p:spPr/>
        <p:txBody>
          <a:bodyPr/>
          <a:lstStyle/>
          <a:p>
            <a:r>
              <a:rPr lang="en-US"/>
              <a:t>Lecturer at George Brown College and Ontario Tech university</a:t>
            </a:r>
            <a:endParaRPr lang="en-CA"/>
          </a:p>
        </p:txBody>
      </p:sp>
      <p:sp>
        <p:nvSpPr>
          <p:cNvPr id="7" name="Slide Number Placeholder 6">
            <a:extLst>
              <a:ext uri="{FF2B5EF4-FFF2-40B4-BE49-F238E27FC236}">
                <a16:creationId xmlns:a16="http://schemas.microsoft.com/office/drawing/2014/main" id="{BB0E03C6-BDB5-F944-D510-04337DA54ADC}"/>
              </a:ext>
            </a:extLst>
          </p:cNvPr>
          <p:cNvSpPr>
            <a:spLocks noGrp="1"/>
          </p:cNvSpPr>
          <p:nvPr>
            <p:ph type="sldNum" sz="quarter" idx="12"/>
          </p:nvPr>
        </p:nvSpPr>
        <p:spPr/>
        <p:txBody>
          <a:bodyPr/>
          <a:lstStyle/>
          <a:p>
            <a:fld id="{B264D5AC-D6CE-4031-956D-ECB73200ACA0}" type="slidenum">
              <a:rPr lang="en-CA" smtClean="0"/>
              <a:t>‹#›</a:t>
            </a:fld>
            <a:endParaRPr lang="en-CA"/>
          </a:p>
        </p:txBody>
      </p:sp>
    </p:spTree>
    <p:extLst>
      <p:ext uri="{BB962C8B-B14F-4D97-AF65-F5344CB8AC3E}">
        <p14:creationId xmlns:p14="http://schemas.microsoft.com/office/powerpoint/2010/main" val="1331055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94BE5-A9F9-C60B-A5B7-7C75CC83041E}"/>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33AA5AB-0FF9-1170-62FF-06023391CE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E07E792-7C17-5A26-F87F-8AE46769ABF3}"/>
              </a:ext>
            </a:extLst>
          </p:cNvPr>
          <p:cNvSpPr>
            <a:spLocks noGrp="1"/>
          </p:cNvSpPr>
          <p:nvPr>
            <p:ph type="dt" sz="half" idx="10"/>
          </p:nvPr>
        </p:nvSpPr>
        <p:spPr/>
        <p:txBody>
          <a:bodyPr/>
          <a:lstStyle/>
          <a:p>
            <a:fld id="{45F6A500-48A8-4BF4-AC0F-BADF6F1C47C5}" type="datetime1">
              <a:rPr lang="en-CA" smtClean="0"/>
              <a:t>2026-03-26</a:t>
            </a:fld>
            <a:endParaRPr lang="en-CA"/>
          </a:p>
        </p:txBody>
      </p:sp>
      <p:sp>
        <p:nvSpPr>
          <p:cNvPr id="5" name="Footer Placeholder 4">
            <a:extLst>
              <a:ext uri="{FF2B5EF4-FFF2-40B4-BE49-F238E27FC236}">
                <a16:creationId xmlns:a16="http://schemas.microsoft.com/office/drawing/2014/main" id="{BAC117C4-BFCA-C356-936F-C7BC106858FB}"/>
              </a:ext>
            </a:extLst>
          </p:cNvPr>
          <p:cNvSpPr>
            <a:spLocks noGrp="1"/>
          </p:cNvSpPr>
          <p:nvPr>
            <p:ph type="ftr" sz="quarter" idx="11"/>
          </p:nvPr>
        </p:nvSpPr>
        <p:spPr/>
        <p:txBody>
          <a:bodyPr/>
          <a:lstStyle/>
          <a:p>
            <a:r>
              <a:rPr lang="en-US"/>
              <a:t>Lecturer at George Brown College and Ontario Tech university</a:t>
            </a:r>
            <a:endParaRPr lang="en-CA"/>
          </a:p>
        </p:txBody>
      </p:sp>
      <p:sp>
        <p:nvSpPr>
          <p:cNvPr id="6" name="Slide Number Placeholder 5">
            <a:extLst>
              <a:ext uri="{FF2B5EF4-FFF2-40B4-BE49-F238E27FC236}">
                <a16:creationId xmlns:a16="http://schemas.microsoft.com/office/drawing/2014/main" id="{133AF624-D950-4EA3-ED71-F6E7F4394603}"/>
              </a:ext>
            </a:extLst>
          </p:cNvPr>
          <p:cNvSpPr>
            <a:spLocks noGrp="1"/>
          </p:cNvSpPr>
          <p:nvPr>
            <p:ph type="sldNum" sz="quarter" idx="12"/>
          </p:nvPr>
        </p:nvSpPr>
        <p:spPr/>
        <p:txBody>
          <a:bodyPr/>
          <a:lstStyle/>
          <a:p>
            <a:fld id="{B264D5AC-D6CE-4031-956D-ECB73200ACA0}" type="slidenum">
              <a:rPr lang="en-CA" smtClean="0"/>
              <a:t>‹#›</a:t>
            </a:fld>
            <a:endParaRPr lang="en-CA"/>
          </a:p>
        </p:txBody>
      </p:sp>
    </p:spTree>
    <p:extLst>
      <p:ext uri="{BB962C8B-B14F-4D97-AF65-F5344CB8AC3E}">
        <p14:creationId xmlns:p14="http://schemas.microsoft.com/office/powerpoint/2010/main" val="3590273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B7F72F-6A23-1E6E-8B28-C1AAB42F51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A7F7EB3-28B0-9292-F953-867AD104C5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CF6B73A-07E2-C74C-37C1-81224D9B8001}"/>
              </a:ext>
            </a:extLst>
          </p:cNvPr>
          <p:cNvSpPr>
            <a:spLocks noGrp="1"/>
          </p:cNvSpPr>
          <p:nvPr>
            <p:ph type="dt" sz="half" idx="10"/>
          </p:nvPr>
        </p:nvSpPr>
        <p:spPr/>
        <p:txBody>
          <a:bodyPr/>
          <a:lstStyle/>
          <a:p>
            <a:fld id="{845F2437-5857-4F77-8920-8E77D668BC8C}" type="datetime1">
              <a:rPr lang="en-CA" smtClean="0"/>
              <a:t>2026-03-26</a:t>
            </a:fld>
            <a:endParaRPr lang="en-CA"/>
          </a:p>
        </p:txBody>
      </p:sp>
      <p:sp>
        <p:nvSpPr>
          <p:cNvPr id="5" name="Footer Placeholder 4">
            <a:extLst>
              <a:ext uri="{FF2B5EF4-FFF2-40B4-BE49-F238E27FC236}">
                <a16:creationId xmlns:a16="http://schemas.microsoft.com/office/drawing/2014/main" id="{6F38B418-B19D-0028-1010-0853C1230DED}"/>
              </a:ext>
            </a:extLst>
          </p:cNvPr>
          <p:cNvSpPr>
            <a:spLocks noGrp="1"/>
          </p:cNvSpPr>
          <p:nvPr>
            <p:ph type="ftr" sz="quarter" idx="11"/>
          </p:nvPr>
        </p:nvSpPr>
        <p:spPr/>
        <p:txBody>
          <a:bodyPr/>
          <a:lstStyle/>
          <a:p>
            <a:r>
              <a:rPr lang="en-US"/>
              <a:t>Lecturer at George Brown College and Ontario Tech university</a:t>
            </a:r>
            <a:endParaRPr lang="en-CA"/>
          </a:p>
        </p:txBody>
      </p:sp>
      <p:sp>
        <p:nvSpPr>
          <p:cNvPr id="6" name="Slide Number Placeholder 5">
            <a:extLst>
              <a:ext uri="{FF2B5EF4-FFF2-40B4-BE49-F238E27FC236}">
                <a16:creationId xmlns:a16="http://schemas.microsoft.com/office/drawing/2014/main" id="{67E25E93-3E95-F9D1-4AD8-CCA5DFF0F5D3}"/>
              </a:ext>
            </a:extLst>
          </p:cNvPr>
          <p:cNvSpPr>
            <a:spLocks noGrp="1"/>
          </p:cNvSpPr>
          <p:nvPr>
            <p:ph type="sldNum" sz="quarter" idx="12"/>
          </p:nvPr>
        </p:nvSpPr>
        <p:spPr/>
        <p:txBody>
          <a:bodyPr/>
          <a:lstStyle/>
          <a:p>
            <a:fld id="{B264D5AC-D6CE-4031-956D-ECB73200ACA0}" type="slidenum">
              <a:rPr lang="en-CA" smtClean="0"/>
              <a:t>‹#›</a:t>
            </a:fld>
            <a:endParaRPr lang="en-CA"/>
          </a:p>
        </p:txBody>
      </p:sp>
    </p:spTree>
    <p:extLst>
      <p:ext uri="{BB962C8B-B14F-4D97-AF65-F5344CB8AC3E}">
        <p14:creationId xmlns:p14="http://schemas.microsoft.com/office/powerpoint/2010/main" val="3934734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C08398-F19D-5137-EDDD-8B76E047F5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69A28C1C-4166-FA15-E1A3-CDC3484036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9E0C1EE-13D7-1724-F8C4-F700515A0D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8BE6CD2-08D1-4B07-A64B-DA0B7AF0082E}" type="datetime1">
              <a:rPr lang="en-CA" smtClean="0"/>
              <a:t>2026-03-26</a:t>
            </a:fld>
            <a:endParaRPr lang="en-CA"/>
          </a:p>
        </p:txBody>
      </p:sp>
      <p:sp>
        <p:nvSpPr>
          <p:cNvPr id="5" name="Footer Placeholder 4">
            <a:extLst>
              <a:ext uri="{FF2B5EF4-FFF2-40B4-BE49-F238E27FC236}">
                <a16:creationId xmlns:a16="http://schemas.microsoft.com/office/drawing/2014/main" id="{F5D01CEB-39E1-3677-0F0E-10BF54B62F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Lecturer at George Brown College and Ontario Tech university</a:t>
            </a:r>
            <a:endParaRPr lang="en-CA"/>
          </a:p>
        </p:txBody>
      </p:sp>
      <p:sp>
        <p:nvSpPr>
          <p:cNvPr id="6" name="Slide Number Placeholder 5">
            <a:extLst>
              <a:ext uri="{FF2B5EF4-FFF2-40B4-BE49-F238E27FC236}">
                <a16:creationId xmlns:a16="http://schemas.microsoft.com/office/drawing/2014/main" id="{F930E6A8-A5C4-C4EB-2197-85ECAEEBFF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64D5AC-D6CE-4031-956D-ECB73200ACA0}" type="slidenum">
              <a:rPr lang="en-CA" smtClean="0"/>
              <a:t>‹#›</a:t>
            </a:fld>
            <a:endParaRPr lang="en-CA"/>
          </a:p>
        </p:txBody>
      </p:sp>
    </p:spTree>
    <p:extLst>
      <p:ext uri="{BB962C8B-B14F-4D97-AF65-F5344CB8AC3E}">
        <p14:creationId xmlns:p14="http://schemas.microsoft.com/office/powerpoint/2010/main" val="21257381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01D93-4986-CC4C-225C-2BE8C3BE75F9}"/>
              </a:ext>
            </a:extLst>
          </p:cNvPr>
          <p:cNvSpPr>
            <a:spLocks noGrp="1"/>
          </p:cNvSpPr>
          <p:nvPr>
            <p:ph type="ctrTitle"/>
          </p:nvPr>
        </p:nvSpPr>
        <p:spPr/>
        <p:txBody>
          <a:bodyPr/>
          <a:lstStyle/>
          <a:p>
            <a:endParaRPr lang="en-CA"/>
          </a:p>
        </p:txBody>
      </p:sp>
      <p:sp>
        <p:nvSpPr>
          <p:cNvPr id="3" name="Subtitle 2">
            <a:extLst>
              <a:ext uri="{FF2B5EF4-FFF2-40B4-BE49-F238E27FC236}">
                <a16:creationId xmlns:a16="http://schemas.microsoft.com/office/drawing/2014/main" id="{A616BDEF-2C6D-36A4-61AA-24C5D70AB463}"/>
              </a:ext>
            </a:extLst>
          </p:cNvPr>
          <p:cNvSpPr>
            <a:spLocks noGrp="1"/>
          </p:cNvSpPr>
          <p:nvPr>
            <p:ph type="subTitle" idx="1"/>
          </p:nvPr>
        </p:nvSpPr>
        <p:spPr/>
        <p:txBody>
          <a:bodyPr/>
          <a:lstStyle/>
          <a:p>
            <a:endParaRPr lang="en-CA"/>
          </a:p>
        </p:txBody>
      </p:sp>
      <p:pic>
        <p:nvPicPr>
          <p:cNvPr id="4" name="Picture 3">
            <a:extLst>
              <a:ext uri="{FF2B5EF4-FFF2-40B4-BE49-F238E27FC236}">
                <a16:creationId xmlns:a16="http://schemas.microsoft.com/office/drawing/2014/main" id="{3F772A72-2E61-734B-4A90-DE0707B340B2}"/>
              </a:ext>
            </a:extLst>
          </p:cNvPr>
          <p:cNvPicPr>
            <a:picLocks noChangeAspect="1"/>
          </p:cNvPicPr>
          <p:nvPr/>
        </p:nvPicPr>
        <p:blipFill>
          <a:blip r:embed="rId2"/>
          <a:stretch>
            <a:fillRect/>
          </a:stretch>
        </p:blipFill>
        <p:spPr>
          <a:xfrm>
            <a:off x="1524000" y="857027"/>
            <a:ext cx="9144792" cy="5143946"/>
          </a:xfrm>
          <a:prstGeom prst="rect">
            <a:avLst/>
          </a:prstGeom>
        </p:spPr>
      </p:pic>
      <p:sp>
        <p:nvSpPr>
          <p:cNvPr id="5" name="Footer Placeholder 4">
            <a:extLst>
              <a:ext uri="{FF2B5EF4-FFF2-40B4-BE49-F238E27FC236}">
                <a16:creationId xmlns:a16="http://schemas.microsoft.com/office/drawing/2014/main" id="{5CCE1778-7275-AB83-46CE-97F60AFAF23E}"/>
              </a:ext>
            </a:extLst>
          </p:cNvPr>
          <p:cNvSpPr>
            <a:spLocks noGrp="1"/>
          </p:cNvSpPr>
          <p:nvPr>
            <p:ph type="ftr" sz="quarter" idx="11"/>
          </p:nvPr>
        </p:nvSpPr>
        <p:spPr/>
        <p:txBody>
          <a:bodyPr/>
          <a:lstStyle/>
          <a:p>
            <a:r>
              <a:rPr lang="en-US"/>
              <a:t>Lecturer at George Brown College and Ontario Tech university</a:t>
            </a:r>
            <a:endParaRPr lang="en-CA"/>
          </a:p>
        </p:txBody>
      </p:sp>
    </p:spTree>
    <p:extLst>
      <p:ext uri="{BB962C8B-B14F-4D97-AF65-F5344CB8AC3E}">
        <p14:creationId xmlns:p14="http://schemas.microsoft.com/office/powerpoint/2010/main" val="2508116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EEAAF-F474-4466-1415-AE37FA13B024}"/>
              </a:ext>
            </a:extLst>
          </p:cNvPr>
          <p:cNvSpPr>
            <a:spLocks noGrp="1"/>
          </p:cNvSpPr>
          <p:nvPr>
            <p:ph type="title"/>
          </p:nvPr>
        </p:nvSpPr>
        <p:spPr/>
        <p:txBody>
          <a:bodyPr/>
          <a:lstStyle/>
          <a:p>
            <a:pPr algn="r"/>
            <a:r>
              <a:rPr lang="en-US" dirty="0"/>
              <a:t>Summary </a:t>
            </a:r>
            <a:endParaRPr lang="en-CA" dirty="0"/>
          </a:p>
        </p:txBody>
      </p:sp>
      <p:sp>
        <p:nvSpPr>
          <p:cNvPr id="7" name="Content Placeholder 6">
            <a:extLst>
              <a:ext uri="{FF2B5EF4-FFF2-40B4-BE49-F238E27FC236}">
                <a16:creationId xmlns:a16="http://schemas.microsoft.com/office/drawing/2014/main" id="{3FD98707-B111-4215-53D0-559ED2A393F6}"/>
              </a:ext>
            </a:extLst>
          </p:cNvPr>
          <p:cNvSpPr>
            <a:spLocks noGrp="1"/>
          </p:cNvSpPr>
          <p:nvPr>
            <p:ph idx="1"/>
          </p:nvPr>
        </p:nvSpPr>
        <p:spPr/>
        <p:txBody>
          <a:bodyPr>
            <a:normAutofit fontScale="55000" lnSpcReduction="20000"/>
          </a:bodyPr>
          <a:lstStyle/>
          <a:p>
            <a:r>
              <a:rPr lang="en-US" b="1" dirty="0"/>
              <a:t>1. The Research Problem</a:t>
            </a:r>
          </a:p>
          <a:p>
            <a:r>
              <a:rPr lang="en-US" b="1" dirty="0"/>
              <a:t>The Thesis:</a:t>
            </a:r>
            <a:r>
              <a:rPr lang="en-US" dirty="0"/>
              <a:t> "Simplicity is a pitfall." Single-signal models (P/E, CAPE) fail to capture the non-linear dynamics of modern markets (QE, tech disruption).</a:t>
            </a:r>
          </a:p>
          <a:p>
            <a:r>
              <a:rPr lang="en-US" b="1" dirty="0"/>
              <a:t>The Accuracy Trap:</a:t>
            </a:r>
            <a:r>
              <a:rPr lang="en-US" dirty="0"/>
              <a:t> Traditional ratios show high nominal accuracy but an </a:t>
            </a:r>
            <a:r>
              <a:rPr lang="en-US" b="1" dirty="0"/>
              <a:t>F1-Score of 0.000</a:t>
            </a:r>
            <a:r>
              <a:rPr lang="en-US" dirty="0"/>
              <a:t>, meaning they have zero practical predictive utility.</a:t>
            </a:r>
          </a:p>
          <a:p>
            <a:r>
              <a:rPr lang="en-US" b="1" dirty="0"/>
              <a:t>2. The Proposed Solution</a:t>
            </a:r>
          </a:p>
          <a:p>
            <a:r>
              <a:rPr lang="en-US" b="1" dirty="0"/>
              <a:t>Hybrid Framework:</a:t>
            </a:r>
            <a:r>
              <a:rPr lang="en-US" dirty="0"/>
              <a:t> A two-layer approach combining </a:t>
            </a:r>
            <a:r>
              <a:rPr lang="en-US" b="1" dirty="0"/>
              <a:t>GSADF</a:t>
            </a:r>
            <a:r>
              <a:rPr lang="en-US" dirty="0"/>
              <a:t> (to identify explosive price behavior) with a </a:t>
            </a:r>
            <a:r>
              <a:rPr lang="en-US" b="1" dirty="0"/>
              <a:t>Machine Learning (ML)</a:t>
            </a:r>
            <a:r>
              <a:rPr lang="en-US" dirty="0"/>
              <a:t> layer (to verify bubble signatures).</a:t>
            </a:r>
          </a:p>
          <a:p>
            <a:r>
              <a:rPr lang="en-US" b="1" dirty="0"/>
              <a:t>Adaptive Design:</a:t>
            </a:r>
            <a:r>
              <a:rPr lang="en-US" dirty="0"/>
              <a:t> Uses non-linear architectures and adaptive quantiles to navigate shifting market distributions.</a:t>
            </a:r>
          </a:p>
          <a:p>
            <a:r>
              <a:rPr lang="en-US" b="1" dirty="0"/>
              <a:t>3. Key Empirical Findings</a:t>
            </a:r>
          </a:p>
          <a:p>
            <a:r>
              <a:rPr lang="en-US" b="1" dirty="0"/>
              <a:t>Performance Gain:</a:t>
            </a:r>
            <a:r>
              <a:rPr lang="en-US" dirty="0"/>
              <a:t> The hybrid model achieved a </a:t>
            </a:r>
            <a:r>
              <a:rPr lang="en-US" b="1" dirty="0"/>
              <a:t>4.7% detection rate</a:t>
            </a:r>
            <a:r>
              <a:rPr lang="en-US" dirty="0"/>
              <a:t>, successfully identifying </a:t>
            </a:r>
            <a:r>
              <a:rPr lang="en-US" b="1" dirty="0"/>
              <a:t>17 unique signals</a:t>
            </a:r>
            <a:r>
              <a:rPr lang="en-US" dirty="0"/>
              <a:t> missed by traditional econometrics.</a:t>
            </a:r>
          </a:p>
          <a:p>
            <a:r>
              <a:rPr lang="en-US" b="1" dirty="0"/>
              <a:t>Core Drivers:</a:t>
            </a:r>
            <a:r>
              <a:rPr lang="en-US" dirty="0"/>
              <a:t> Feature importance analysis identifies </a:t>
            </a:r>
            <a:r>
              <a:rPr lang="en-US" b="1" dirty="0"/>
              <a:t>Momentum (62.6%)</a:t>
            </a:r>
            <a:r>
              <a:rPr lang="en-US" dirty="0"/>
              <a:t> and </a:t>
            </a:r>
            <a:r>
              <a:rPr lang="en-US" b="1" dirty="0"/>
              <a:t>Volatility (29.4%)</a:t>
            </a:r>
            <a:r>
              <a:rPr lang="en-US" dirty="0"/>
              <a:t> as the dominant predictors of market exuberance.</a:t>
            </a:r>
          </a:p>
          <a:p>
            <a:r>
              <a:rPr lang="en-US" b="1" dirty="0"/>
              <a:t>Validation:</a:t>
            </a:r>
            <a:r>
              <a:rPr lang="en-US" dirty="0"/>
              <a:t> Detections accurately aligned with the </a:t>
            </a:r>
            <a:r>
              <a:rPr lang="en-US" b="1" dirty="0"/>
              <a:t>2000 Dot-com spike</a:t>
            </a:r>
            <a:r>
              <a:rPr lang="en-US" dirty="0"/>
              <a:t> and the </a:t>
            </a:r>
            <a:r>
              <a:rPr lang="en-US" b="1" dirty="0"/>
              <a:t>2020 COVID-19 liquidity shock</a:t>
            </a:r>
            <a:r>
              <a:rPr lang="en-US" dirty="0"/>
              <a:t>.</a:t>
            </a:r>
          </a:p>
          <a:p>
            <a:endParaRPr lang="en-CA" dirty="0"/>
          </a:p>
        </p:txBody>
      </p:sp>
      <p:pic>
        <p:nvPicPr>
          <p:cNvPr id="8" name="Picture 7">
            <a:extLst>
              <a:ext uri="{FF2B5EF4-FFF2-40B4-BE49-F238E27FC236}">
                <a16:creationId xmlns:a16="http://schemas.microsoft.com/office/drawing/2014/main" id="{EEEBF558-857D-580A-5B9C-30D83B5B1333}"/>
              </a:ext>
            </a:extLst>
          </p:cNvPr>
          <p:cNvPicPr>
            <a:picLocks noChangeAspect="1"/>
          </p:cNvPicPr>
          <p:nvPr/>
        </p:nvPicPr>
        <p:blipFill>
          <a:blip r:embed="rId2"/>
          <a:stretch>
            <a:fillRect/>
          </a:stretch>
        </p:blipFill>
        <p:spPr>
          <a:xfrm>
            <a:off x="690149" y="365125"/>
            <a:ext cx="1707028" cy="1213209"/>
          </a:xfrm>
          <a:prstGeom prst="rect">
            <a:avLst/>
          </a:prstGeom>
        </p:spPr>
      </p:pic>
      <p:pic>
        <p:nvPicPr>
          <p:cNvPr id="9" name="Picture 8">
            <a:extLst>
              <a:ext uri="{FF2B5EF4-FFF2-40B4-BE49-F238E27FC236}">
                <a16:creationId xmlns:a16="http://schemas.microsoft.com/office/drawing/2014/main" id="{76BB0C18-0055-37C3-6EDF-BAD303DE51FD}"/>
              </a:ext>
            </a:extLst>
          </p:cNvPr>
          <p:cNvPicPr>
            <a:picLocks noChangeAspect="1"/>
          </p:cNvPicPr>
          <p:nvPr/>
        </p:nvPicPr>
        <p:blipFill>
          <a:blip r:embed="rId3"/>
          <a:stretch>
            <a:fillRect/>
          </a:stretch>
        </p:blipFill>
        <p:spPr>
          <a:xfrm>
            <a:off x="838200" y="5541817"/>
            <a:ext cx="1761897" cy="951058"/>
          </a:xfrm>
          <a:prstGeom prst="rect">
            <a:avLst/>
          </a:prstGeom>
        </p:spPr>
      </p:pic>
      <p:sp>
        <p:nvSpPr>
          <p:cNvPr id="10" name="Footer Placeholder 9">
            <a:extLst>
              <a:ext uri="{FF2B5EF4-FFF2-40B4-BE49-F238E27FC236}">
                <a16:creationId xmlns:a16="http://schemas.microsoft.com/office/drawing/2014/main" id="{3D3DD542-1DAB-2BBA-ABCA-63DBC7554115}"/>
              </a:ext>
            </a:extLst>
          </p:cNvPr>
          <p:cNvSpPr>
            <a:spLocks noGrp="1"/>
          </p:cNvSpPr>
          <p:nvPr>
            <p:ph type="ftr" sz="quarter" idx="11"/>
          </p:nvPr>
        </p:nvSpPr>
        <p:spPr/>
        <p:txBody>
          <a:bodyPr/>
          <a:lstStyle/>
          <a:p>
            <a:r>
              <a:rPr lang="en-US"/>
              <a:t>Lecturer at George Brown College and Ontario Tech university</a:t>
            </a:r>
            <a:endParaRPr lang="en-CA"/>
          </a:p>
        </p:txBody>
      </p:sp>
    </p:spTree>
    <p:extLst>
      <p:ext uri="{BB962C8B-B14F-4D97-AF65-F5344CB8AC3E}">
        <p14:creationId xmlns:p14="http://schemas.microsoft.com/office/powerpoint/2010/main" val="492052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6B89D-A377-5428-AB04-BCC5F4B5B7D5}"/>
              </a:ext>
            </a:extLst>
          </p:cNvPr>
          <p:cNvSpPr>
            <a:spLocks noGrp="1"/>
          </p:cNvSpPr>
          <p:nvPr>
            <p:ph type="title"/>
          </p:nvPr>
        </p:nvSpPr>
        <p:spPr/>
        <p:txBody>
          <a:bodyPr/>
          <a:lstStyle/>
          <a:p>
            <a:pPr algn="ctr"/>
            <a:r>
              <a:rPr lang="en-CA" dirty="0"/>
              <a:t>The Core Problem</a:t>
            </a:r>
          </a:p>
        </p:txBody>
      </p:sp>
      <p:sp>
        <p:nvSpPr>
          <p:cNvPr id="3" name="Content Placeholder 2">
            <a:extLst>
              <a:ext uri="{FF2B5EF4-FFF2-40B4-BE49-F238E27FC236}">
                <a16:creationId xmlns:a16="http://schemas.microsoft.com/office/drawing/2014/main" id="{9D37DC07-59F0-6DA6-EC35-A2FB73CF423B}"/>
              </a:ext>
            </a:extLst>
          </p:cNvPr>
          <p:cNvSpPr>
            <a:spLocks noGrp="1"/>
          </p:cNvSpPr>
          <p:nvPr>
            <p:ph idx="1"/>
          </p:nvPr>
        </p:nvSpPr>
        <p:spPr/>
        <p:txBody>
          <a:bodyPr/>
          <a:lstStyle/>
          <a:p>
            <a:r>
              <a:rPr lang="en-CA" dirty="0"/>
              <a:t>Context: Traditional metrics (P/E, CAPE) are static signals in a non-linear, high-volatility </a:t>
            </a:r>
            <a:r>
              <a:rPr lang="en-CA" dirty="0" err="1"/>
              <a:t>market.Key</a:t>
            </a:r>
            <a:r>
              <a:rPr lang="en-CA" dirty="0"/>
              <a:t> Question: Can 100-year-old ratios survive structural shifts like Quantitative Easing (QE) and rapid tech disruption?</a:t>
            </a:r>
          </a:p>
        </p:txBody>
      </p:sp>
      <p:grpSp>
        <p:nvGrpSpPr>
          <p:cNvPr id="5" name="Group 14">
            <a:extLst>
              <a:ext uri="{FF2B5EF4-FFF2-40B4-BE49-F238E27FC236}">
                <a16:creationId xmlns:a16="http://schemas.microsoft.com/office/drawing/2014/main" id="{721A34AE-985B-6A64-CCC2-09269360606F}"/>
              </a:ext>
            </a:extLst>
          </p:cNvPr>
          <p:cNvGrpSpPr>
            <a:grpSpLocks/>
          </p:cNvGrpSpPr>
          <p:nvPr/>
        </p:nvGrpSpPr>
        <p:grpSpPr bwMode="auto">
          <a:xfrm>
            <a:off x="622659" y="365125"/>
            <a:ext cx="1709737" cy="1201738"/>
            <a:chOff x="0" y="0"/>
            <a:chExt cx="1710070" cy="1202363"/>
          </a:xfrm>
        </p:grpSpPr>
        <p:sp>
          <p:nvSpPr>
            <p:cNvPr id="6" name="Freeform 16">
              <a:extLst>
                <a:ext uri="{FF2B5EF4-FFF2-40B4-BE49-F238E27FC236}">
                  <a16:creationId xmlns:a16="http://schemas.microsoft.com/office/drawing/2014/main" id="{A8425024-1EDA-CCF3-C57C-2DA2FDA11C65}"/>
                </a:ext>
              </a:extLst>
            </p:cNvPr>
            <p:cNvSpPr>
              <a:spLocks noChangeArrowheads="1"/>
            </p:cNvSpPr>
            <p:nvPr/>
          </p:nvSpPr>
          <p:spPr bwMode="auto">
            <a:xfrm>
              <a:off x="0" y="0"/>
              <a:ext cx="859156" cy="475262"/>
            </a:xfrm>
            <a:prstGeom prst="rect">
              <a:avLst/>
            </a:prstGeom>
            <a:solidFill>
              <a:srgbClr val="0D4F61"/>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7" name="Freeform 19">
              <a:extLst>
                <a:ext uri="{FF2B5EF4-FFF2-40B4-BE49-F238E27FC236}">
                  <a16:creationId xmlns:a16="http://schemas.microsoft.com/office/drawing/2014/main" id="{F156840E-6998-A67D-2115-74A6EEC61D7B}"/>
                </a:ext>
              </a:extLst>
            </p:cNvPr>
            <p:cNvSpPr>
              <a:spLocks noChangeArrowheads="1"/>
            </p:cNvSpPr>
            <p:nvPr/>
          </p:nvSpPr>
          <p:spPr bwMode="auto">
            <a:xfrm>
              <a:off x="139846" y="259925"/>
              <a:ext cx="579463" cy="942439"/>
            </a:xfrm>
            <a:prstGeom prst="rect">
              <a:avLst/>
            </a:prstGeom>
            <a:solidFill>
              <a:srgbClr val="000000">
                <a:alpha val="0"/>
              </a:srgbClr>
            </a:solidFill>
            <a:ln w="9525" cap="sq">
              <a:solidFill>
                <a:srgbClr val="E41D37"/>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8" name="Freeform 22">
              <a:extLst>
                <a:ext uri="{FF2B5EF4-FFF2-40B4-BE49-F238E27FC236}">
                  <a16:creationId xmlns:a16="http://schemas.microsoft.com/office/drawing/2014/main" id="{3493AB72-4AD3-FA81-6950-36D81B1404E2}"/>
                </a:ext>
              </a:extLst>
            </p:cNvPr>
            <p:cNvSpPr>
              <a:spLocks noChangeArrowheads="1"/>
            </p:cNvSpPr>
            <p:nvPr/>
          </p:nvSpPr>
          <p:spPr bwMode="auto">
            <a:xfrm rot="5400000">
              <a:off x="1171944" y="654517"/>
              <a:ext cx="534130" cy="542123"/>
            </a:xfrm>
            <a:prstGeom prst="rect">
              <a:avLst/>
            </a:prstGeom>
            <a:solidFill>
              <a:srgbClr val="47C7F5"/>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9" name="Freeform 25">
              <a:extLst>
                <a:ext uri="{FF2B5EF4-FFF2-40B4-BE49-F238E27FC236}">
                  <a16:creationId xmlns:a16="http://schemas.microsoft.com/office/drawing/2014/main" id="{EE547483-4F33-48F0-1026-FF020BE65AA5}"/>
                </a:ext>
              </a:extLst>
            </p:cNvPr>
            <p:cNvSpPr>
              <a:spLocks noChangeArrowheads="1"/>
            </p:cNvSpPr>
            <p:nvPr/>
          </p:nvSpPr>
          <p:spPr bwMode="auto">
            <a:xfrm rot="5400000">
              <a:off x="1180997" y="189754"/>
              <a:ext cx="257252" cy="258772"/>
            </a:xfrm>
            <a:prstGeom prst="rect">
              <a:avLst/>
            </a:prstGeom>
            <a:solidFill>
              <a:srgbClr val="000000">
                <a:alpha val="0"/>
              </a:srgbClr>
            </a:solidFill>
            <a:ln w="9525" cap="sq">
              <a:solidFill>
                <a:srgbClr val="E41D37"/>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10" name="Freeform 28">
              <a:extLst>
                <a:ext uri="{FF2B5EF4-FFF2-40B4-BE49-F238E27FC236}">
                  <a16:creationId xmlns:a16="http://schemas.microsoft.com/office/drawing/2014/main" id="{9EDAACB8-8B50-B89B-7823-D1D5C316B374}"/>
                </a:ext>
              </a:extLst>
            </p:cNvPr>
            <p:cNvSpPr>
              <a:spLocks noChangeArrowheads="1"/>
            </p:cNvSpPr>
            <p:nvPr/>
          </p:nvSpPr>
          <p:spPr bwMode="auto">
            <a:xfrm rot="5400000">
              <a:off x="1114690" y="322292"/>
              <a:ext cx="179016" cy="172712"/>
            </a:xfrm>
            <a:prstGeom prst="rect">
              <a:avLst/>
            </a:prstGeom>
            <a:solidFill>
              <a:srgbClr val="0D4F61"/>
            </a:solidFill>
            <a:ln w="9525" cap="sq">
              <a:solidFill>
                <a:srgbClr val="0D4F61"/>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11" name="Freeform 31">
              <a:extLst>
                <a:ext uri="{FF2B5EF4-FFF2-40B4-BE49-F238E27FC236}">
                  <a16:creationId xmlns:a16="http://schemas.microsoft.com/office/drawing/2014/main" id="{3964DF82-592B-C578-9A3F-DE1500090F1B}"/>
                </a:ext>
              </a:extLst>
            </p:cNvPr>
            <p:cNvSpPr>
              <a:spLocks noChangeArrowheads="1"/>
            </p:cNvSpPr>
            <p:nvPr/>
          </p:nvSpPr>
          <p:spPr bwMode="auto">
            <a:xfrm rot="5400000">
              <a:off x="352782" y="-212936"/>
              <a:ext cx="679865" cy="1105735"/>
            </a:xfrm>
            <a:prstGeom prst="rect">
              <a:avLst/>
            </a:prstGeom>
            <a:solidFill>
              <a:srgbClr val="000000">
                <a:alpha val="0"/>
              </a:srgbClr>
            </a:solidFill>
            <a:ln w="9525" cap="sq">
              <a:solidFill>
                <a:srgbClr val="0D4F61"/>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grpSp>
      <p:pic>
        <p:nvPicPr>
          <p:cNvPr id="12" name="Picture 11">
            <a:extLst>
              <a:ext uri="{FF2B5EF4-FFF2-40B4-BE49-F238E27FC236}">
                <a16:creationId xmlns:a16="http://schemas.microsoft.com/office/drawing/2014/main" id="{75CA7819-1C15-1895-9085-E737B15601D9}"/>
              </a:ext>
            </a:extLst>
          </p:cNvPr>
          <p:cNvPicPr>
            <a:picLocks noChangeAspect="1"/>
          </p:cNvPicPr>
          <p:nvPr/>
        </p:nvPicPr>
        <p:blipFill>
          <a:blip r:embed="rId2"/>
          <a:stretch>
            <a:fillRect/>
          </a:stretch>
        </p:blipFill>
        <p:spPr>
          <a:xfrm>
            <a:off x="622659" y="5431200"/>
            <a:ext cx="1761897" cy="951058"/>
          </a:xfrm>
          <a:prstGeom prst="rect">
            <a:avLst/>
          </a:prstGeom>
        </p:spPr>
      </p:pic>
      <p:sp>
        <p:nvSpPr>
          <p:cNvPr id="13" name="Footer Placeholder 12">
            <a:extLst>
              <a:ext uri="{FF2B5EF4-FFF2-40B4-BE49-F238E27FC236}">
                <a16:creationId xmlns:a16="http://schemas.microsoft.com/office/drawing/2014/main" id="{FC703F2C-47C6-2CF7-9752-5BE6F4228FEC}"/>
              </a:ext>
            </a:extLst>
          </p:cNvPr>
          <p:cNvSpPr>
            <a:spLocks noGrp="1"/>
          </p:cNvSpPr>
          <p:nvPr>
            <p:ph type="ftr" sz="quarter" idx="11"/>
          </p:nvPr>
        </p:nvSpPr>
        <p:spPr/>
        <p:txBody>
          <a:bodyPr/>
          <a:lstStyle/>
          <a:p>
            <a:r>
              <a:rPr lang="en-US"/>
              <a:t>Lecturer at George Brown College and Ontario Tech university</a:t>
            </a:r>
            <a:endParaRPr lang="en-CA"/>
          </a:p>
        </p:txBody>
      </p:sp>
    </p:spTree>
    <p:extLst>
      <p:ext uri="{BB962C8B-B14F-4D97-AF65-F5344CB8AC3E}">
        <p14:creationId xmlns:p14="http://schemas.microsoft.com/office/powerpoint/2010/main" val="131600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F1B69-0C92-FC2C-80AC-F54701B70AB2}"/>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E8933201-9958-851F-C49F-D8BB516C861D}"/>
              </a:ext>
            </a:extLst>
          </p:cNvPr>
          <p:cNvSpPr>
            <a:spLocks noGrp="1"/>
          </p:cNvSpPr>
          <p:nvPr>
            <p:ph idx="1"/>
          </p:nvPr>
        </p:nvSpPr>
        <p:spPr/>
        <p:txBody>
          <a:bodyPr/>
          <a:lstStyle/>
          <a:p>
            <a:r>
              <a:rPr lang="en-US" dirty="0"/>
              <a:t>Old ratios are like a compass—not a GPS. Helpful for direction, but you need updated maps for today's terrain.</a:t>
            </a:r>
          </a:p>
          <a:p>
            <a:r>
              <a:rPr lang="en-US" b="1" dirty="0"/>
              <a:t>QE distorted everything</a:t>
            </a:r>
            <a:r>
              <a:rPr lang="en-US" dirty="0"/>
              <a:t>: Cheap money inflated stock prices, making old P/E "norms" unreliable.</a:t>
            </a:r>
          </a:p>
          <a:p>
            <a:endParaRPr lang="en-CA" dirty="0"/>
          </a:p>
          <a:p>
            <a:r>
              <a:rPr lang="en-US" b="1" dirty="0"/>
              <a:t>Tech changed the game</a:t>
            </a:r>
            <a:r>
              <a:rPr lang="en-US" dirty="0"/>
              <a:t>: Traditional ratios (P/E, Book/Market) measure tangible assets—but modern value is in intangibles like data, IP, and network effects.</a:t>
            </a:r>
          </a:p>
          <a:p>
            <a:endParaRPr lang="en-CA" dirty="0"/>
          </a:p>
        </p:txBody>
      </p:sp>
      <p:sp>
        <p:nvSpPr>
          <p:cNvPr id="4" name="Footer Placeholder 3">
            <a:extLst>
              <a:ext uri="{FF2B5EF4-FFF2-40B4-BE49-F238E27FC236}">
                <a16:creationId xmlns:a16="http://schemas.microsoft.com/office/drawing/2014/main" id="{F9F6233D-D720-8A6F-7869-F1817310C4AD}"/>
              </a:ext>
            </a:extLst>
          </p:cNvPr>
          <p:cNvSpPr>
            <a:spLocks noGrp="1"/>
          </p:cNvSpPr>
          <p:nvPr>
            <p:ph type="ftr" sz="quarter" idx="11"/>
          </p:nvPr>
        </p:nvSpPr>
        <p:spPr/>
        <p:txBody>
          <a:bodyPr/>
          <a:lstStyle/>
          <a:p>
            <a:r>
              <a:rPr lang="en-US"/>
              <a:t>Lecturer at George Brown College and Ontario Tech university</a:t>
            </a:r>
            <a:endParaRPr lang="en-CA"/>
          </a:p>
        </p:txBody>
      </p:sp>
      <p:grpSp>
        <p:nvGrpSpPr>
          <p:cNvPr id="6" name="Group 14">
            <a:extLst>
              <a:ext uri="{FF2B5EF4-FFF2-40B4-BE49-F238E27FC236}">
                <a16:creationId xmlns:a16="http://schemas.microsoft.com/office/drawing/2014/main" id="{9C9231F5-8B47-8CB9-3648-2F816BFAD40A}"/>
              </a:ext>
            </a:extLst>
          </p:cNvPr>
          <p:cNvGrpSpPr>
            <a:grpSpLocks/>
          </p:cNvGrpSpPr>
          <p:nvPr/>
        </p:nvGrpSpPr>
        <p:grpSpPr bwMode="auto">
          <a:xfrm>
            <a:off x="622659" y="365125"/>
            <a:ext cx="1709737" cy="1201738"/>
            <a:chOff x="0" y="0"/>
            <a:chExt cx="1710070" cy="1202363"/>
          </a:xfrm>
        </p:grpSpPr>
        <p:sp>
          <p:nvSpPr>
            <p:cNvPr id="7" name="Freeform 16">
              <a:extLst>
                <a:ext uri="{FF2B5EF4-FFF2-40B4-BE49-F238E27FC236}">
                  <a16:creationId xmlns:a16="http://schemas.microsoft.com/office/drawing/2014/main" id="{E2A070FE-58FF-84F9-1B57-865131392F07}"/>
                </a:ext>
              </a:extLst>
            </p:cNvPr>
            <p:cNvSpPr>
              <a:spLocks noChangeArrowheads="1"/>
            </p:cNvSpPr>
            <p:nvPr/>
          </p:nvSpPr>
          <p:spPr bwMode="auto">
            <a:xfrm>
              <a:off x="0" y="0"/>
              <a:ext cx="859156" cy="475262"/>
            </a:xfrm>
            <a:prstGeom prst="rect">
              <a:avLst/>
            </a:prstGeom>
            <a:solidFill>
              <a:srgbClr val="0D4F61"/>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8" name="Freeform 19">
              <a:extLst>
                <a:ext uri="{FF2B5EF4-FFF2-40B4-BE49-F238E27FC236}">
                  <a16:creationId xmlns:a16="http://schemas.microsoft.com/office/drawing/2014/main" id="{D86C96CE-9F29-FFC1-47B5-DC403E806ABD}"/>
                </a:ext>
              </a:extLst>
            </p:cNvPr>
            <p:cNvSpPr>
              <a:spLocks noChangeArrowheads="1"/>
            </p:cNvSpPr>
            <p:nvPr/>
          </p:nvSpPr>
          <p:spPr bwMode="auto">
            <a:xfrm>
              <a:off x="139846" y="259925"/>
              <a:ext cx="579463" cy="942439"/>
            </a:xfrm>
            <a:prstGeom prst="rect">
              <a:avLst/>
            </a:prstGeom>
            <a:solidFill>
              <a:srgbClr val="000000">
                <a:alpha val="0"/>
              </a:srgbClr>
            </a:solidFill>
            <a:ln w="9525" cap="sq">
              <a:solidFill>
                <a:srgbClr val="E41D37"/>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9" name="Freeform 22">
              <a:extLst>
                <a:ext uri="{FF2B5EF4-FFF2-40B4-BE49-F238E27FC236}">
                  <a16:creationId xmlns:a16="http://schemas.microsoft.com/office/drawing/2014/main" id="{DD0EFE8F-C59D-B854-6D80-A4785AF55965}"/>
                </a:ext>
              </a:extLst>
            </p:cNvPr>
            <p:cNvSpPr>
              <a:spLocks noChangeArrowheads="1"/>
            </p:cNvSpPr>
            <p:nvPr/>
          </p:nvSpPr>
          <p:spPr bwMode="auto">
            <a:xfrm rot="5400000">
              <a:off x="1171944" y="654517"/>
              <a:ext cx="534130" cy="542123"/>
            </a:xfrm>
            <a:prstGeom prst="rect">
              <a:avLst/>
            </a:prstGeom>
            <a:solidFill>
              <a:srgbClr val="47C7F5"/>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10" name="Freeform 25">
              <a:extLst>
                <a:ext uri="{FF2B5EF4-FFF2-40B4-BE49-F238E27FC236}">
                  <a16:creationId xmlns:a16="http://schemas.microsoft.com/office/drawing/2014/main" id="{EAC6E9B6-8F7A-9BD7-3C38-E981D3437CE2}"/>
                </a:ext>
              </a:extLst>
            </p:cNvPr>
            <p:cNvSpPr>
              <a:spLocks noChangeArrowheads="1"/>
            </p:cNvSpPr>
            <p:nvPr/>
          </p:nvSpPr>
          <p:spPr bwMode="auto">
            <a:xfrm rot="5400000">
              <a:off x="1180997" y="189754"/>
              <a:ext cx="257252" cy="258772"/>
            </a:xfrm>
            <a:prstGeom prst="rect">
              <a:avLst/>
            </a:prstGeom>
            <a:solidFill>
              <a:srgbClr val="000000">
                <a:alpha val="0"/>
              </a:srgbClr>
            </a:solidFill>
            <a:ln w="9525" cap="sq">
              <a:solidFill>
                <a:srgbClr val="E41D37"/>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11" name="Freeform 28">
              <a:extLst>
                <a:ext uri="{FF2B5EF4-FFF2-40B4-BE49-F238E27FC236}">
                  <a16:creationId xmlns:a16="http://schemas.microsoft.com/office/drawing/2014/main" id="{CAD1FAB6-B8EF-0595-D9CA-7B824B98E0DB}"/>
                </a:ext>
              </a:extLst>
            </p:cNvPr>
            <p:cNvSpPr>
              <a:spLocks noChangeArrowheads="1"/>
            </p:cNvSpPr>
            <p:nvPr/>
          </p:nvSpPr>
          <p:spPr bwMode="auto">
            <a:xfrm rot="5400000">
              <a:off x="1114690" y="322292"/>
              <a:ext cx="179016" cy="172712"/>
            </a:xfrm>
            <a:prstGeom prst="rect">
              <a:avLst/>
            </a:prstGeom>
            <a:solidFill>
              <a:srgbClr val="0D4F61"/>
            </a:solidFill>
            <a:ln w="9525" cap="sq">
              <a:solidFill>
                <a:srgbClr val="0D4F61"/>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12" name="Freeform 31">
              <a:extLst>
                <a:ext uri="{FF2B5EF4-FFF2-40B4-BE49-F238E27FC236}">
                  <a16:creationId xmlns:a16="http://schemas.microsoft.com/office/drawing/2014/main" id="{B241BD3F-3D3E-2065-B786-35BDCE6FD1A0}"/>
                </a:ext>
              </a:extLst>
            </p:cNvPr>
            <p:cNvSpPr>
              <a:spLocks noChangeArrowheads="1"/>
            </p:cNvSpPr>
            <p:nvPr/>
          </p:nvSpPr>
          <p:spPr bwMode="auto">
            <a:xfrm rot="5400000">
              <a:off x="352782" y="-212936"/>
              <a:ext cx="679865" cy="1105735"/>
            </a:xfrm>
            <a:prstGeom prst="rect">
              <a:avLst/>
            </a:prstGeom>
            <a:solidFill>
              <a:srgbClr val="000000">
                <a:alpha val="0"/>
              </a:srgbClr>
            </a:solidFill>
            <a:ln w="9525" cap="sq">
              <a:solidFill>
                <a:srgbClr val="0D4F61"/>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grpSp>
      <p:pic>
        <p:nvPicPr>
          <p:cNvPr id="13" name="Picture 12">
            <a:extLst>
              <a:ext uri="{FF2B5EF4-FFF2-40B4-BE49-F238E27FC236}">
                <a16:creationId xmlns:a16="http://schemas.microsoft.com/office/drawing/2014/main" id="{92153E01-478E-3138-5426-674E496FB352}"/>
              </a:ext>
            </a:extLst>
          </p:cNvPr>
          <p:cNvPicPr>
            <a:picLocks noChangeAspect="1"/>
          </p:cNvPicPr>
          <p:nvPr/>
        </p:nvPicPr>
        <p:blipFill>
          <a:blip r:embed="rId2"/>
          <a:stretch>
            <a:fillRect/>
          </a:stretch>
        </p:blipFill>
        <p:spPr>
          <a:xfrm>
            <a:off x="622659" y="5431200"/>
            <a:ext cx="1761897" cy="951058"/>
          </a:xfrm>
          <a:prstGeom prst="rect">
            <a:avLst/>
          </a:prstGeom>
        </p:spPr>
      </p:pic>
    </p:spTree>
    <p:extLst>
      <p:ext uri="{BB962C8B-B14F-4D97-AF65-F5344CB8AC3E}">
        <p14:creationId xmlns:p14="http://schemas.microsoft.com/office/powerpoint/2010/main" val="1017055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752AE-D783-E45C-1B93-A748FFB71831}"/>
              </a:ext>
            </a:extLst>
          </p:cNvPr>
          <p:cNvSpPr>
            <a:spLocks noGrp="1"/>
          </p:cNvSpPr>
          <p:nvPr>
            <p:ph type="title"/>
          </p:nvPr>
        </p:nvSpPr>
        <p:spPr/>
        <p:txBody>
          <a:bodyPr/>
          <a:lstStyle/>
          <a:p>
            <a:r>
              <a:rPr lang="en-CA" dirty="0"/>
              <a:t>Review of Literature</a:t>
            </a:r>
          </a:p>
        </p:txBody>
      </p:sp>
      <p:sp>
        <p:nvSpPr>
          <p:cNvPr id="3" name="Content Placeholder 2">
            <a:extLst>
              <a:ext uri="{FF2B5EF4-FFF2-40B4-BE49-F238E27FC236}">
                <a16:creationId xmlns:a16="http://schemas.microsoft.com/office/drawing/2014/main" id="{16F58187-14B6-E99B-4F46-8BDEB2D9E83F}"/>
              </a:ext>
            </a:extLst>
          </p:cNvPr>
          <p:cNvSpPr>
            <a:spLocks noGrp="1"/>
          </p:cNvSpPr>
          <p:nvPr>
            <p:ph idx="1"/>
          </p:nvPr>
        </p:nvSpPr>
        <p:spPr/>
        <p:txBody>
          <a:bodyPr/>
          <a:lstStyle/>
          <a:p>
            <a:r>
              <a:rPr lang="en-US" b="1" dirty="0"/>
              <a:t>1. The Traditional Baseline: Fundamental Ratios</a:t>
            </a:r>
          </a:p>
          <a:p>
            <a:r>
              <a:rPr lang="en-US" dirty="0"/>
              <a:t>For over a century, the primary method for identifying market exuberance was the analysis of price-to-earnings (P/E) ratios. Campbell and Shiller (1988) introduced the </a:t>
            </a:r>
            <a:r>
              <a:rPr lang="en-US" b="1" dirty="0"/>
              <a:t>Cyclically Adjusted Price-to-Earnings (CAPE)</a:t>
            </a:r>
            <a:r>
              <a:rPr lang="en-US" dirty="0"/>
              <a:t> ratio, arguing that long-term averages provide a "mean-reverting" anchor for market value.</a:t>
            </a:r>
          </a:p>
          <a:p>
            <a:r>
              <a:rPr lang="en-US" b="1" dirty="0"/>
              <a:t>The Pitfall:</a:t>
            </a:r>
            <a:r>
              <a:rPr lang="en-US" dirty="0"/>
              <a:t> Recent studies (Siegel, 2016) suggest these models fail to account for structural changes, such as the transition to intangible-heavy tech firms and the prolonged low-interest-rate environment caused by </a:t>
            </a:r>
            <a:r>
              <a:rPr lang="en-US" b="1" dirty="0"/>
              <a:t>Quantitative Easing (QE)</a:t>
            </a:r>
            <a:r>
              <a:rPr lang="en-US" dirty="0"/>
              <a:t>.</a:t>
            </a:r>
          </a:p>
          <a:p>
            <a:endParaRPr lang="en-CA" dirty="0"/>
          </a:p>
        </p:txBody>
      </p:sp>
      <p:sp>
        <p:nvSpPr>
          <p:cNvPr id="4" name="Footer Placeholder 3">
            <a:extLst>
              <a:ext uri="{FF2B5EF4-FFF2-40B4-BE49-F238E27FC236}">
                <a16:creationId xmlns:a16="http://schemas.microsoft.com/office/drawing/2014/main" id="{8F85255D-74DF-AD4F-8EC5-3B2AA9C2A98A}"/>
              </a:ext>
            </a:extLst>
          </p:cNvPr>
          <p:cNvSpPr>
            <a:spLocks noGrp="1"/>
          </p:cNvSpPr>
          <p:nvPr>
            <p:ph type="ftr" sz="quarter" idx="11"/>
          </p:nvPr>
        </p:nvSpPr>
        <p:spPr/>
        <p:txBody>
          <a:bodyPr/>
          <a:lstStyle/>
          <a:p>
            <a:r>
              <a:rPr lang="en-US"/>
              <a:t>Lecturer at George Brown College and Ontario Tech university</a:t>
            </a:r>
            <a:endParaRPr lang="en-CA"/>
          </a:p>
        </p:txBody>
      </p:sp>
      <p:grpSp>
        <p:nvGrpSpPr>
          <p:cNvPr id="5" name="Group 14">
            <a:extLst>
              <a:ext uri="{FF2B5EF4-FFF2-40B4-BE49-F238E27FC236}">
                <a16:creationId xmlns:a16="http://schemas.microsoft.com/office/drawing/2014/main" id="{4A888433-FE6D-437E-AEBD-26F478C20A77}"/>
              </a:ext>
            </a:extLst>
          </p:cNvPr>
          <p:cNvGrpSpPr>
            <a:grpSpLocks/>
          </p:cNvGrpSpPr>
          <p:nvPr/>
        </p:nvGrpSpPr>
        <p:grpSpPr bwMode="auto">
          <a:xfrm>
            <a:off x="622659" y="365125"/>
            <a:ext cx="1709737" cy="1201738"/>
            <a:chOff x="0" y="0"/>
            <a:chExt cx="1710070" cy="1202363"/>
          </a:xfrm>
        </p:grpSpPr>
        <p:sp>
          <p:nvSpPr>
            <p:cNvPr id="6" name="Freeform 16">
              <a:extLst>
                <a:ext uri="{FF2B5EF4-FFF2-40B4-BE49-F238E27FC236}">
                  <a16:creationId xmlns:a16="http://schemas.microsoft.com/office/drawing/2014/main" id="{9EB26307-FF13-C486-562A-109EF7D62A76}"/>
                </a:ext>
              </a:extLst>
            </p:cNvPr>
            <p:cNvSpPr>
              <a:spLocks noChangeArrowheads="1"/>
            </p:cNvSpPr>
            <p:nvPr/>
          </p:nvSpPr>
          <p:spPr bwMode="auto">
            <a:xfrm>
              <a:off x="0" y="0"/>
              <a:ext cx="859156" cy="475262"/>
            </a:xfrm>
            <a:prstGeom prst="rect">
              <a:avLst/>
            </a:prstGeom>
            <a:solidFill>
              <a:srgbClr val="0D4F61"/>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7" name="Freeform 19">
              <a:extLst>
                <a:ext uri="{FF2B5EF4-FFF2-40B4-BE49-F238E27FC236}">
                  <a16:creationId xmlns:a16="http://schemas.microsoft.com/office/drawing/2014/main" id="{2CA77BA3-1CC4-7C44-E541-234D26A53E7F}"/>
                </a:ext>
              </a:extLst>
            </p:cNvPr>
            <p:cNvSpPr>
              <a:spLocks noChangeArrowheads="1"/>
            </p:cNvSpPr>
            <p:nvPr/>
          </p:nvSpPr>
          <p:spPr bwMode="auto">
            <a:xfrm>
              <a:off x="139846" y="259925"/>
              <a:ext cx="579463" cy="942439"/>
            </a:xfrm>
            <a:prstGeom prst="rect">
              <a:avLst/>
            </a:prstGeom>
            <a:solidFill>
              <a:srgbClr val="000000">
                <a:alpha val="0"/>
              </a:srgbClr>
            </a:solidFill>
            <a:ln w="9525" cap="sq">
              <a:solidFill>
                <a:srgbClr val="E41D37"/>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8" name="Freeform 22">
              <a:extLst>
                <a:ext uri="{FF2B5EF4-FFF2-40B4-BE49-F238E27FC236}">
                  <a16:creationId xmlns:a16="http://schemas.microsoft.com/office/drawing/2014/main" id="{F982045E-78B3-8C44-DA67-9BFA71323C1B}"/>
                </a:ext>
              </a:extLst>
            </p:cNvPr>
            <p:cNvSpPr>
              <a:spLocks noChangeArrowheads="1"/>
            </p:cNvSpPr>
            <p:nvPr/>
          </p:nvSpPr>
          <p:spPr bwMode="auto">
            <a:xfrm rot="5400000">
              <a:off x="1171944" y="654517"/>
              <a:ext cx="534130" cy="542123"/>
            </a:xfrm>
            <a:prstGeom prst="rect">
              <a:avLst/>
            </a:prstGeom>
            <a:solidFill>
              <a:srgbClr val="47C7F5"/>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9" name="Freeform 25">
              <a:extLst>
                <a:ext uri="{FF2B5EF4-FFF2-40B4-BE49-F238E27FC236}">
                  <a16:creationId xmlns:a16="http://schemas.microsoft.com/office/drawing/2014/main" id="{6AD7D38A-F52E-A4A4-9C99-85E027F5FEEA}"/>
                </a:ext>
              </a:extLst>
            </p:cNvPr>
            <p:cNvSpPr>
              <a:spLocks noChangeArrowheads="1"/>
            </p:cNvSpPr>
            <p:nvPr/>
          </p:nvSpPr>
          <p:spPr bwMode="auto">
            <a:xfrm rot="5400000">
              <a:off x="1180997" y="189754"/>
              <a:ext cx="257252" cy="258772"/>
            </a:xfrm>
            <a:prstGeom prst="rect">
              <a:avLst/>
            </a:prstGeom>
            <a:solidFill>
              <a:srgbClr val="000000">
                <a:alpha val="0"/>
              </a:srgbClr>
            </a:solidFill>
            <a:ln w="9525" cap="sq">
              <a:solidFill>
                <a:srgbClr val="E41D37"/>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10" name="Freeform 28">
              <a:extLst>
                <a:ext uri="{FF2B5EF4-FFF2-40B4-BE49-F238E27FC236}">
                  <a16:creationId xmlns:a16="http://schemas.microsoft.com/office/drawing/2014/main" id="{5C6002F5-5D50-601A-4149-B911BE8BA5D1}"/>
                </a:ext>
              </a:extLst>
            </p:cNvPr>
            <p:cNvSpPr>
              <a:spLocks noChangeArrowheads="1"/>
            </p:cNvSpPr>
            <p:nvPr/>
          </p:nvSpPr>
          <p:spPr bwMode="auto">
            <a:xfrm rot="5400000">
              <a:off x="1114690" y="322292"/>
              <a:ext cx="179016" cy="172712"/>
            </a:xfrm>
            <a:prstGeom prst="rect">
              <a:avLst/>
            </a:prstGeom>
            <a:solidFill>
              <a:srgbClr val="0D4F61"/>
            </a:solidFill>
            <a:ln w="9525" cap="sq">
              <a:solidFill>
                <a:srgbClr val="0D4F61"/>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11" name="Freeform 31">
              <a:extLst>
                <a:ext uri="{FF2B5EF4-FFF2-40B4-BE49-F238E27FC236}">
                  <a16:creationId xmlns:a16="http://schemas.microsoft.com/office/drawing/2014/main" id="{006E1A48-EB21-AAA4-EEAF-A7C776E81C26}"/>
                </a:ext>
              </a:extLst>
            </p:cNvPr>
            <p:cNvSpPr>
              <a:spLocks noChangeArrowheads="1"/>
            </p:cNvSpPr>
            <p:nvPr/>
          </p:nvSpPr>
          <p:spPr bwMode="auto">
            <a:xfrm rot="5400000">
              <a:off x="352782" y="-212936"/>
              <a:ext cx="679865" cy="1105735"/>
            </a:xfrm>
            <a:prstGeom prst="rect">
              <a:avLst/>
            </a:prstGeom>
            <a:solidFill>
              <a:srgbClr val="000000">
                <a:alpha val="0"/>
              </a:srgbClr>
            </a:solidFill>
            <a:ln w="9525" cap="sq">
              <a:solidFill>
                <a:srgbClr val="0D4F61"/>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grpSp>
      <p:pic>
        <p:nvPicPr>
          <p:cNvPr id="12" name="Picture 11">
            <a:extLst>
              <a:ext uri="{FF2B5EF4-FFF2-40B4-BE49-F238E27FC236}">
                <a16:creationId xmlns:a16="http://schemas.microsoft.com/office/drawing/2014/main" id="{45FCA26A-5BA0-7A23-A412-7C0D964BFC22}"/>
              </a:ext>
            </a:extLst>
          </p:cNvPr>
          <p:cNvPicPr>
            <a:picLocks noChangeAspect="1"/>
          </p:cNvPicPr>
          <p:nvPr/>
        </p:nvPicPr>
        <p:blipFill>
          <a:blip r:embed="rId2"/>
          <a:stretch>
            <a:fillRect/>
          </a:stretch>
        </p:blipFill>
        <p:spPr>
          <a:xfrm>
            <a:off x="622659" y="5431200"/>
            <a:ext cx="1761897" cy="951058"/>
          </a:xfrm>
          <a:prstGeom prst="rect">
            <a:avLst/>
          </a:prstGeom>
        </p:spPr>
      </p:pic>
    </p:spTree>
    <p:extLst>
      <p:ext uri="{BB962C8B-B14F-4D97-AF65-F5344CB8AC3E}">
        <p14:creationId xmlns:p14="http://schemas.microsoft.com/office/powerpoint/2010/main" val="1106434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BAB1C-94EC-39B0-7FA6-23BEFCF6EF49}"/>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530610AA-9A62-D4CE-5AA1-F177F580C14F}"/>
              </a:ext>
            </a:extLst>
          </p:cNvPr>
          <p:cNvSpPr>
            <a:spLocks noGrp="1"/>
          </p:cNvSpPr>
          <p:nvPr>
            <p:ph idx="1"/>
          </p:nvPr>
        </p:nvSpPr>
        <p:spPr/>
        <p:txBody>
          <a:bodyPr>
            <a:normAutofit lnSpcReduction="10000"/>
          </a:bodyPr>
          <a:lstStyle/>
          <a:p>
            <a:r>
              <a:rPr lang="en-US" b="1" dirty="0"/>
              <a:t>2. The Statistical Evolution: The GSADF Framework</a:t>
            </a:r>
          </a:p>
          <a:p>
            <a:r>
              <a:rPr lang="en-US" dirty="0"/>
              <a:t>To move beyond static ratios, Phillips, Shi, and Yu (2015) developed the </a:t>
            </a:r>
            <a:r>
              <a:rPr lang="en-US" b="1" dirty="0"/>
              <a:t>Generalized Supremum Augmented Dickey-Fuller (GSADF)</a:t>
            </a:r>
            <a:r>
              <a:rPr lang="en-US" dirty="0"/>
              <a:t> test. This was a breakthrough because it allowed for the detection of multiple "explosive" sub-periods within a single time series.</a:t>
            </a:r>
          </a:p>
          <a:p>
            <a:r>
              <a:rPr lang="en-US" b="1" dirty="0"/>
              <a:t>Application:</a:t>
            </a:r>
            <a:r>
              <a:rPr lang="en-US" dirty="0"/>
              <a:t> Research has shown that while the GSADF is highly effective at "date-stamping" the 2000 Dot-com and 2020 COVID recoveries, it can sometimes struggle with "low power" in crises like 2008, where the price action is not vertically explosive but is driven by systemic credit risk.</a:t>
            </a:r>
          </a:p>
          <a:p>
            <a:endParaRPr lang="en-CA" dirty="0"/>
          </a:p>
        </p:txBody>
      </p:sp>
      <p:sp>
        <p:nvSpPr>
          <p:cNvPr id="4" name="Footer Placeholder 3">
            <a:extLst>
              <a:ext uri="{FF2B5EF4-FFF2-40B4-BE49-F238E27FC236}">
                <a16:creationId xmlns:a16="http://schemas.microsoft.com/office/drawing/2014/main" id="{1F2E0853-8F1B-D706-2469-D9696B876231}"/>
              </a:ext>
            </a:extLst>
          </p:cNvPr>
          <p:cNvSpPr>
            <a:spLocks noGrp="1"/>
          </p:cNvSpPr>
          <p:nvPr>
            <p:ph type="ftr" sz="quarter" idx="11"/>
          </p:nvPr>
        </p:nvSpPr>
        <p:spPr/>
        <p:txBody>
          <a:bodyPr/>
          <a:lstStyle/>
          <a:p>
            <a:r>
              <a:rPr lang="en-US"/>
              <a:t>Lecturer at George Brown College and Ontario Tech university</a:t>
            </a:r>
            <a:endParaRPr lang="en-CA"/>
          </a:p>
        </p:txBody>
      </p:sp>
      <p:pic>
        <p:nvPicPr>
          <p:cNvPr id="5" name="Picture 4">
            <a:extLst>
              <a:ext uri="{FF2B5EF4-FFF2-40B4-BE49-F238E27FC236}">
                <a16:creationId xmlns:a16="http://schemas.microsoft.com/office/drawing/2014/main" id="{5977665B-1496-284D-6282-3D181A79AF3D}"/>
              </a:ext>
            </a:extLst>
          </p:cNvPr>
          <p:cNvPicPr>
            <a:picLocks noChangeAspect="1"/>
          </p:cNvPicPr>
          <p:nvPr/>
        </p:nvPicPr>
        <p:blipFill>
          <a:blip r:embed="rId2"/>
          <a:stretch>
            <a:fillRect/>
          </a:stretch>
        </p:blipFill>
        <p:spPr>
          <a:xfrm>
            <a:off x="622659" y="5431200"/>
            <a:ext cx="1761897" cy="951058"/>
          </a:xfrm>
          <a:prstGeom prst="rect">
            <a:avLst/>
          </a:prstGeom>
        </p:spPr>
      </p:pic>
      <p:pic>
        <p:nvPicPr>
          <p:cNvPr id="6" name="Picture 5">
            <a:extLst>
              <a:ext uri="{FF2B5EF4-FFF2-40B4-BE49-F238E27FC236}">
                <a16:creationId xmlns:a16="http://schemas.microsoft.com/office/drawing/2014/main" id="{CA8C1CBE-53F4-D98D-5860-32FAB6BD4FC0}"/>
              </a:ext>
            </a:extLst>
          </p:cNvPr>
          <p:cNvPicPr>
            <a:picLocks noChangeAspect="1"/>
          </p:cNvPicPr>
          <p:nvPr/>
        </p:nvPicPr>
        <p:blipFill>
          <a:blip r:embed="rId3"/>
          <a:stretch>
            <a:fillRect/>
          </a:stretch>
        </p:blipFill>
        <p:spPr>
          <a:xfrm>
            <a:off x="690149" y="365125"/>
            <a:ext cx="1707028" cy="1213209"/>
          </a:xfrm>
          <a:prstGeom prst="rect">
            <a:avLst/>
          </a:prstGeom>
        </p:spPr>
      </p:pic>
    </p:spTree>
    <p:extLst>
      <p:ext uri="{BB962C8B-B14F-4D97-AF65-F5344CB8AC3E}">
        <p14:creationId xmlns:p14="http://schemas.microsoft.com/office/powerpoint/2010/main" val="3433928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206D1-A289-D040-DCA5-DDA41750ACC7}"/>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FFF1FB1F-917A-D4CC-481F-D3310BABF3A3}"/>
              </a:ext>
            </a:extLst>
          </p:cNvPr>
          <p:cNvSpPr>
            <a:spLocks noGrp="1"/>
          </p:cNvSpPr>
          <p:nvPr>
            <p:ph idx="1"/>
          </p:nvPr>
        </p:nvSpPr>
        <p:spPr/>
        <p:txBody>
          <a:bodyPr>
            <a:normAutofit lnSpcReduction="10000"/>
          </a:bodyPr>
          <a:lstStyle/>
          <a:p>
            <a:r>
              <a:rPr lang="en-US" b="1" dirty="0"/>
              <a:t>3. The Behavioral Turn: Momentum and Volatility</a:t>
            </a:r>
          </a:p>
          <a:p>
            <a:r>
              <a:rPr lang="en-US" dirty="0"/>
              <a:t>Modern literature has shifted toward </a:t>
            </a:r>
            <a:r>
              <a:rPr lang="en-US" b="1" dirty="0"/>
              <a:t>Behavioral Finance</a:t>
            </a:r>
            <a:r>
              <a:rPr lang="en-US" dirty="0"/>
              <a:t>, suggesting that "exuberance" is a psychological state as much as a mathematical one. Shiller (2015) describes bubbles as "social epidemics."</a:t>
            </a:r>
          </a:p>
          <a:p>
            <a:r>
              <a:rPr lang="en-US" b="1" dirty="0"/>
              <a:t>Feature Importance:</a:t>
            </a:r>
            <a:r>
              <a:rPr lang="en-US" dirty="0"/>
              <a:t> Your findings align with this by identifying </a:t>
            </a:r>
            <a:r>
              <a:rPr lang="en-US" b="1" dirty="0"/>
              <a:t>Momentum (62.6%)</a:t>
            </a:r>
            <a:r>
              <a:rPr lang="en-US" dirty="0"/>
              <a:t> as the primary driver. This supports the "herding" theory, where investors buy based on price trends rather than value.</a:t>
            </a:r>
          </a:p>
          <a:p>
            <a:r>
              <a:rPr lang="en-US" b="1" dirty="0"/>
              <a:t>Volatility (29.4%):</a:t>
            </a:r>
            <a:r>
              <a:rPr lang="en-US" dirty="0"/>
              <a:t> Serving as a proxy for market stress, volatility acts as a non-linear signal that simple ratios ignore.</a:t>
            </a:r>
          </a:p>
          <a:p>
            <a:endParaRPr lang="en-CA" dirty="0"/>
          </a:p>
        </p:txBody>
      </p:sp>
      <p:sp>
        <p:nvSpPr>
          <p:cNvPr id="4" name="Footer Placeholder 3">
            <a:extLst>
              <a:ext uri="{FF2B5EF4-FFF2-40B4-BE49-F238E27FC236}">
                <a16:creationId xmlns:a16="http://schemas.microsoft.com/office/drawing/2014/main" id="{95FC6EDF-43DD-2601-E5BC-3961BBE0A55D}"/>
              </a:ext>
            </a:extLst>
          </p:cNvPr>
          <p:cNvSpPr>
            <a:spLocks noGrp="1"/>
          </p:cNvSpPr>
          <p:nvPr>
            <p:ph type="ftr" sz="quarter" idx="11"/>
          </p:nvPr>
        </p:nvSpPr>
        <p:spPr/>
        <p:txBody>
          <a:bodyPr/>
          <a:lstStyle/>
          <a:p>
            <a:r>
              <a:rPr lang="en-US"/>
              <a:t>Lecturer at George Brown College and Ontario Tech university</a:t>
            </a:r>
            <a:endParaRPr lang="en-CA"/>
          </a:p>
        </p:txBody>
      </p:sp>
      <p:pic>
        <p:nvPicPr>
          <p:cNvPr id="5" name="Picture 4">
            <a:extLst>
              <a:ext uri="{FF2B5EF4-FFF2-40B4-BE49-F238E27FC236}">
                <a16:creationId xmlns:a16="http://schemas.microsoft.com/office/drawing/2014/main" id="{CC59D4C0-8F31-45F7-8C7A-E576B41AF423}"/>
              </a:ext>
            </a:extLst>
          </p:cNvPr>
          <p:cNvPicPr>
            <a:picLocks noChangeAspect="1"/>
          </p:cNvPicPr>
          <p:nvPr/>
        </p:nvPicPr>
        <p:blipFill>
          <a:blip r:embed="rId2"/>
          <a:stretch>
            <a:fillRect/>
          </a:stretch>
        </p:blipFill>
        <p:spPr>
          <a:xfrm>
            <a:off x="622659" y="5431200"/>
            <a:ext cx="1761897" cy="951058"/>
          </a:xfrm>
          <a:prstGeom prst="rect">
            <a:avLst/>
          </a:prstGeom>
        </p:spPr>
      </p:pic>
      <p:pic>
        <p:nvPicPr>
          <p:cNvPr id="6" name="Picture 5">
            <a:extLst>
              <a:ext uri="{FF2B5EF4-FFF2-40B4-BE49-F238E27FC236}">
                <a16:creationId xmlns:a16="http://schemas.microsoft.com/office/drawing/2014/main" id="{6FB4EFDC-D9C5-E865-4FD5-5F387252A5FA}"/>
              </a:ext>
            </a:extLst>
          </p:cNvPr>
          <p:cNvPicPr>
            <a:picLocks noChangeAspect="1"/>
          </p:cNvPicPr>
          <p:nvPr/>
        </p:nvPicPr>
        <p:blipFill>
          <a:blip r:embed="rId3"/>
          <a:stretch>
            <a:fillRect/>
          </a:stretch>
        </p:blipFill>
        <p:spPr>
          <a:xfrm>
            <a:off x="690149" y="365125"/>
            <a:ext cx="1707028" cy="1213209"/>
          </a:xfrm>
          <a:prstGeom prst="rect">
            <a:avLst/>
          </a:prstGeom>
        </p:spPr>
      </p:pic>
    </p:spTree>
    <p:extLst>
      <p:ext uri="{BB962C8B-B14F-4D97-AF65-F5344CB8AC3E}">
        <p14:creationId xmlns:p14="http://schemas.microsoft.com/office/powerpoint/2010/main" val="2644037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636C1-E110-CECD-DCBE-9E23DE661E9F}"/>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9177BA1B-7C52-7A0E-65EB-626FF8CE30C6}"/>
              </a:ext>
            </a:extLst>
          </p:cNvPr>
          <p:cNvSpPr>
            <a:spLocks noGrp="1"/>
          </p:cNvSpPr>
          <p:nvPr>
            <p:ph idx="1"/>
          </p:nvPr>
        </p:nvSpPr>
        <p:spPr/>
        <p:txBody>
          <a:bodyPr/>
          <a:lstStyle/>
          <a:p>
            <a:r>
              <a:rPr lang="en-US" b="1" dirty="0"/>
              <a:t>4. The Frontier: Machine Learning and LSTM Layers</a:t>
            </a:r>
          </a:p>
          <a:p>
            <a:r>
              <a:rPr lang="en-US" dirty="0"/>
              <a:t>The most recent stage of the literature explores </a:t>
            </a:r>
            <a:r>
              <a:rPr lang="en-US" b="1" dirty="0"/>
              <a:t>Recurrent Neural Networks (RNNs)</a:t>
            </a:r>
            <a:r>
              <a:rPr lang="en-US" dirty="0"/>
              <a:t> and </a:t>
            </a:r>
            <a:r>
              <a:rPr lang="en-US" b="1" dirty="0"/>
              <a:t>Long Short-Term Memory (LSTM)</a:t>
            </a:r>
            <a:r>
              <a:rPr lang="en-US" dirty="0"/>
              <a:t> models for time-series prediction. Unlike the backward-looking GSADF, LSTMs (like the one in your </a:t>
            </a:r>
            <a:r>
              <a:rPr lang="en-US" dirty="0" err="1"/>
              <a:t>BEGIN.ipynb</a:t>
            </a:r>
            <a:r>
              <a:rPr lang="en-US" dirty="0"/>
              <a:t>) learn the sequential "shape" of market data.</a:t>
            </a:r>
          </a:p>
          <a:p>
            <a:r>
              <a:rPr lang="en-US" b="1" dirty="0"/>
              <a:t>Optimization:</a:t>
            </a:r>
            <a:r>
              <a:rPr lang="en-US" dirty="0"/>
              <a:t> By using an </a:t>
            </a:r>
            <a:r>
              <a:rPr lang="en-US" b="1" dirty="0"/>
              <a:t>Optimal Threshold (0.42)</a:t>
            </a:r>
            <a:r>
              <a:rPr lang="en-US" dirty="0"/>
              <a:t>, these models provide a probabilistic risk score (e.g., 89% for 2020) rather than a simple binary pass/fail. This represents the current "state-of-the-art" in avoiding the pitfalls of econometric simplicity.</a:t>
            </a:r>
          </a:p>
          <a:p>
            <a:endParaRPr lang="en-CA" dirty="0"/>
          </a:p>
        </p:txBody>
      </p:sp>
      <p:sp>
        <p:nvSpPr>
          <p:cNvPr id="4" name="Footer Placeholder 3">
            <a:extLst>
              <a:ext uri="{FF2B5EF4-FFF2-40B4-BE49-F238E27FC236}">
                <a16:creationId xmlns:a16="http://schemas.microsoft.com/office/drawing/2014/main" id="{2AA564A3-EA1A-E8A0-1859-380FD913411A}"/>
              </a:ext>
            </a:extLst>
          </p:cNvPr>
          <p:cNvSpPr>
            <a:spLocks noGrp="1"/>
          </p:cNvSpPr>
          <p:nvPr>
            <p:ph type="ftr" sz="quarter" idx="11"/>
          </p:nvPr>
        </p:nvSpPr>
        <p:spPr/>
        <p:txBody>
          <a:bodyPr/>
          <a:lstStyle/>
          <a:p>
            <a:r>
              <a:rPr lang="en-US"/>
              <a:t>Lecturer at George Brown College and Ontario Tech university</a:t>
            </a:r>
            <a:endParaRPr lang="en-CA"/>
          </a:p>
        </p:txBody>
      </p:sp>
      <p:pic>
        <p:nvPicPr>
          <p:cNvPr id="5" name="Picture 4">
            <a:extLst>
              <a:ext uri="{FF2B5EF4-FFF2-40B4-BE49-F238E27FC236}">
                <a16:creationId xmlns:a16="http://schemas.microsoft.com/office/drawing/2014/main" id="{C1F060E6-E5AE-83B5-A1CC-39E4296CAE85}"/>
              </a:ext>
            </a:extLst>
          </p:cNvPr>
          <p:cNvPicPr>
            <a:picLocks noChangeAspect="1"/>
          </p:cNvPicPr>
          <p:nvPr/>
        </p:nvPicPr>
        <p:blipFill>
          <a:blip r:embed="rId2"/>
          <a:stretch>
            <a:fillRect/>
          </a:stretch>
        </p:blipFill>
        <p:spPr>
          <a:xfrm>
            <a:off x="622659" y="5431200"/>
            <a:ext cx="1761897" cy="951058"/>
          </a:xfrm>
          <a:prstGeom prst="rect">
            <a:avLst/>
          </a:prstGeom>
        </p:spPr>
      </p:pic>
      <p:pic>
        <p:nvPicPr>
          <p:cNvPr id="6" name="Picture 5">
            <a:extLst>
              <a:ext uri="{FF2B5EF4-FFF2-40B4-BE49-F238E27FC236}">
                <a16:creationId xmlns:a16="http://schemas.microsoft.com/office/drawing/2014/main" id="{82D6DE41-0D54-4921-C83B-A8FC3D7BCE0D}"/>
              </a:ext>
            </a:extLst>
          </p:cNvPr>
          <p:cNvPicPr>
            <a:picLocks noChangeAspect="1"/>
          </p:cNvPicPr>
          <p:nvPr/>
        </p:nvPicPr>
        <p:blipFill>
          <a:blip r:embed="rId3"/>
          <a:stretch>
            <a:fillRect/>
          </a:stretch>
        </p:blipFill>
        <p:spPr>
          <a:xfrm>
            <a:off x="690149" y="365125"/>
            <a:ext cx="1707028" cy="1213209"/>
          </a:xfrm>
          <a:prstGeom prst="rect">
            <a:avLst/>
          </a:prstGeom>
        </p:spPr>
      </p:pic>
    </p:spTree>
    <p:extLst>
      <p:ext uri="{BB962C8B-B14F-4D97-AF65-F5344CB8AC3E}">
        <p14:creationId xmlns:p14="http://schemas.microsoft.com/office/powerpoint/2010/main" val="3231788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5035A-E4C1-0E08-0E4A-92E94DE1F17E}"/>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43919E6F-FD57-DF7B-3C7B-D7A9B8756698}"/>
              </a:ext>
            </a:extLst>
          </p:cNvPr>
          <p:cNvSpPr>
            <a:spLocks noGrp="1"/>
          </p:cNvSpPr>
          <p:nvPr>
            <p:ph idx="1"/>
          </p:nvPr>
        </p:nvSpPr>
        <p:spPr/>
        <p:txBody>
          <a:bodyPr/>
          <a:lstStyle/>
          <a:p>
            <a:r>
              <a:rPr lang="en-US" dirty="0"/>
              <a:t>"The literature shows a clear path of failure for simple, linear models. My research bridges the gap by taking the statistical rigor of the </a:t>
            </a:r>
            <a:r>
              <a:rPr lang="en-US" b="1" dirty="0"/>
              <a:t>GSADF</a:t>
            </a:r>
            <a:r>
              <a:rPr lang="en-US" dirty="0"/>
              <a:t> and enhancing it with a </a:t>
            </a:r>
            <a:r>
              <a:rPr lang="en-US" b="1" dirty="0"/>
              <a:t>Machine Learning layer</a:t>
            </a:r>
            <a:r>
              <a:rPr lang="en-US" dirty="0"/>
              <a:t> that prioritizes the behavioral features of </a:t>
            </a:r>
            <a:r>
              <a:rPr lang="en-US" b="1" dirty="0"/>
              <a:t>Momentum</a:t>
            </a:r>
            <a:r>
              <a:rPr lang="en-US" dirty="0"/>
              <a:t> and </a:t>
            </a:r>
            <a:r>
              <a:rPr lang="en-US" b="1" dirty="0"/>
              <a:t>Volatility</a:t>
            </a:r>
            <a:r>
              <a:rPr lang="en-US" dirty="0"/>
              <a:t>."</a:t>
            </a:r>
            <a:endParaRPr lang="en-CA" dirty="0"/>
          </a:p>
        </p:txBody>
      </p:sp>
      <p:sp>
        <p:nvSpPr>
          <p:cNvPr id="4" name="Footer Placeholder 3">
            <a:extLst>
              <a:ext uri="{FF2B5EF4-FFF2-40B4-BE49-F238E27FC236}">
                <a16:creationId xmlns:a16="http://schemas.microsoft.com/office/drawing/2014/main" id="{A3CA3723-CB6F-9269-8C48-0CB47AFE9706}"/>
              </a:ext>
            </a:extLst>
          </p:cNvPr>
          <p:cNvSpPr>
            <a:spLocks noGrp="1"/>
          </p:cNvSpPr>
          <p:nvPr>
            <p:ph type="ftr" sz="quarter" idx="11"/>
          </p:nvPr>
        </p:nvSpPr>
        <p:spPr/>
        <p:txBody>
          <a:bodyPr/>
          <a:lstStyle/>
          <a:p>
            <a:r>
              <a:rPr lang="en-US"/>
              <a:t>Lecturer at George Brown College and Ontario Tech university</a:t>
            </a:r>
            <a:endParaRPr lang="en-CA"/>
          </a:p>
        </p:txBody>
      </p:sp>
      <p:pic>
        <p:nvPicPr>
          <p:cNvPr id="5" name="Picture 4">
            <a:extLst>
              <a:ext uri="{FF2B5EF4-FFF2-40B4-BE49-F238E27FC236}">
                <a16:creationId xmlns:a16="http://schemas.microsoft.com/office/drawing/2014/main" id="{4923798B-A486-BE99-472B-D230CB38ED60}"/>
              </a:ext>
            </a:extLst>
          </p:cNvPr>
          <p:cNvPicPr>
            <a:picLocks noChangeAspect="1"/>
          </p:cNvPicPr>
          <p:nvPr/>
        </p:nvPicPr>
        <p:blipFill>
          <a:blip r:embed="rId2"/>
          <a:stretch>
            <a:fillRect/>
          </a:stretch>
        </p:blipFill>
        <p:spPr>
          <a:xfrm>
            <a:off x="622659" y="5431200"/>
            <a:ext cx="1761897" cy="951058"/>
          </a:xfrm>
          <a:prstGeom prst="rect">
            <a:avLst/>
          </a:prstGeom>
        </p:spPr>
      </p:pic>
      <p:pic>
        <p:nvPicPr>
          <p:cNvPr id="6" name="Picture 5">
            <a:extLst>
              <a:ext uri="{FF2B5EF4-FFF2-40B4-BE49-F238E27FC236}">
                <a16:creationId xmlns:a16="http://schemas.microsoft.com/office/drawing/2014/main" id="{5441C7E4-B4FD-4A4B-1086-6260D49E7056}"/>
              </a:ext>
            </a:extLst>
          </p:cNvPr>
          <p:cNvPicPr>
            <a:picLocks noChangeAspect="1"/>
          </p:cNvPicPr>
          <p:nvPr/>
        </p:nvPicPr>
        <p:blipFill>
          <a:blip r:embed="rId3"/>
          <a:stretch>
            <a:fillRect/>
          </a:stretch>
        </p:blipFill>
        <p:spPr>
          <a:xfrm>
            <a:off x="690149" y="365125"/>
            <a:ext cx="1707028" cy="1213209"/>
          </a:xfrm>
          <a:prstGeom prst="rect">
            <a:avLst/>
          </a:prstGeom>
        </p:spPr>
      </p:pic>
    </p:spTree>
    <p:extLst>
      <p:ext uri="{BB962C8B-B14F-4D97-AF65-F5344CB8AC3E}">
        <p14:creationId xmlns:p14="http://schemas.microsoft.com/office/powerpoint/2010/main" val="1762132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E704C-A044-5998-A1CB-2DE71C91131A}"/>
              </a:ext>
            </a:extLst>
          </p:cNvPr>
          <p:cNvSpPr>
            <a:spLocks noGrp="1"/>
          </p:cNvSpPr>
          <p:nvPr>
            <p:ph type="title"/>
          </p:nvPr>
        </p:nvSpPr>
        <p:spPr/>
        <p:txBody>
          <a:bodyPr/>
          <a:lstStyle/>
          <a:p>
            <a:pPr algn="ctr"/>
            <a:r>
              <a:rPr lang="en-CA" dirty="0"/>
              <a:t>Theoretical Foundations</a:t>
            </a:r>
          </a:p>
        </p:txBody>
      </p:sp>
      <p:sp>
        <p:nvSpPr>
          <p:cNvPr id="3" name="Content Placeholder 2">
            <a:extLst>
              <a:ext uri="{FF2B5EF4-FFF2-40B4-BE49-F238E27FC236}">
                <a16:creationId xmlns:a16="http://schemas.microsoft.com/office/drawing/2014/main" id="{DE204915-A1D3-9A9B-C937-0DC09F349D4A}"/>
              </a:ext>
            </a:extLst>
          </p:cNvPr>
          <p:cNvSpPr>
            <a:spLocks noGrp="1"/>
          </p:cNvSpPr>
          <p:nvPr>
            <p:ph idx="1"/>
          </p:nvPr>
        </p:nvSpPr>
        <p:spPr/>
        <p:txBody>
          <a:bodyPr/>
          <a:lstStyle/>
          <a:p>
            <a:r>
              <a:rPr lang="en-CA" dirty="0"/>
              <a:t>Rational Perspective: Blanchard &amp; Watson (1982) – The "Greater Fool" theory; </a:t>
            </a:r>
            <a:r>
              <a:rPr lang="en-CA" dirty="0" err="1"/>
              <a:t>Tirole</a:t>
            </a:r>
            <a:r>
              <a:rPr lang="en-CA" dirty="0"/>
              <a:t> (1985) – Overlapping Generations.</a:t>
            </a:r>
          </a:p>
          <a:p>
            <a:r>
              <a:rPr lang="en-CA" dirty="0"/>
              <a:t>Behavioral Perspective: Porter &amp; Smith (2003) – Bubbles occur even with perfect information due to herd mentality.</a:t>
            </a:r>
          </a:p>
          <a:p>
            <a:r>
              <a:rPr lang="en-US" b="1" dirty="0"/>
              <a:t>Historical Lifecycle:</a:t>
            </a:r>
            <a:r>
              <a:rPr lang="en-US" dirty="0"/>
              <a:t> Kindleberger’s (2005) 5 stages: </a:t>
            </a:r>
          </a:p>
          <a:p>
            <a:endParaRPr lang="en-CA" dirty="0"/>
          </a:p>
        </p:txBody>
      </p:sp>
      <p:pic>
        <p:nvPicPr>
          <p:cNvPr id="6" name="Picture 5">
            <a:extLst>
              <a:ext uri="{FF2B5EF4-FFF2-40B4-BE49-F238E27FC236}">
                <a16:creationId xmlns:a16="http://schemas.microsoft.com/office/drawing/2014/main" id="{5112380F-CECE-A92D-7172-A9AFDBB22ECA}"/>
              </a:ext>
            </a:extLst>
          </p:cNvPr>
          <p:cNvPicPr>
            <a:picLocks noChangeAspect="1"/>
          </p:cNvPicPr>
          <p:nvPr/>
        </p:nvPicPr>
        <p:blipFill>
          <a:blip r:embed="rId2"/>
          <a:stretch>
            <a:fillRect/>
          </a:stretch>
        </p:blipFill>
        <p:spPr>
          <a:xfrm>
            <a:off x="1067922" y="4303991"/>
            <a:ext cx="7925906" cy="762106"/>
          </a:xfrm>
          <a:prstGeom prst="rect">
            <a:avLst/>
          </a:prstGeom>
        </p:spPr>
      </p:pic>
      <p:pic>
        <p:nvPicPr>
          <p:cNvPr id="7" name="Picture 6">
            <a:extLst>
              <a:ext uri="{FF2B5EF4-FFF2-40B4-BE49-F238E27FC236}">
                <a16:creationId xmlns:a16="http://schemas.microsoft.com/office/drawing/2014/main" id="{41AC084B-E451-416C-672A-844D28DD54F2}"/>
              </a:ext>
            </a:extLst>
          </p:cNvPr>
          <p:cNvPicPr>
            <a:picLocks noChangeAspect="1"/>
          </p:cNvPicPr>
          <p:nvPr/>
        </p:nvPicPr>
        <p:blipFill>
          <a:blip r:embed="rId3"/>
          <a:stretch>
            <a:fillRect/>
          </a:stretch>
        </p:blipFill>
        <p:spPr>
          <a:xfrm>
            <a:off x="650821" y="257227"/>
            <a:ext cx="1707028" cy="1213209"/>
          </a:xfrm>
          <a:prstGeom prst="rect">
            <a:avLst/>
          </a:prstGeom>
        </p:spPr>
      </p:pic>
      <p:pic>
        <p:nvPicPr>
          <p:cNvPr id="8" name="Picture 7">
            <a:extLst>
              <a:ext uri="{FF2B5EF4-FFF2-40B4-BE49-F238E27FC236}">
                <a16:creationId xmlns:a16="http://schemas.microsoft.com/office/drawing/2014/main" id="{57E10F9D-B41A-A268-22E5-3DE81D7B0054}"/>
              </a:ext>
            </a:extLst>
          </p:cNvPr>
          <p:cNvPicPr>
            <a:picLocks noChangeAspect="1"/>
          </p:cNvPicPr>
          <p:nvPr/>
        </p:nvPicPr>
        <p:blipFill>
          <a:blip r:embed="rId4"/>
          <a:stretch>
            <a:fillRect/>
          </a:stretch>
        </p:blipFill>
        <p:spPr>
          <a:xfrm>
            <a:off x="741373" y="5305809"/>
            <a:ext cx="1761897" cy="951058"/>
          </a:xfrm>
          <a:prstGeom prst="rect">
            <a:avLst/>
          </a:prstGeom>
        </p:spPr>
      </p:pic>
      <p:sp>
        <p:nvSpPr>
          <p:cNvPr id="9" name="Footer Placeholder 8">
            <a:extLst>
              <a:ext uri="{FF2B5EF4-FFF2-40B4-BE49-F238E27FC236}">
                <a16:creationId xmlns:a16="http://schemas.microsoft.com/office/drawing/2014/main" id="{AC15A416-D885-72BA-275A-012107FA3D4B}"/>
              </a:ext>
            </a:extLst>
          </p:cNvPr>
          <p:cNvSpPr>
            <a:spLocks noGrp="1"/>
          </p:cNvSpPr>
          <p:nvPr>
            <p:ph type="ftr" sz="quarter" idx="11"/>
          </p:nvPr>
        </p:nvSpPr>
        <p:spPr/>
        <p:txBody>
          <a:bodyPr/>
          <a:lstStyle/>
          <a:p>
            <a:r>
              <a:rPr lang="en-US"/>
              <a:t>Lecturer at George Brown College and Ontario Tech university</a:t>
            </a:r>
            <a:endParaRPr lang="en-CA"/>
          </a:p>
        </p:txBody>
      </p:sp>
    </p:spTree>
    <p:extLst>
      <p:ext uri="{BB962C8B-B14F-4D97-AF65-F5344CB8AC3E}">
        <p14:creationId xmlns:p14="http://schemas.microsoft.com/office/powerpoint/2010/main" val="2933824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232F0-2775-37E4-D1F7-6E96275CEBEF}"/>
              </a:ext>
            </a:extLst>
          </p:cNvPr>
          <p:cNvSpPr>
            <a:spLocks noGrp="1"/>
          </p:cNvSpPr>
          <p:nvPr>
            <p:ph type="title"/>
          </p:nvPr>
        </p:nvSpPr>
        <p:spPr/>
        <p:txBody>
          <a:bodyPr>
            <a:normAutofit fontScale="90000"/>
          </a:bodyPr>
          <a:lstStyle/>
          <a:p>
            <a:r>
              <a:rPr lang="en-CA" b="1" dirty="0"/>
              <a:t>Blanchard &amp; Watson (1982) – Rational Bubbles</a:t>
            </a:r>
            <a:br>
              <a:rPr lang="en-CA" b="1" dirty="0"/>
            </a:br>
            <a:endParaRPr lang="en-CA" dirty="0"/>
          </a:p>
        </p:txBody>
      </p:sp>
      <p:sp>
        <p:nvSpPr>
          <p:cNvPr id="3" name="Content Placeholder 2">
            <a:extLst>
              <a:ext uri="{FF2B5EF4-FFF2-40B4-BE49-F238E27FC236}">
                <a16:creationId xmlns:a16="http://schemas.microsoft.com/office/drawing/2014/main" id="{9D6C7C4B-0088-EB4B-6181-CA0E193219EA}"/>
              </a:ext>
            </a:extLst>
          </p:cNvPr>
          <p:cNvSpPr>
            <a:spLocks noGrp="1"/>
          </p:cNvSpPr>
          <p:nvPr>
            <p:ph idx="1"/>
          </p:nvPr>
        </p:nvSpPr>
        <p:spPr/>
        <p:txBody>
          <a:bodyPr/>
          <a:lstStyle/>
          <a:p>
            <a:r>
              <a:rPr lang="en-US" b="1" dirty="0"/>
              <a:t>Key Idea:</a:t>
            </a:r>
            <a:r>
              <a:rPr lang="en-US" dirty="0"/>
              <a:t> Bubbles can be </a:t>
            </a:r>
            <a:r>
              <a:rPr lang="en-US" i="1" dirty="0"/>
              <a:t>rational</a:t>
            </a:r>
            <a:r>
              <a:rPr lang="en-US" dirty="0"/>
              <a:t>—investors know prices are inflated but keep buying because they expect to sell to someone else at an even higher price.</a:t>
            </a:r>
          </a:p>
          <a:p>
            <a:r>
              <a:rPr lang="en-US" b="1" dirty="0"/>
              <a:t>"Greater Fool" Theory:</a:t>
            </a:r>
            <a:endParaRPr lang="en-US" dirty="0"/>
          </a:p>
          <a:p>
            <a:r>
              <a:rPr lang="en-US" dirty="0"/>
              <a:t>You buy an overpriced asset not because it's worth it, but because you expect a "greater fool" to buy it from you later at a higher price</a:t>
            </a:r>
          </a:p>
          <a:p>
            <a:r>
              <a:rPr lang="en-US" dirty="0"/>
              <a:t>The bubble grows until it eventually crashes (probabilistically)</a:t>
            </a:r>
          </a:p>
          <a:p>
            <a:endParaRPr lang="en-CA" dirty="0"/>
          </a:p>
        </p:txBody>
      </p:sp>
      <p:sp>
        <p:nvSpPr>
          <p:cNvPr id="4" name="Footer Placeholder 3">
            <a:extLst>
              <a:ext uri="{FF2B5EF4-FFF2-40B4-BE49-F238E27FC236}">
                <a16:creationId xmlns:a16="http://schemas.microsoft.com/office/drawing/2014/main" id="{E1FF9D22-5BD0-7BF6-3846-D899F6F3B6BD}"/>
              </a:ext>
            </a:extLst>
          </p:cNvPr>
          <p:cNvSpPr>
            <a:spLocks noGrp="1"/>
          </p:cNvSpPr>
          <p:nvPr>
            <p:ph type="ftr" sz="quarter" idx="11"/>
          </p:nvPr>
        </p:nvSpPr>
        <p:spPr/>
        <p:txBody>
          <a:bodyPr/>
          <a:lstStyle/>
          <a:p>
            <a:r>
              <a:rPr lang="en-US"/>
              <a:t>Lecturer at George Brown College and Ontario Tech university</a:t>
            </a:r>
            <a:endParaRPr lang="en-CA"/>
          </a:p>
        </p:txBody>
      </p:sp>
      <p:grpSp>
        <p:nvGrpSpPr>
          <p:cNvPr id="5" name="Group 14">
            <a:extLst>
              <a:ext uri="{FF2B5EF4-FFF2-40B4-BE49-F238E27FC236}">
                <a16:creationId xmlns:a16="http://schemas.microsoft.com/office/drawing/2014/main" id="{E7A5CD44-5C7F-28BA-774E-F27AD9B35394}"/>
              </a:ext>
            </a:extLst>
          </p:cNvPr>
          <p:cNvGrpSpPr>
            <a:grpSpLocks/>
          </p:cNvGrpSpPr>
          <p:nvPr/>
        </p:nvGrpSpPr>
        <p:grpSpPr bwMode="auto">
          <a:xfrm>
            <a:off x="622659" y="365125"/>
            <a:ext cx="1709737" cy="1201738"/>
            <a:chOff x="0" y="0"/>
            <a:chExt cx="1710070" cy="1202363"/>
          </a:xfrm>
        </p:grpSpPr>
        <p:sp>
          <p:nvSpPr>
            <p:cNvPr id="6" name="Freeform 16">
              <a:extLst>
                <a:ext uri="{FF2B5EF4-FFF2-40B4-BE49-F238E27FC236}">
                  <a16:creationId xmlns:a16="http://schemas.microsoft.com/office/drawing/2014/main" id="{C244348A-9FC7-8BDE-942C-BD30E2CC2D38}"/>
                </a:ext>
              </a:extLst>
            </p:cNvPr>
            <p:cNvSpPr>
              <a:spLocks noChangeArrowheads="1"/>
            </p:cNvSpPr>
            <p:nvPr/>
          </p:nvSpPr>
          <p:spPr bwMode="auto">
            <a:xfrm>
              <a:off x="0" y="0"/>
              <a:ext cx="859156" cy="475262"/>
            </a:xfrm>
            <a:prstGeom prst="rect">
              <a:avLst/>
            </a:prstGeom>
            <a:solidFill>
              <a:srgbClr val="0D4F61"/>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7" name="Freeform 19">
              <a:extLst>
                <a:ext uri="{FF2B5EF4-FFF2-40B4-BE49-F238E27FC236}">
                  <a16:creationId xmlns:a16="http://schemas.microsoft.com/office/drawing/2014/main" id="{B6D2675E-F1EB-6165-1E4B-75BBFC90D99B}"/>
                </a:ext>
              </a:extLst>
            </p:cNvPr>
            <p:cNvSpPr>
              <a:spLocks noChangeArrowheads="1"/>
            </p:cNvSpPr>
            <p:nvPr/>
          </p:nvSpPr>
          <p:spPr bwMode="auto">
            <a:xfrm>
              <a:off x="139846" y="259925"/>
              <a:ext cx="579463" cy="942439"/>
            </a:xfrm>
            <a:prstGeom prst="rect">
              <a:avLst/>
            </a:prstGeom>
            <a:solidFill>
              <a:srgbClr val="000000">
                <a:alpha val="0"/>
              </a:srgbClr>
            </a:solidFill>
            <a:ln w="9525" cap="sq">
              <a:solidFill>
                <a:srgbClr val="E41D37"/>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8" name="Freeform 22">
              <a:extLst>
                <a:ext uri="{FF2B5EF4-FFF2-40B4-BE49-F238E27FC236}">
                  <a16:creationId xmlns:a16="http://schemas.microsoft.com/office/drawing/2014/main" id="{58D8983E-8C79-0B47-6599-9E38DAF4BEF1}"/>
                </a:ext>
              </a:extLst>
            </p:cNvPr>
            <p:cNvSpPr>
              <a:spLocks noChangeArrowheads="1"/>
            </p:cNvSpPr>
            <p:nvPr/>
          </p:nvSpPr>
          <p:spPr bwMode="auto">
            <a:xfrm rot="5400000">
              <a:off x="1171944" y="654517"/>
              <a:ext cx="534130" cy="542123"/>
            </a:xfrm>
            <a:prstGeom prst="rect">
              <a:avLst/>
            </a:prstGeom>
            <a:solidFill>
              <a:srgbClr val="47C7F5"/>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9" name="Freeform 25">
              <a:extLst>
                <a:ext uri="{FF2B5EF4-FFF2-40B4-BE49-F238E27FC236}">
                  <a16:creationId xmlns:a16="http://schemas.microsoft.com/office/drawing/2014/main" id="{42610066-C1E5-9118-47D7-0FF4FF558DF8}"/>
                </a:ext>
              </a:extLst>
            </p:cNvPr>
            <p:cNvSpPr>
              <a:spLocks noChangeArrowheads="1"/>
            </p:cNvSpPr>
            <p:nvPr/>
          </p:nvSpPr>
          <p:spPr bwMode="auto">
            <a:xfrm rot="5400000">
              <a:off x="1180997" y="189754"/>
              <a:ext cx="257252" cy="258772"/>
            </a:xfrm>
            <a:prstGeom prst="rect">
              <a:avLst/>
            </a:prstGeom>
            <a:solidFill>
              <a:srgbClr val="000000">
                <a:alpha val="0"/>
              </a:srgbClr>
            </a:solidFill>
            <a:ln w="9525" cap="sq">
              <a:solidFill>
                <a:srgbClr val="E41D37"/>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10" name="Freeform 28">
              <a:extLst>
                <a:ext uri="{FF2B5EF4-FFF2-40B4-BE49-F238E27FC236}">
                  <a16:creationId xmlns:a16="http://schemas.microsoft.com/office/drawing/2014/main" id="{3D0003A9-0DF3-031F-0DF0-F32338C48479}"/>
                </a:ext>
              </a:extLst>
            </p:cNvPr>
            <p:cNvSpPr>
              <a:spLocks noChangeArrowheads="1"/>
            </p:cNvSpPr>
            <p:nvPr/>
          </p:nvSpPr>
          <p:spPr bwMode="auto">
            <a:xfrm rot="5400000">
              <a:off x="1114690" y="322292"/>
              <a:ext cx="179016" cy="172712"/>
            </a:xfrm>
            <a:prstGeom prst="rect">
              <a:avLst/>
            </a:prstGeom>
            <a:solidFill>
              <a:srgbClr val="0D4F61"/>
            </a:solidFill>
            <a:ln w="9525" cap="sq">
              <a:solidFill>
                <a:srgbClr val="0D4F61"/>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11" name="Freeform 31">
              <a:extLst>
                <a:ext uri="{FF2B5EF4-FFF2-40B4-BE49-F238E27FC236}">
                  <a16:creationId xmlns:a16="http://schemas.microsoft.com/office/drawing/2014/main" id="{BAD936C6-E666-03B6-B47D-1CFAF9415A5A}"/>
                </a:ext>
              </a:extLst>
            </p:cNvPr>
            <p:cNvSpPr>
              <a:spLocks noChangeArrowheads="1"/>
            </p:cNvSpPr>
            <p:nvPr/>
          </p:nvSpPr>
          <p:spPr bwMode="auto">
            <a:xfrm rot="5400000">
              <a:off x="352782" y="-212936"/>
              <a:ext cx="679865" cy="1105735"/>
            </a:xfrm>
            <a:prstGeom prst="rect">
              <a:avLst/>
            </a:prstGeom>
            <a:solidFill>
              <a:srgbClr val="000000">
                <a:alpha val="0"/>
              </a:srgbClr>
            </a:solidFill>
            <a:ln w="9525" cap="sq">
              <a:solidFill>
                <a:srgbClr val="0D4F61"/>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grpSp>
      <p:pic>
        <p:nvPicPr>
          <p:cNvPr id="12" name="Picture 11">
            <a:extLst>
              <a:ext uri="{FF2B5EF4-FFF2-40B4-BE49-F238E27FC236}">
                <a16:creationId xmlns:a16="http://schemas.microsoft.com/office/drawing/2014/main" id="{9F2CC94B-AD41-2EFD-CFAE-D5737C679B56}"/>
              </a:ext>
            </a:extLst>
          </p:cNvPr>
          <p:cNvPicPr>
            <a:picLocks noChangeAspect="1"/>
          </p:cNvPicPr>
          <p:nvPr/>
        </p:nvPicPr>
        <p:blipFill>
          <a:blip r:embed="rId2"/>
          <a:stretch>
            <a:fillRect/>
          </a:stretch>
        </p:blipFill>
        <p:spPr>
          <a:xfrm>
            <a:off x="741373" y="5305809"/>
            <a:ext cx="1761897" cy="951058"/>
          </a:xfrm>
          <a:prstGeom prst="rect">
            <a:avLst/>
          </a:prstGeom>
        </p:spPr>
      </p:pic>
    </p:spTree>
    <p:extLst>
      <p:ext uri="{BB962C8B-B14F-4D97-AF65-F5344CB8AC3E}">
        <p14:creationId xmlns:p14="http://schemas.microsoft.com/office/powerpoint/2010/main" val="4058447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8FCCF-169E-D34B-8C25-A9E6CF5A3780}"/>
              </a:ext>
            </a:extLst>
          </p:cNvPr>
          <p:cNvSpPr>
            <a:spLocks noGrp="1"/>
          </p:cNvSpPr>
          <p:nvPr>
            <p:ph type="title"/>
          </p:nvPr>
        </p:nvSpPr>
        <p:spPr/>
        <p:txBody>
          <a:bodyPr>
            <a:normAutofit fontScale="90000"/>
          </a:bodyPr>
          <a:lstStyle/>
          <a:p>
            <a:r>
              <a:rPr lang="en-CA" b="1" dirty="0" err="1"/>
              <a:t>Tirole</a:t>
            </a:r>
            <a:r>
              <a:rPr lang="en-CA" b="1" dirty="0"/>
              <a:t> (1985) – Overlapping Generations (OLG) Model</a:t>
            </a:r>
            <a:br>
              <a:rPr lang="en-CA" b="1" dirty="0"/>
            </a:br>
            <a:endParaRPr lang="en-CA" dirty="0"/>
          </a:p>
        </p:txBody>
      </p:sp>
      <p:sp>
        <p:nvSpPr>
          <p:cNvPr id="3" name="Content Placeholder 2">
            <a:extLst>
              <a:ext uri="{FF2B5EF4-FFF2-40B4-BE49-F238E27FC236}">
                <a16:creationId xmlns:a16="http://schemas.microsoft.com/office/drawing/2014/main" id="{03BB796A-FF26-B940-96FC-564BD7B198E6}"/>
              </a:ext>
            </a:extLst>
          </p:cNvPr>
          <p:cNvSpPr>
            <a:spLocks noGrp="1"/>
          </p:cNvSpPr>
          <p:nvPr>
            <p:ph idx="1"/>
          </p:nvPr>
        </p:nvSpPr>
        <p:spPr/>
        <p:txBody>
          <a:bodyPr>
            <a:normAutofit fontScale="92500" lnSpcReduction="10000"/>
          </a:bodyPr>
          <a:lstStyle/>
          <a:p>
            <a:r>
              <a:rPr lang="en-US" b="1" dirty="0"/>
              <a:t>Key Idea:</a:t>
            </a:r>
            <a:r>
              <a:rPr lang="en-US" dirty="0"/>
              <a:t> In an OLG framework, rational bubbles </a:t>
            </a:r>
            <a:r>
              <a:rPr lang="en-US" i="1" dirty="0"/>
              <a:t>can</a:t>
            </a:r>
            <a:r>
              <a:rPr lang="en-US" dirty="0"/>
              <a:t> exist under specific conditions.</a:t>
            </a:r>
          </a:p>
          <a:p>
            <a:r>
              <a:rPr lang="en-US" b="1" dirty="0"/>
              <a:t>Main Results:</a:t>
            </a:r>
            <a:endParaRPr lang="en-US" dirty="0"/>
          </a:p>
          <a:p>
            <a:r>
              <a:rPr lang="en-US" dirty="0"/>
              <a:t>Bubbles are possible when the economy is </a:t>
            </a:r>
            <a:r>
              <a:rPr lang="en-US" b="1" dirty="0"/>
              <a:t>dynamically inefficient</a:t>
            </a:r>
            <a:r>
              <a:rPr lang="en-US" dirty="0"/>
              <a:t> (interest rate &lt; growth rate)</a:t>
            </a:r>
          </a:p>
          <a:p>
            <a:r>
              <a:rPr lang="en-US" dirty="0"/>
              <a:t>Young generations buy overpriced assets from old generations, expecting the next young generation to do the same</a:t>
            </a:r>
          </a:p>
          <a:p>
            <a:r>
              <a:rPr lang="en-US" dirty="0"/>
              <a:t>But: In efficient economies, bubbles </a:t>
            </a:r>
            <a:r>
              <a:rPr lang="en-US" i="1" dirty="0"/>
              <a:t>cannot</a:t>
            </a:r>
            <a:r>
              <a:rPr lang="en-US" dirty="0"/>
              <a:t> persist—they'd crowd out productive capital</a:t>
            </a:r>
          </a:p>
          <a:p>
            <a:r>
              <a:rPr lang="en-US" b="1" dirty="0"/>
              <a:t>Paradox:</a:t>
            </a:r>
            <a:r>
              <a:rPr lang="en-US" dirty="0"/>
              <a:t> Bubbles require the economy to be "sick" (inefficient) to survive.</a:t>
            </a:r>
          </a:p>
          <a:p>
            <a:endParaRPr lang="en-CA" dirty="0"/>
          </a:p>
        </p:txBody>
      </p:sp>
      <p:sp>
        <p:nvSpPr>
          <p:cNvPr id="4" name="Footer Placeholder 3">
            <a:extLst>
              <a:ext uri="{FF2B5EF4-FFF2-40B4-BE49-F238E27FC236}">
                <a16:creationId xmlns:a16="http://schemas.microsoft.com/office/drawing/2014/main" id="{0FF45F99-7557-3D14-F070-647801C71BCF}"/>
              </a:ext>
            </a:extLst>
          </p:cNvPr>
          <p:cNvSpPr>
            <a:spLocks noGrp="1"/>
          </p:cNvSpPr>
          <p:nvPr>
            <p:ph type="ftr" sz="quarter" idx="11"/>
          </p:nvPr>
        </p:nvSpPr>
        <p:spPr/>
        <p:txBody>
          <a:bodyPr/>
          <a:lstStyle/>
          <a:p>
            <a:r>
              <a:rPr lang="en-US"/>
              <a:t>Lecturer at George Brown College and Ontario Tech university</a:t>
            </a:r>
            <a:endParaRPr lang="en-CA"/>
          </a:p>
        </p:txBody>
      </p:sp>
      <p:pic>
        <p:nvPicPr>
          <p:cNvPr id="5" name="Picture 4">
            <a:extLst>
              <a:ext uri="{FF2B5EF4-FFF2-40B4-BE49-F238E27FC236}">
                <a16:creationId xmlns:a16="http://schemas.microsoft.com/office/drawing/2014/main" id="{6F4057B8-AF6A-ACCD-1702-C2C17A89500B}"/>
              </a:ext>
            </a:extLst>
          </p:cNvPr>
          <p:cNvPicPr>
            <a:picLocks noChangeAspect="1"/>
          </p:cNvPicPr>
          <p:nvPr/>
        </p:nvPicPr>
        <p:blipFill>
          <a:blip r:embed="rId2"/>
          <a:stretch>
            <a:fillRect/>
          </a:stretch>
        </p:blipFill>
        <p:spPr>
          <a:xfrm>
            <a:off x="741373" y="5305809"/>
            <a:ext cx="1761897" cy="951058"/>
          </a:xfrm>
          <a:prstGeom prst="rect">
            <a:avLst/>
          </a:prstGeom>
        </p:spPr>
      </p:pic>
      <p:grpSp>
        <p:nvGrpSpPr>
          <p:cNvPr id="6" name="Group 14">
            <a:extLst>
              <a:ext uri="{FF2B5EF4-FFF2-40B4-BE49-F238E27FC236}">
                <a16:creationId xmlns:a16="http://schemas.microsoft.com/office/drawing/2014/main" id="{BDD7CB1A-3D48-01BF-B132-C3C92FCBF3FC}"/>
              </a:ext>
            </a:extLst>
          </p:cNvPr>
          <p:cNvGrpSpPr>
            <a:grpSpLocks/>
          </p:cNvGrpSpPr>
          <p:nvPr/>
        </p:nvGrpSpPr>
        <p:grpSpPr bwMode="auto">
          <a:xfrm>
            <a:off x="622659" y="365125"/>
            <a:ext cx="1709737" cy="1201738"/>
            <a:chOff x="0" y="0"/>
            <a:chExt cx="1710070" cy="1202363"/>
          </a:xfrm>
        </p:grpSpPr>
        <p:sp>
          <p:nvSpPr>
            <p:cNvPr id="7" name="Freeform 16">
              <a:extLst>
                <a:ext uri="{FF2B5EF4-FFF2-40B4-BE49-F238E27FC236}">
                  <a16:creationId xmlns:a16="http://schemas.microsoft.com/office/drawing/2014/main" id="{1B7E0C53-0AB6-5BCB-DCB3-8DA3AAD4898B}"/>
                </a:ext>
              </a:extLst>
            </p:cNvPr>
            <p:cNvSpPr>
              <a:spLocks noChangeArrowheads="1"/>
            </p:cNvSpPr>
            <p:nvPr/>
          </p:nvSpPr>
          <p:spPr bwMode="auto">
            <a:xfrm>
              <a:off x="0" y="0"/>
              <a:ext cx="859156" cy="475262"/>
            </a:xfrm>
            <a:prstGeom prst="rect">
              <a:avLst/>
            </a:prstGeom>
            <a:solidFill>
              <a:srgbClr val="0D4F61"/>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8" name="Freeform 19">
              <a:extLst>
                <a:ext uri="{FF2B5EF4-FFF2-40B4-BE49-F238E27FC236}">
                  <a16:creationId xmlns:a16="http://schemas.microsoft.com/office/drawing/2014/main" id="{F1199F17-029C-6EEB-9DDB-D8AED90FA7BC}"/>
                </a:ext>
              </a:extLst>
            </p:cNvPr>
            <p:cNvSpPr>
              <a:spLocks noChangeArrowheads="1"/>
            </p:cNvSpPr>
            <p:nvPr/>
          </p:nvSpPr>
          <p:spPr bwMode="auto">
            <a:xfrm>
              <a:off x="139846" y="259925"/>
              <a:ext cx="579463" cy="942439"/>
            </a:xfrm>
            <a:prstGeom prst="rect">
              <a:avLst/>
            </a:prstGeom>
            <a:solidFill>
              <a:srgbClr val="000000">
                <a:alpha val="0"/>
              </a:srgbClr>
            </a:solidFill>
            <a:ln w="9525" cap="sq">
              <a:solidFill>
                <a:srgbClr val="E41D37"/>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9" name="Freeform 22">
              <a:extLst>
                <a:ext uri="{FF2B5EF4-FFF2-40B4-BE49-F238E27FC236}">
                  <a16:creationId xmlns:a16="http://schemas.microsoft.com/office/drawing/2014/main" id="{91F3C725-BEEA-F134-DBD0-47AE74645BB8}"/>
                </a:ext>
              </a:extLst>
            </p:cNvPr>
            <p:cNvSpPr>
              <a:spLocks noChangeArrowheads="1"/>
            </p:cNvSpPr>
            <p:nvPr/>
          </p:nvSpPr>
          <p:spPr bwMode="auto">
            <a:xfrm rot="5400000">
              <a:off x="1171944" y="654517"/>
              <a:ext cx="534130" cy="542123"/>
            </a:xfrm>
            <a:prstGeom prst="rect">
              <a:avLst/>
            </a:prstGeom>
            <a:solidFill>
              <a:srgbClr val="47C7F5"/>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10" name="Freeform 25">
              <a:extLst>
                <a:ext uri="{FF2B5EF4-FFF2-40B4-BE49-F238E27FC236}">
                  <a16:creationId xmlns:a16="http://schemas.microsoft.com/office/drawing/2014/main" id="{E505CDA3-372F-763D-F5F7-EDEB3F6A492A}"/>
                </a:ext>
              </a:extLst>
            </p:cNvPr>
            <p:cNvSpPr>
              <a:spLocks noChangeArrowheads="1"/>
            </p:cNvSpPr>
            <p:nvPr/>
          </p:nvSpPr>
          <p:spPr bwMode="auto">
            <a:xfrm rot="5400000">
              <a:off x="1180997" y="189754"/>
              <a:ext cx="257252" cy="258772"/>
            </a:xfrm>
            <a:prstGeom prst="rect">
              <a:avLst/>
            </a:prstGeom>
            <a:solidFill>
              <a:srgbClr val="000000">
                <a:alpha val="0"/>
              </a:srgbClr>
            </a:solidFill>
            <a:ln w="9525" cap="sq">
              <a:solidFill>
                <a:srgbClr val="E41D37"/>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11" name="Freeform 28">
              <a:extLst>
                <a:ext uri="{FF2B5EF4-FFF2-40B4-BE49-F238E27FC236}">
                  <a16:creationId xmlns:a16="http://schemas.microsoft.com/office/drawing/2014/main" id="{7B532AFA-5BAE-84C1-1D9A-A564ED049D3B}"/>
                </a:ext>
              </a:extLst>
            </p:cNvPr>
            <p:cNvSpPr>
              <a:spLocks noChangeArrowheads="1"/>
            </p:cNvSpPr>
            <p:nvPr/>
          </p:nvSpPr>
          <p:spPr bwMode="auto">
            <a:xfrm rot="5400000">
              <a:off x="1114690" y="322292"/>
              <a:ext cx="179016" cy="172712"/>
            </a:xfrm>
            <a:prstGeom prst="rect">
              <a:avLst/>
            </a:prstGeom>
            <a:solidFill>
              <a:srgbClr val="0D4F61"/>
            </a:solidFill>
            <a:ln w="9525" cap="sq">
              <a:solidFill>
                <a:srgbClr val="0D4F61"/>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12" name="Freeform 31">
              <a:extLst>
                <a:ext uri="{FF2B5EF4-FFF2-40B4-BE49-F238E27FC236}">
                  <a16:creationId xmlns:a16="http://schemas.microsoft.com/office/drawing/2014/main" id="{15C041F4-5DB3-4AF7-F82E-F49F5A228991}"/>
                </a:ext>
              </a:extLst>
            </p:cNvPr>
            <p:cNvSpPr>
              <a:spLocks noChangeArrowheads="1"/>
            </p:cNvSpPr>
            <p:nvPr/>
          </p:nvSpPr>
          <p:spPr bwMode="auto">
            <a:xfrm rot="5400000">
              <a:off x="352782" y="-212936"/>
              <a:ext cx="679865" cy="1105735"/>
            </a:xfrm>
            <a:prstGeom prst="rect">
              <a:avLst/>
            </a:prstGeom>
            <a:solidFill>
              <a:srgbClr val="000000">
                <a:alpha val="0"/>
              </a:srgbClr>
            </a:solidFill>
            <a:ln w="9525" cap="sq">
              <a:solidFill>
                <a:srgbClr val="0D4F61"/>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grpSp>
    </p:spTree>
    <p:extLst>
      <p:ext uri="{BB962C8B-B14F-4D97-AF65-F5344CB8AC3E}">
        <p14:creationId xmlns:p14="http://schemas.microsoft.com/office/powerpoint/2010/main" val="3620682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C2943-3781-CC9A-51CE-98F5A26159E3}"/>
              </a:ext>
            </a:extLst>
          </p:cNvPr>
          <p:cNvSpPr>
            <a:spLocks noGrp="1"/>
          </p:cNvSpPr>
          <p:nvPr>
            <p:ph type="title"/>
          </p:nvPr>
        </p:nvSpPr>
        <p:spPr/>
        <p:txBody>
          <a:bodyPr>
            <a:normAutofit fontScale="90000"/>
          </a:bodyPr>
          <a:lstStyle/>
          <a:p>
            <a:r>
              <a:rPr lang="en-US" b="1" dirty="0"/>
              <a:t>Porter &amp; Smith (2003) – Bubbles with Perfect Information</a:t>
            </a:r>
            <a:br>
              <a:rPr lang="en-US" b="1" dirty="0"/>
            </a:br>
            <a:endParaRPr lang="en-CA" dirty="0"/>
          </a:p>
        </p:txBody>
      </p:sp>
      <p:sp>
        <p:nvSpPr>
          <p:cNvPr id="3" name="Content Placeholder 2">
            <a:extLst>
              <a:ext uri="{FF2B5EF4-FFF2-40B4-BE49-F238E27FC236}">
                <a16:creationId xmlns:a16="http://schemas.microsoft.com/office/drawing/2014/main" id="{B15DD62D-D3EF-44DB-A705-689B6ED76C8A}"/>
              </a:ext>
            </a:extLst>
          </p:cNvPr>
          <p:cNvSpPr>
            <a:spLocks noGrp="1"/>
          </p:cNvSpPr>
          <p:nvPr>
            <p:ph idx="1"/>
          </p:nvPr>
        </p:nvSpPr>
        <p:spPr/>
        <p:txBody>
          <a:bodyPr/>
          <a:lstStyle/>
          <a:p>
            <a:r>
              <a:rPr lang="en-US" dirty="0"/>
              <a:t>Bubbles occur </a:t>
            </a:r>
            <a:r>
              <a:rPr lang="en-US" b="1" dirty="0"/>
              <a:t>even when all traders have perfect information</a:t>
            </a:r>
            <a:r>
              <a:rPr lang="en-US" dirty="0"/>
              <a:t> about fundamental values.</a:t>
            </a:r>
          </a:p>
          <a:p>
            <a:r>
              <a:rPr lang="en-US" dirty="0"/>
              <a:t>Perfect information doesn't prevent bubbles because people follow the herd, not fundamentals.</a:t>
            </a:r>
          </a:p>
          <a:p>
            <a:endParaRPr lang="en-CA" dirty="0"/>
          </a:p>
        </p:txBody>
      </p:sp>
      <p:sp>
        <p:nvSpPr>
          <p:cNvPr id="4" name="Footer Placeholder 3">
            <a:extLst>
              <a:ext uri="{FF2B5EF4-FFF2-40B4-BE49-F238E27FC236}">
                <a16:creationId xmlns:a16="http://schemas.microsoft.com/office/drawing/2014/main" id="{8B68CD69-A219-84BB-414F-13A49493BE6E}"/>
              </a:ext>
            </a:extLst>
          </p:cNvPr>
          <p:cNvSpPr>
            <a:spLocks noGrp="1"/>
          </p:cNvSpPr>
          <p:nvPr>
            <p:ph type="ftr" sz="quarter" idx="11"/>
          </p:nvPr>
        </p:nvSpPr>
        <p:spPr/>
        <p:txBody>
          <a:bodyPr/>
          <a:lstStyle/>
          <a:p>
            <a:r>
              <a:rPr lang="en-US"/>
              <a:t>Lecturer at George Brown College and Ontario Tech university</a:t>
            </a:r>
            <a:endParaRPr lang="en-CA"/>
          </a:p>
        </p:txBody>
      </p:sp>
      <p:grpSp>
        <p:nvGrpSpPr>
          <p:cNvPr id="5" name="Group 14">
            <a:extLst>
              <a:ext uri="{FF2B5EF4-FFF2-40B4-BE49-F238E27FC236}">
                <a16:creationId xmlns:a16="http://schemas.microsoft.com/office/drawing/2014/main" id="{0107540C-BF90-C568-53C0-A1A38C481651}"/>
              </a:ext>
            </a:extLst>
          </p:cNvPr>
          <p:cNvGrpSpPr>
            <a:grpSpLocks/>
          </p:cNvGrpSpPr>
          <p:nvPr/>
        </p:nvGrpSpPr>
        <p:grpSpPr bwMode="auto">
          <a:xfrm>
            <a:off x="622659" y="365125"/>
            <a:ext cx="1709737" cy="1201738"/>
            <a:chOff x="0" y="0"/>
            <a:chExt cx="1710070" cy="1202363"/>
          </a:xfrm>
        </p:grpSpPr>
        <p:sp>
          <p:nvSpPr>
            <p:cNvPr id="6" name="Freeform 16">
              <a:extLst>
                <a:ext uri="{FF2B5EF4-FFF2-40B4-BE49-F238E27FC236}">
                  <a16:creationId xmlns:a16="http://schemas.microsoft.com/office/drawing/2014/main" id="{A482A2D0-E94D-0D6F-0670-D6F9D2DD1E8F}"/>
                </a:ext>
              </a:extLst>
            </p:cNvPr>
            <p:cNvSpPr>
              <a:spLocks noChangeArrowheads="1"/>
            </p:cNvSpPr>
            <p:nvPr/>
          </p:nvSpPr>
          <p:spPr bwMode="auto">
            <a:xfrm>
              <a:off x="0" y="0"/>
              <a:ext cx="859156" cy="475262"/>
            </a:xfrm>
            <a:prstGeom prst="rect">
              <a:avLst/>
            </a:prstGeom>
            <a:solidFill>
              <a:srgbClr val="0D4F61"/>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7" name="Freeform 19">
              <a:extLst>
                <a:ext uri="{FF2B5EF4-FFF2-40B4-BE49-F238E27FC236}">
                  <a16:creationId xmlns:a16="http://schemas.microsoft.com/office/drawing/2014/main" id="{235D83B9-207C-21AD-7EEE-4BDD9D43D71A}"/>
                </a:ext>
              </a:extLst>
            </p:cNvPr>
            <p:cNvSpPr>
              <a:spLocks noChangeArrowheads="1"/>
            </p:cNvSpPr>
            <p:nvPr/>
          </p:nvSpPr>
          <p:spPr bwMode="auto">
            <a:xfrm>
              <a:off x="139846" y="259925"/>
              <a:ext cx="579463" cy="942439"/>
            </a:xfrm>
            <a:prstGeom prst="rect">
              <a:avLst/>
            </a:prstGeom>
            <a:solidFill>
              <a:srgbClr val="000000">
                <a:alpha val="0"/>
              </a:srgbClr>
            </a:solidFill>
            <a:ln w="9525" cap="sq">
              <a:solidFill>
                <a:srgbClr val="E41D37"/>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8" name="Freeform 22">
              <a:extLst>
                <a:ext uri="{FF2B5EF4-FFF2-40B4-BE49-F238E27FC236}">
                  <a16:creationId xmlns:a16="http://schemas.microsoft.com/office/drawing/2014/main" id="{D9858991-9CFC-65E6-5259-E4A67FB80800}"/>
                </a:ext>
              </a:extLst>
            </p:cNvPr>
            <p:cNvSpPr>
              <a:spLocks noChangeArrowheads="1"/>
            </p:cNvSpPr>
            <p:nvPr/>
          </p:nvSpPr>
          <p:spPr bwMode="auto">
            <a:xfrm rot="5400000">
              <a:off x="1171944" y="654517"/>
              <a:ext cx="534130" cy="542123"/>
            </a:xfrm>
            <a:prstGeom prst="rect">
              <a:avLst/>
            </a:prstGeom>
            <a:solidFill>
              <a:srgbClr val="47C7F5"/>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9" name="Freeform 25">
              <a:extLst>
                <a:ext uri="{FF2B5EF4-FFF2-40B4-BE49-F238E27FC236}">
                  <a16:creationId xmlns:a16="http://schemas.microsoft.com/office/drawing/2014/main" id="{04A4CC46-DDB6-2C80-055B-D46D4B8DC9A7}"/>
                </a:ext>
              </a:extLst>
            </p:cNvPr>
            <p:cNvSpPr>
              <a:spLocks noChangeArrowheads="1"/>
            </p:cNvSpPr>
            <p:nvPr/>
          </p:nvSpPr>
          <p:spPr bwMode="auto">
            <a:xfrm rot="5400000">
              <a:off x="1180997" y="189754"/>
              <a:ext cx="257252" cy="258772"/>
            </a:xfrm>
            <a:prstGeom prst="rect">
              <a:avLst/>
            </a:prstGeom>
            <a:solidFill>
              <a:srgbClr val="000000">
                <a:alpha val="0"/>
              </a:srgbClr>
            </a:solidFill>
            <a:ln w="9525" cap="sq">
              <a:solidFill>
                <a:srgbClr val="E41D37"/>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10" name="Freeform 28">
              <a:extLst>
                <a:ext uri="{FF2B5EF4-FFF2-40B4-BE49-F238E27FC236}">
                  <a16:creationId xmlns:a16="http://schemas.microsoft.com/office/drawing/2014/main" id="{21C00A2E-B0EC-D980-42F9-67E0DEFDA787}"/>
                </a:ext>
              </a:extLst>
            </p:cNvPr>
            <p:cNvSpPr>
              <a:spLocks noChangeArrowheads="1"/>
            </p:cNvSpPr>
            <p:nvPr/>
          </p:nvSpPr>
          <p:spPr bwMode="auto">
            <a:xfrm rot="5400000">
              <a:off x="1114690" y="322292"/>
              <a:ext cx="179016" cy="172712"/>
            </a:xfrm>
            <a:prstGeom prst="rect">
              <a:avLst/>
            </a:prstGeom>
            <a:solidFill>
              <a:srgbClr val="0D4F61"/>
            </a:solidFill>
            <a:ln w="9525" cap="sq">
              <a:solidFill>
                <a:srgbClr val="0D4F61"/>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11" name="Freeform 31">
              <a:extLst>
                <a:ext uri="{FF2B5EF4-FFF2-40B4-BE49-F238E27FC236}">
                  <a16:creationId xmlns:a16="http://schemas.microsoft.com/office/drawing/2014/main" id="{9358AA7B-426F-7EF5-CB26-9D2BBBC4C41E}"/>
                </a:ext>
              </a:extLst>
            </p:cNvPr>
            <p:cNvSpPr>
              <a:spLocks noChangeArrowheads="1"/>
            </p:cNvSpPr>
            <p:nvPr/>
          </p:nvSpPr>
          <p:spPr bwMode="auto">
            <a:xfrm rot="5400000">
              <a:off x="352782" y="-212936"/>
              <a:ext cx="679865" cy="1105735"/>
            </a:xfrm>
            <a:prstGeom prst="rect">
              <a:avLst/>
            </a:prstGeom>
            <a:solidFill>
              <a:srgbClr val="000000">
                <a:alpha val="0"/>
              </a:srgbClr>
            </a:solidFill>
            <a:ln w="9525" cap="sq">
              <a:solidFill>
                <a:srgbClr val="0D4F61"/>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grpSp>
      <p:pic>
        <p:nvPicPr>
          <p:cNvPr id="12" name="Picture 11">
            <a:extLst>
              <a:ext uri="{FF2B5EF4-FFF2-40B4-BE49-F238E27FC236}">
                <a16:creationId xmlns:a16="http://schemas.microsoft.com/office/drawing/2014/main" id="{2444EBB2-CC19-BE0B-1103-512C2384ECA9}"/>
              </a:ext>
            </a:extLst>
          </p:cNvPr>
          <p:cNvPicPr>
            <a:picLocks noChangeAspect="1"/>
          </p:cNvPicPr>
          <p:nvPr/>
        </p:nvPicPr>
        <p:blipFill>
          <a:blip r:embed="rId2"/>
          <a:stretch>
            <a:fillRect/>
          </a:stretch>
        </p:blipFill>
        <p:spPr>
          <a:xfrm>
            <a:off x="741373" y="5305809"/>
            <a:ext cx="1761897" cy="951058"/>
          </a:xfrm>
          <a:prstGeom prst="rect">
            <a:avLst/>
          </a:prstGeom>
        </p:spPr>
      </p:pic>
    </p:spTree>
    <p:extLst>
      <p:ext uri="{BB962C8B-B14F-4D97-AF65-F5344CB8AC3E}">
        <p14:creationId xmlns:p14="http://schemas.microsoft.com/office/powerpoint/2010/main" val="37838393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47367-9967-D619-E835-8D7C619AF91D}"/>
              </a:ext>
            </a:extLst>
          </p:cNvPr>
          <p:cNvSpPr>
            <a:spLocks noGrp="1"/>
          </p:cNvSpPr>
          <p:nvPr>
            <p:ph type="title"/>
          </p:nvPr>
        </p:nvSpPr>
        <p:spPr/>
        <p:txBody>
          <a:bodyPr/>
          <a:lstStyle/>
          <a:p>
            <a:r>
              <a:rPr lang="en-US" dirty="0"/>
              <a:t>Kindleberger’s (2005) 5 stages: </a:t>
            </a:r>
            <a:br>
              <a:rPr lang="en-US" dirty="0"/>
            </a:br>
            <a:endParaRPr lang="en-CA" dirty="0"/>
          </a:p>
        </p:txBody>
      </p:sp>
      <p:sp>
        <p:nvSpPr>
          <p:cNvPr id="3" name="Content Placeholder 2">
            <a:extLst>
              <a:ext uri="{FF2B5EF4-FFF2-40B4-BE49-F238E27FC236}">
                <a16:creationId xmlns:a16="http://schemas.microsoft.com/office/drawing/2014/main" id="{6D45344A-A23A-4E41-CD64-095B280C7818}"/>
              </a:ext>
            </a:extLst>
          </p:cNvPr>
          <p:cNvSpPr>
            <a:spLocks noGrp="1"/>
          </p:cNvSpPr>
          <p:nvPr>
            <p:ph idx="1"/>
          </p:nvPr>
        </p:nvSpPr>
        <p:spPr/>
        <p:txBody>
          <a:bodyPr/>
          <a:lstStyle/>
          <a:p>
            <a:r>
              <a:rPr lang="en-CA" b="1" dirty="0"/>
              <a:t>1. Displacement (The Invitation)</a:t>
            </a:r>
          </a:p>
          <a:p>
            <a:r>
              <a:rPr lang="en-US" dirty="0"/>
              <a:t>Something new catches the market's attention. It could be a new technology (like the Internet or AI), a drop in interest rates, or a new resource.</a:t>
            </a:r>
          </a:p>
          <a:p>
            <a:r>
              <a:rPr lang="en-US" b="1" dirty="0"/>
              <a:t>2. Boom (The Early Arrivals)</a:t>
            </a:r>
          </a:p>
          <a:p>
            <a:r>
              <a:rPr lang="en-US" dirty="0"/>
              <a:t>Prices start to rise slowly. Early investors notice the new opportunity and start buying. The media begins to cover the story, and more people get interested.</a:t>
            </a:r>
          </a:p>
          <a:p>
            <a:endParaRPr lang="en-CA" dirty="0"/>
          </a:p>
          <a:p>
            <a:endParaRPr lang="en-CA" dirty="0"/>
          </a:p>
        </p:txBody>
      </p:sp>
      <p:sp>
        <p:nvSpPr>
          <p:cNvPr id="4" name="Footer Placeholder 3">
            <a:extLst>
              <a:ext uri="{FF2B5EF4-FFF2-40B4-BE49-F238E27FC236}">
                <a16:creationId xmlns:a16="http://schemas.microsoft.com/office/drawing/2014/main" id="{1056B759-DD2E-6AB8-2138-D086654B9E8E}"/>
              </a:ext>
            </a:extLst>
          </p:cNvPr>
          <p:cNvSpPr>
            <a:spLocks noGrp="1"/>
          </p:cNvSpPr>
          <p:nvPr>
            <p:ph type="ftr" sz="quarter" idx="11"/>
          </p:nvPr>
        </p:nvSpPr>
        <p:spPr/>
        <p:txBody>
          <a:bodyPr/>
          <a:lstStyle/>
          <a:p>
            <a:r>
              <a:rPr lang="en-US"/>
              <a:t>Lecturer at George Brown College and Ontario Tech university</a:t>
            </a:r>
            <a:endParaRPr lang="en-CA"/>
          </a:p>
        </p:txBody>
      </p:sp>
      <p:grpSp>
        <p:nvGrpSpPr>
          <p:cNvPr id="5" name="Group 14">
            <a:extLst>
              <a:ext uri="{FF2B5EF4-FFF2-40B4-BE49-F238E27FC236}">
                <a16:creationId xmlns:a16="http://schemas.microsoft.com/office/drawing/2014/main" id="{01E1C65D-6497-AA4F-F8E6-BBB1781DE70C}"/>
              </a:ext>
            </a:extLst>
          </p:cNvPr>
          <p:cNvGrpSpPr>
            <a:grpSpLocks/>
          </p:cNvGrpSpPr>
          <p:nvPr/>
        </p:nvGrpSpPr>
        <p:grpSpPr bwMode="auto">
          <a:xfrm>
            <a:off x="622659" y="365125"/>
            <a:ext cx="1709737" cy="1201738"/>
            <a:chOff x="0" y="0"/>
            <a:chExt cx="1710070" cy="1202363"/>
          </a:xfrm>
        </p:grpSpPr>
        <p:sp>
          <p:nvSpPr>
            <p:cNvPr id="6" name="Freeform 16">
              <a:extLst>
                <a:ext uri="{FF2B5EF4-FFF2-40B4-BE49-F238E27FC236}">
                  <a16:creationId xmlns:a16="http://schemas.microsoft.com/office/drawing/2014/main" id="{C4712358-07D6-C4BD-933E-8159FF25B8F6}"/>
                </a:ext>
              </a:extLst>
            </p:cNvPr>
            <p:cNvSpPr>
              <a:spLocks noChangeArrowheads="1"/>
            </p:cNvSpPr>
            <p:nvPr/>
          </p:nvSpPr>
          <p:spPr bwMode="auto">
            <a:xfrm>
              <a:off x="0" y="0"/>
              <a:ext cx="859156" cy="475262"/>
            </a:xfrm>
            <a:prstGeom prst="rect">
              <a:avLst/>
            </a:prstGeom>
            <a:solidFill>
              <a:srgbClr val="0D4F61"/>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7" name="Freeform 19">
              <a:extLst>
                <a:ext uri="{FF2B5EF4-FFF2-40B4-BE49-F238E27FC236}">
                  <a16:creationId xmlns:a16="http://schemas.microsoft.com/office/drawing/2014/main" id="{84681C6C-C213-83AC-A5C7-DAA2AE6B964E}"/>
                </a:ext>
              </a:extLst>
            </p:cNvPr>
            <p:cNvSpPr>
              <a:spLocks noChangeArrowheads="1"/>
            </p:cNvSpPr>
            <p:nvPr/>
          </p:nvSpPr>
          <p:spPr bwMode="auto">
            <a:xfrm>
              <a:off x="139846" y="259925"/>
              <a:ext cx="579463" cy="942439"/>
            </a:xfrm>
            <a:prstGeom prst="rect">
              <a:avLst/>
            </a:prstGeom>
            <a:solidFill>
              <a:srgbClr val="000000">
                <a:alpha val="0"/>
              </a:srgbClr>
            </a:solidFill>
            <a:ln w="9525" cap="sq">
              <a:solidFill>
                <a:srgbClr val="E41D37"/>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8" name="Freeform 22">
              <a:extLst>
                <a:ext uri="{FF2B5EF4-FFF2-40B4-BE49-F238E27FC236}">
                  <a16:creationId xmlns:a16="http://schemas.microsoft.com/office/drawing/2014/main" id="{3BF8AA1E-8953-7979-E32F-47DA0B2D5B2D}"/>
                </a:ext>
              </a:extLst>
            </p:cNvPr>
            <p:cNvSpPr>
              <a:spLocks noChangeArrowheads="1"/>
            </p:cNvSpPr>
            <p:nvPr/>
          </p:nvSpPr>
          <p:spPr bwMode="auto">
            <a:xfrm rot="5400000">
              <a:off x="1171944" y="654517"/>
              <a:ext cx="534130" cy="542123"/>
            </a:xfrm>
            <a:prstGeom prst="rect">
              <a:avLst/>
            </a:prstGeom>
            <a:solidFill>
              <a:srgbClr val="47C7F5"/>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9" name="Freeform 25">
              <a:extLst>
                <a:ext uri="{FF2B5EF4-FFF2-40B4-BE49-F238E27FC236}">
                  <a16:creationId xmlns:a16="http://schemas.microsoft.com/office/drawing/2014/main" id="{D6C53623-FC53-71AC-EFA3-96D2BF795ABA}"/>
                </a:ext>
              </a:extLst>
            </p:cNvPr>
            <p:cNvSpPr>
              <a:spLocks noChangeArrowheads="1"/>
            </p:cNvSpPr>
            <p:nvPr/>
          </p:nvSpPr>
          <p:spPr bwMode="auto">
            <a:xfrm rot="5400000">
              <a:off x="1180997" y="189754"/>
              <a:ext cx="257252" cy="258772"/>
            </a:xfrm>
            <a:prstGeom prst="rect">
              <a:avLst/>
            </a:prstGeom>
            <a:solidFill>
              <a:srgbClr val="000000">
                <a:alpha val="0"/>
              </a:srgbClr>
            </a:solidFill>
            <a:ln w="9525" cap="sq">
              <a:solidFill>
                <a:srgbClr val="E41D37"/>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10" name="Freeform 28">
              <a:extLst>
                <a:ext uri="{FF2B5EF4-FFF2-40B4-BE49-F238E27FC236}">
                  <a16:creationId xmlns:a16="http://schemas.microsoft.com/office/drawing/2014/main" id="{F8FEECDE-B48D-DB70-4E19-3D08FAC0A704}"/>
                </a:ext>
              </a:extLst>
            </p:cNvPr>
            <p:cNvSpPr>
              <a:spLocks noChangeArrowheads="1"/>
            </p:cNvSpPr>
            <p:nvPr/>
          </p:nvSpPr>
          <p:spPr bwMode="auto">
            <a:xfrm rot="5400000">
              <a:off x="1114690" y="322292"/>
              <a:ext cx="179016" cy="172712"/>
            </a:xfrm>
            <a:prstGeom prst="rect">
              <a:avLst/>
            </a:prstGeom>
            <a:solidFill>
              <a:srgbClr val="0D4F61"/>
            </a:solidFill>
            <a:ln w="9525" cap="sq">
              <a:solidFill>
                <a:srgbClr val="0D4F61"/>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11" name="Freeform 31">
              <a:extLst>
                <a:ext uri="{FF2B5EF4-FFF2-40B4-BE49-F238E27FC236}">
                  <a16:creationId xmlns:a16="http://schemas.microsoft.com/office/drawing/2014/main" id="{4FEBDCD4-E894-3938-A48E-626DEBCE7AA4}"/>
                </a:ext>
              </a:extLst>
            </p:cNvPr>
            <p:cNvSpPr>
              <a:spLocks noChangeArrowheads="1"/>
            </p:cNvSpPr>
            <p:nvPr/>
          </p:nvSpPr>
          <p:spPr bwMode="auto">
            <a:xfrm rot="5400000">
              <a:off x="352782" y="-212936"/>
              <a:ext cx="679865" cy="1105735"/>
            </a:xfrm>
            <a:prstGeom prst="rect">
              <a:avLst/>
            </a:prstGeom>
            <a:solidFill>
              <a:srgbClr val="000000">
                <a:alpha val="0"/>
              </a:srgbClr>
            </a:solidFill>
            <a:ln w="9525" cap="sq">
              <a:solidFill>
                <a:srgbClr val="0D4F61"/>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grpSp>
      <p:pic>
        <p:nvPicPr>
          <p:cNvPr id="12" name="Picture 11">
            <a:extLst>
              <a:ext uri="{FF2B5EF4-FFF2-40B4-BE49-F238E27FC236}">
                <a16:creationId xmlns:a16="http://schemas.microsoft.com/office/drawing/2014/main" id="{93A2BB82-BE9F-64D8-210F-502113B287FC}"/>
              </a:ext>
            </a:extLst>
          </p:cNvPr>
          <p:cNvPicPr>
            <a:picLocks noChangeAspect="1"/>
          </p:cNvPicPr>
          <p:nvPr/>
        </p:nvPicPr>
        <p:blipFill>
          <a:blip r:embed="rId2"/>
          <a:stretch>
            <a:fillRect/>
          </a:stretch>
        </p:blipFill>
        <p:spPr>
          <a:xfrm>
            <a:off x="741373" y="5305809"/>
            <a:ext cx="1761897" cy="951058"/>
          </a:xfrm>
          <a:prstGeom prst="rect">
            <a:avLst/>
          </a:prstGeom>
        </p:spPr>
      </p:pic>
    </p:spTree>
    <p:extLst>
      <p:ext uri="{BB962C8B-B14F-4D97-AF65-F5344CB8AC3E}">
        <p14:creationId xmlns:p14="http://schemas.microsoft.com/office/powerpoint/2010/main" val="1655670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B6318-F7C2-6EE8-3CD0-49E8ED476A0F}"/>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63EDD20A-B245-3ABA-7797-EBA4AED8DA28}"/>
              </a:ext>
            </a:extLst>
          </p:cNvPr>
          <p:cNvSpPr>
            <a:spLocks noGrp="1"/>
          </p:cNvSpPr>
          <p:nvPr>
            <p:ph idx="1"/>
          </p:nvPr>
        </p:nvSpPr>
        <p:spPr/>
        <p:txBody>
          <a:bodyPr/>
          <a:lstStyle/>
          <a:p>
            <a:r>
              <a:rPr lang="en-US" b="1" dirty="0"/>
              <a:t>3. Euphoria (The Peak Party)</a:t>
            </a:r>
          </a:p>
          <a:p>
            <a:r>
              <a:rPr lang="en-US" dirty="0"/>
              <a:t>This is the "mania" phase. Prices skyrocket vertically. Everyone wants in. People quit their jobs to trade. Logic is thrown out the window, and people believe prices will go up forever ("This time is different!").</a:t>
            </a:r>
          </a:p>
          <a:p>
            <a:r>
              <a:rPr lang="en-US" b="1" dirty="0"/>
              <a:t>Simple view:</a:t>
            </a:r>
            <a:r>
              <a:rPr lang="en-US" dirty="0"/>
              <a:t> "The house is packed. Strangers are climbing through windows to get in. Everyone is dancing on the tables."</a:t>
            </a:r>
          </a:p>
          <a:p>
            <a:endParaRPr lang="en-CA" dirty="0"/>
          </a:p>
        </p:txBody>
      </p:sp>
      <p:sp>
        <p:nvSpPr>
          <p:cNvPr id="4" name="Footer Placeholder 3">
            <a:extLst>
              <a:ext uri="{FF2B5EF4-FFF2-40B4-BE49-F238E27FC236}">
                <a16:creationId xmlns:a16="http://schemas.microsoft.com/office/drawing/2014/main" id="{00FCB187-2AC3-3856-0754-3169D40864C4}"/>
              </a:ext>
            </a:extLst>
          </p:cNvPr>
          <p:cNvSpPr>
            <a:spLocks noGrp="1"/>
          </p:cNvSpPr>
          <p:nvPr>
            <p:ph type="ftr" sz="quarter" idx="11"/>
          </p:nvPr>
        </p:nvSpPr>
        <p:spPr/>
        <p:txBody>
          <a:bodyPr/>
          <a:lstStyle/>
          <a:p>
            <a:r>
              <a:rPr lang="en-US"/>
              <a:t>Lecturer at George Brown College and Ontario Tech university</a:t>
            </a:r>
            <a:endParaRPr lang="en-CA"/>
          </a:p>
        </p:txBody>
      </p:sp>
      <p:grpSp>
        <p:nvGrpSpPr>
          <p:cNvPr id="5" name="Group 14">
            <a:extLst>
              <a:ext uri="{FF2B5EF4-FFF2-40B4-BE49-F238E27FC236}">
                <a16:creationId xmlns:a16="http://schemas.microsoft.com/office/drawing/2014/main" id="{79A75509-2B7E-B360-C9A1-BFD9C6852A88}"/>
              </a:ext>
            </a:extLst>
          </p:cNvPr>
          <p:cNvGrpSpPr>
            <a:grpSpLocks/>
          </p:cNvGrpSpPr>
          <p:nvPr/>
        </p:nvGrpSpPr>
        <p:grpSpPr bwMode="auto">
          <a:xfrm>
            <a:off x="622659" y="365125"/>
            <a:ext cx="1709737" cy="1201738"/>
            <a:chOff x="0" y="0"/>
            <a:chExt cx="1710070" cy="1202363"/>
          </a:xfrm>
        </p:grpSpPr>
        <p:sp>
          <p:nvSpPr>
            <p:cNvPr id="6" name="Freeform 16">
              <a:extLst>
                <a:ext uri="{FF2B5EF4-FFF2-40B4-BE49-F238E27FC236}">
                  <a16:creationId xmlns:a16="http://schemas.microsoft.com/office/drawing/2014/main" id="{9F5458F0-3810-C8FE-EE79-027E17866ACC}"/>
                </a:ext>
              </a:extLst>
            </p:cNvPr>
            <p:cNvSpPr>
              <a:spLocks noChangeArrowheads="1"/>
            </p:cNvSpPr>
            <p:nvPr/>
          </p:nvSpPr>
          <p:spPr bwMode="auto">
            <a:xfrm>
              <a:off x="0" y="0"/>
              <a:ext cx="859156" cy="475262"/>
            </a:xfrm>
            <a:prstGeom prst="rect">
              <a:avLst/>
            </a:prstGeom>
            <a:solidFill>
              <a:srgbClr val="0D4F61"/>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7" name="Freeform 19">
              <a:extLst>
                <a:ext uri="{FF2B5EF4-FFF2-40B4-BE49-F238E27FC236}">
                  <a16:creationId xmlns:a16="http://schemas.microsoft.com/office/drawing/2014/main" id="{5FCFF802-D314-C049-9E04-FCAB277F649B}"/>
                </a:ext>
              </a:extLst>
            </p:cNvPr>
            <p:cNvSpPr>
              <a:spLocks noChangeArrowheads="1"/>
            </p:cNvSpPr>
            <p:nvPr/>
          </p:nvSpPr>
          <p:spPr bwMode="auto">
            <a:xfrm>
              <a:off x="139846" y="259925"/>
              <a:ext cx="579463" cy="942439"/>
            </a:xfrm>
            <a:prstGeom prst="rect">
              <a:avLst/>
            </a:prstGeom>
            <a:solidFill>
              <a:srgbClr val="000000">
                <a:alpha val="0"/>
              </a:srgbClr>
            </a:solidFill>
            <a:ln w="9525" cap="sq">
              <a:solidFill>
                <a:srgbClr val="E41D37"/>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8" name="Freeform 22">
              <a:extLst>
                <a:ext uri="{FF2B5EF4-FFF2-40B4-BE49-F238E27FC236}">
                  <a16:creationId xmlns:a16="http://schemas.microsoft.com/office/drawing/2014/main" id="{D46E5122-5594-9BD5-9884-87EA449C26E2}"/>
                </a:ext>
              </a:extLst>
            </p:cNvPr>
            <p:cNvSpPr>
              <a:spLocks noChangeArrowheads="1"/>
            </p:cNvSpPr>
            <p:nvPr/>
          </p:nvSpPr>
          <p:spPr bwMode="auto">
            <a:xfrm rot="5400000">
              <a:off x="1171944" y="654517"/>
              <a:ext cx="534130" cy="542123"/>
            </a:xfrm>
            <a:prstGeom prst="rect">
              <a:avLst/>
            </a:prstGeom>
            <a:solidFill>
              <a:srgbClr val="47C7F5"/>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9" name="Freeform 25">
              <a:extLst>
                <a:ext uri="{FF2B5EF4-FFF2-40B4-BE49-F238E27FC236}">
                  <a16:creationId xmlns:a16="http://schemas.microsoft.com/office/drawing/2014/main" id="{EE254AC5-B933-313F-E2B9-F049FB1F09FE}"/>
                </a:ext>
              </a:extLst>
            </p:cNvPr>
            <p:cNvSpPr>
              <a:spLocks noChangeArrowheads="1"/>
            </p:cNvSpPr>
            <p:nvPr/>
          </p:nvSpPr>
          <p:spPr bwMode="auto">
            <a:xfrm rot="5400000">
              <a:off x="1180997" y="189754"/>
              <a:ext cx="257252" cy="258772"/>
            </a:xfrm>
            <a:prstGeom prst="rect">
              <a:avLst/>
            </a:prstGeom>
            <a:solidFill>
              <a:srgbClr val="000000">
                <a:alpha val="0"/>
              </a:srgbClr>
            </a:solidFill>
            <a:ln w="9525" cap="sq">
              <a:solidFill>
                <a:srgbClr val="E41D37"/>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10" name="Freeform 28">
              <a:extLst>
                <a:ext uri="{FF2B5EF4-FFF2-40B4-BE49-F238E27FC236}">
                  <a16:creationId xmlns:a16="http://schemas.microsoft.com/office/drawing/2014/main" id="{3F3F2B11-6142-FDE4-9C92-0EF345151AEE}"/>
                </a:ext>
              </a:extLst>
            </p:cNvPr>
            <p:cNvSpPr>
              <a:spLocks noChangeArrowheads="1"/>
            </p:cNvSpPr>
            <p:nvPr/>
          </p:nvSpPr>
          <p:spPr bwMode="auto">
            <a:xfrm rot="5400000">
              <a:off x="1114690" y="322292"/>
              <a:ext cx="179016" cy="172712"/>
            </a:xfrm>
            <a:prstGeom prst="rect">
              <a:avLst/>
            </a:prstGeom>
            <a:solidFill>
              <a:srgbClr val="0D4F61"/>
            </a:solidFill>
            <a:ln w="9525" cap="sq">
              <a:solidFill>
                <a:srgbClr val="0D4F61"/>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11" name="Freeform 31">
              <a:extLst>
                <a:ext uri="{FF2B5EF4-FFF2-40B4-BE49-F238E27FC236}">
                  <a16:creationId xmlns:a16="http://schemas.microsoft.com/office/drawing/2014/main" id="{ED498549-EC5A-BD20-71F2-C256E06219F9}"/>
                </a:ext>
              </a:extLst>
            </p:cNvPr>
            <p:cNvSpPr>
              <a:spLocks noChangeArrowheads="1"/>
            </p:cNvSpPr>
            <p:nvPr/>
          </p:nvSpPr>
          <p:spPr bwMode="auto">
            <a:xfrm rot="5400000">
              <a:off x="352782" y="-212936"/>
              <a:ext cx="679865" cy="1105735"/>
            </a:xfrm>
            <a:prstGeom prst="rect">
              <a:avLst/>
            </a:prstGeom>
            <a:solidFill>
              <a:srgbClr val="000000">
                <a:alpha val="0"/>
              </a:srgbClr>
            </a:solidFill>
            <a:ln w="9525" cap="sq">
              <a:solidFill>
                <a:srgbClr val="0D4F61"/>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grpSp>
      <p:pic>
        <p:nvPicPr>
          <p:cNvPr id="12" name="Picture 11">
            <a:extLst>
              <a:ext uri="{FF2B5EF4-FFF2-40B4-BE49-F238E27FC236}">
                <a16:creationId xmlns:a16="http://schemas.microsoft.com/office/drawing/2014/main" id="{BF052CE5-AF26-68EB-661F-1B773B4726DF}"/>
              </a:ext>
            </a:extLst>
          </p:cNvPr>
          <p:cNvPicPr>
            <a:picLocks noChangeAspect="1"/>
          </p:cNvPicPr>
          <p:nvPr/>
        </p:nvPicPr>
        <p:blipFill>
          <a:blip r:embed="rId2"/>
          <a:stretch>
            <a:fillRect/>
          </a:stretch>
        </p:blipFill>
        <p:spPr>
          <a:xfrm>
            <a:off x="741373" y="5305809"/>
            <a:ext cx="1761897" cy="951058"/>
          </a:xfrm>
          <a:prstGeom prst="rect">
            <a:avLst/>
          </a:prstGeom>
        </p:spPr>
      </p:pic>
    </p:spTree>
    <p:extLst>
      <p:ext uri="{BB962C8B-B14F-4D97-AF65-F5344CB8AC3E}">
        <p14:creationId xmlns:p14="http://schemas.microsoft.com/office/powerpoint/2010/main" val="21353920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9DB36-D4E5-AB3B-AA26-AB7FBCCF211A}"/>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F017B417-37A5-A8F6-66A6-B23F2BF4A0DA}"/>
              </a:ext>
            </a:extLst>
          </p:cNvPr>
          <p:cNvSpPr>
            <a:spLocks noGrp="1"/>
          </p:cNvSpPr>
          <p:nvPr>
            <p:ph idx="1"/>
          </p:nvPr>
        </p:nvSpPr>
        <p:spPr/>
        <p:txBody>
          <a:bodyPr>
            <a:normAutofit fontScale="92500"/>
          </a:bodyPr>
          <a:lstStyle/>
          <a:p>
            <a:r>
              <a:rPr lang="en-US" b="1" dirty="0"/>
              <a:t>4. Profit Taking (The Smart Money Leaves)</a:t>
            </a:r>
          </a:p>
          <a:p>
            <a:r>
              <a:rPr lang="en-US" dirty="0"/>
              <a:t>The "smart" investors (insiders and early buyers) realize the party can't last forever. They quietly start selling their assets to lock in their profits. Prices stop rising and might wobble, but the crowd is still buying.</a:t>
            </a:r>
          </a:p>
          <a:p>
            <a:r>
              <a:rPr lang="en-US" b="1" dirty="0"/>
              <a:t>5. Panic (The Police Arrive)</a:t>
            </a:r>
          </a:p>
          <a:p>
            <a:r>
              <a:rPr lang="en-US" dirty="0"/>
              <a:t>Reality sets in. Prices start to fall. Everyone tries to sell at the same time, but there are no buyers left. The bubble bursts, and prices crash back down to reality.</a:t>
            </a:r>
          </a:p>
          <a:p>
            <a:r>
              <a:rPr lang="en-US" b="1" dirty="0"/>
              <a:t>Simple view:</a:t>
            </a:r>
            <a:r>
              <a:rPr lang="en-US" dirty="0"/>
              <a:t> "The music stops, the lights go on, and everyone stampedes to the exit at once. The party is over."</a:t>
            </a:r>
          </a:p>
          <a:p>
            <a:endParaRPr lang="en-CA" dirty="0"/>
          </a:p>
        </p:txBody>
      </p:sp>
      <p:sp>
        <p:nvSpPr>
          <p:cNvPr id="4" name="Footer Placeholder 3">
            <a:extLst>
              <a:ext uri="{FF2B5EF4-FFF2-40B4-BE49-F238E27FC236}">
                <a16:creationId xmlns:a16="http://schemas.microsoft.com/office/drawing/2014/main" id="{A0C09EE3-952B-C853-9B1B-423EF61A140F}"/>
              </a:ext>
            </a:extLst>
          </p:cNvPr>
          <p:cNvSpPr>
            <a:spLocks noGrp="1"/>
          </p:cNvSpPr>
          <p:nvPr>
            <p:ph type="ftr" sz="quarter" idx="11"/>
          </p:nvPr>
        </p:nvSpPr>
        <p:spPr/>
        <p:txBody>
          <a:bodyPr/>
          <a:lstStyle/>
          <a:p>
            <a:r>
              <a:rPr lang="en-US"/>
              <a:t>Lecturer at George Brown College and Ontario Tech university</a:t>
            </a:r>
            <a:endParaRPr lang="en-CA"/>
          </a:p>
        </p:txBody>
      </p:sp>
      <p:grpSp>
        <p:nvGrpSpPr>
          <p:cNvPr id="5" name="Group 14">
            <a:extLst>
              <a:ext uri="{FF2B5EF4-FFF2-40B4-BE49-F238E27FC236}">
                <a16:creationId xmlns:a16="http://schemas.microsoft.com/office/drawing/2014/main" id="{BBD9A4D6-4182-E908-F04C-4CD5B9A7B156}"/>
              </a:ext>
            </a:extLst>
          </p:cNvPr>
          <p:cNvGrpSpPr>
            <a:grpSpLocks/>
          </p:cNvGrpSpPr>
          <p:nvPr/>
        </p:nvGrpSpPr>
        <p:grpSpPr bwMode="auto">
          <a:xfrm>
            <a:off x="622659" y="365125"/>
            <a:ext cx="1709737" cy="1201738"/>
            <a:chOff x="0" y="0"/>
            <a:chExt cx="1710070" cy="1202363"/>
          </a:xfrm>
        </p:grpSpPr>
        <p:sp>
          <p:nvSpPr>
            <p:cNvPr id="6" name="Freeform 16">
              <a:extLst>
                <a:ext uri="{FF2B5EF4-FFF2-40B4-BE49-F238E27FC236}">
                  <a16:creationId xmlns:a16="http://schemas.microsoft.com/office/drawing/2014/main" id="{BC648ADC-ED53-E4AD-E7CB-DB555611D7A2}"/>
                </a:ext>
              </a:extLst>
            </p:cNvPr>
            <p:cNvSpPr>
              <a:spLocks noChangeArrowheads="1"/>
            </p:cNvSpPr>
            <p:nvPr/>
          </p:nvSpPr>
          <p:spPr bwMode="auto">
            <a:xfrm>
              <a:off x="0" y="0"/>
              <a:ext cx="859156" cy="475262"/>
            </a:xfrm>
            <a:prstGeom prst="rect">
              <a:avLst/>
            </a:prstGeom>
            <a:solidFill>
              <a:srgbClr val="0D4F61"/>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7" name="Freeform 19">
              <a:extLst>
                <a:ext uri="{FF2B5EF4-FFF2-40B4-BE49-F238E27FC236}">
                  <a16:creationId xmlns:a16="http://schemas.microsoft.com/office/drawing/2014/main" id="{E857F6F5-2E0D-E77D-AB00-9E32A5ACFD28}"/>
                </a:ext>
              </a:extLst>
            </p:cNvPr>
            <p:cNvSpPr>
              <a:spLocks noChangeArrowheads="1"/>
            </p:cNvSpPr>
            <p:nvPr/>
          </p:nvSpPr>
          <p:spPr bwMode="auto">
            <a:xfrm>
              <a:off x="139846" y="259925"/>
              <a:ext cx="579463" cy="942439"/>
            </a:xfrm>
            <a:prstGeom prst="rect">
              <a:avLst/>
            </a:prstGeom>
            <a:solidFill>
              <a:srgbClr val="000000">
                <a:alpha val="0"/>
              </a:srgbClr>
            </a:solidFill>
            <a:ln w="9525" cap="sq">
              <a:solidFill>
                <a:srgbClr val="E41D37"/>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8" name="Freeform 22">
              <a:extLst>
                <a:ext uri="{FF2B5EF4-FFF2-40B4-BE49-F238E27FC236}">
                  <a16:creationId xmlns:a16="http://schemas.microsoft.com/office/drawing/2014/main" id="{3CBF904B-917D-4F6B-257D-4CB9A24B15A7}"/>
                </a:ext>
              </a:extLst>
            </p:cNvPr>
            <p:cNvSpPr>
              <a:spLocks noChangeArrowheads="1"/>
            </p:cNvSpPr>
            <p:nvPr/>
          </p:nvSpPr>
          <p:spPr bwMode="auto">
            <a:xfrm rot="5400000">
              <a:off x="1171944" y="654517"/>
              <a:ext cx="534130" cy="542123"/>
            </a:xfrm>
            <a:prstGeom prst="rect">
              <a:avLst/>
            </a:prstGeom>
            <a:solidFill>
              <a:srgbClr val="47C7F5"/>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9" name="Freeform 25">
              <a:extLst>
                <a:ext uri="{FF2B5EF4-FFF2-40B4-BE49-F238E27FC236}">
                  <a16:creationId xmlns:a16="http://schemas.microsoft.com/office/drawing/2014/main" id="{9D42D42C-92BE-1481-D590-C6F12DCD270D}"/>
                </a:ext>
              </a:extLst>
            </p:cNvPr>
            <p:cNvSpPr>
              <a:spLocks noChangeArrowheads="1"/>
            </p:cNvSpPr>
            <p:nvPr/>
          </p:nvSpPr>
          <p:spPr bwMode="auto">
            <a:xfrm rot="5400000">
              <a:off x="1180997" y="189754"/>
              <a:ext cx="257252" cy="258772"/>
            </a:xfrm>
            <a:prstGeom prst="rect">
              <a:avLst/>
            </a:prstGeom>
            <a:solidFill>
              <a:srgbClr val="000000">
                <a:alpha val="0"/>
              </a:srgbClr>
            </a:solidFill>
            <a:ln w="9525" cap="sq">
              <a:solidFill>
                <a:srgbClr val="E41D37"/>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10" name="Freeform 28">
              <a:extLst>
                <a:ext uri="{FF2B5EF4-FFF2-40B4-BE49-F238E27FC236}">
                  <a16:creationId xmlns:a16="http://schemas.microsoft.com/office/drawing/2014/main" id="{440BC598-FC95-BEB2-8F11-99F8B31612D0}"/>
                </a:ext>
              </a:extLst>
            </p:cNvPr>
            <p:cNvSpPr>
              <a:spLocks noChangeArrowheads="1"/>
            </p:cNvSpPr>
            <p:nvPr/>
          </p:nvSpPr>
          <p:spPr bwMode="auto">
            <a:xfrm rot="5400000">
              <a:off x="1114690" y="322292"/>
              <a:ext cx="179016" cy="172712"/>
            </a:xfrm>
            <a:prstGeom prst="rect">
              <a:avLst/>
            </a:prstGeom>
            <a:solidFill>
              <a:srgbClr val="0D4F61"/>
            </a:solidFill>
            <a:ln w="9525" cap="sq">
              <a:solidFill>
                <a:srgbClr val="0D4F61"/>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sp>
          <p:nvSpPr>
            <p:cNvPr id="11" name="Freeform 31">
              <a:extLst>
                <a:ext uri="{FF2B5EF4-FFF2-40B4-BE49-F238E27FC236}">
                  <a16:creationId xmlns:a16="http://schemas.microsoft.com/office/drawing/2014/main" id="{3BE55DDD-31BF-A2FE-01D0-AE7B7093879F}"/>
                </a:ext>
              </a:extLst>
            </p:cNvPr>
            <p:cNvSpPr>
              <a:spLocks noChangeArrowheads="1"/>
            </p:cNvSpPr>
            <p:nvPr/>
          </p:nvSpPr>
          <p:spPr bwMode="auto">
            <a:xfrm rot="5400000">
              <a:off x="352782" y="-212936"/>
              <a:ext cx="679865" cy="1105735"/>
            </a:xfrm>
            <a:prstGeom prst="rect">
              <a:avLst/>
            </a:prstGeom>
            <a:solidFill>
              <a:srgbClr val="000000">
                <a:alpha val="0"/>
              </a:srgbClr>
            </a:solidFill>
            <a:ln w="9525" cap="sq">
              <a:solidFill>
                <a:srgbClr val="0D4F61"/>
              </a:solidFill>
              <a:miter lim="800000"/>
              <a:headEnd/>
              <a:tailEnd/>
            </a:ln>
          </p:spPr>
          <p:txBody>
            <a:bodyPr lIns="45719" tIns="45719" rIns="45719" bIns="45719"/>
            <a:lstStyle>
              <a:lvl1pPr>
                <a:defRPr>
                  <a:solidFill>
                    <a:srgbClr val="000000"/>
                  </a:solidFill>
                  <a:latin typeface="Calibri" panose="020F0502020204030204" pitchFamily="34" charset="0"/>
                  <a:cs typeface="Helvetica" panose="020B0604020202020204" pitchFamily="34" charset="0"/>
                  <a:sym typeface="Calibri" panose="020F0502020204030204" pitchFamily="34" charset="0"/>
                </a:defRPr>
              </a:lvl1pPr>
              <a:lvl2pPr marL="742950" indent="-285750">
                <a:defRPr>
                  <a:solidFill>
                    <a:srgbClr val="000000"/>
                  </a:solidFill>
                  <a:latin typeface="Calibri" panose="020F0502020204030204" pitchFamily="34" charset="0"/>
                  <a:cs typeface="Helvetica" panose="020B0604020202020204" pitchFamily="34" charset="0"/>
                  <a:sym typeface="Calibri" panose="020F0502020204030204" pitchFamily="34" charset="0"/>
                </a:defRPr>
              </a:lvl2pPr>
              <a:lvl3pPr marL="11430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3pPr>
              <a:lvl4pPr marL="16002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4pPr>
              <a:lvl5pPr marL="2057400" indent="-228600">
                <a:defRPr>
                  <a:solidFill>
                    <a:srgbClr val="000000"/>
                  </a:solidFill>
                  <a:latin typeface="Calibri" panose="020F0502020204030204" pitchFamily="34" charset="0"/>
                  <a:cs typeface="Helvetica" panose="020B0604020202020204" pitchFamily="34" charset="0"/>
                  <a:sym typeface="Calibri" panose="020F0502020204030204" pitchFamily="34" charset="0"/>
                </a:defRPr>
              </a:lvl5pPr>
              <a:lvl6pPr marL="25146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6pPr>
              <a:lvl7pPr marL="29718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7pPr>
              <a:lvl8pPr marL="34290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8pPr>
              <a:lvl9pPr marL="3886200" indent="-228600" eaLnBrk="0" fontAlgn="base" hangingPunct="0">
                <a:spcBef>
                  <a:spcPct val="0"/>
                </a:spcBef>
                <a:spcAft>
                  <a:spcPct val="0"/>
                </a:spcAft>
                <a:defRPr>
                  <a:solidFill>
                    <a:srgbClr val="000000"/>
                  </a:solidFill>
                  <a:latin typeface="Calibri" panose="020F0502020204030204" pitchFamily="34" charset="0"/>
                  <a:cs typeface="Helvetica" panose="020B0604020202020204" pitchFamily="34" charset="0"/>
                  <a:sym typeface="Calibri" panose="020F0502020204030204" pitchFamily="34" charset="0"/>
                </a:defRPr>
              </a:lvl9pPr>
            </a:lstStyle>
            <a:p>
              <a:pPr marL="0" marR="0" lvl="0" indent="0" defTabSz="914400" eaLnBrk="1"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Calibri" panose="020F0502020204030204" pitchFamily="34" charset="0"/>
                <a:cs typeface="Helvetica" panose="020B0604020202020204" pitchFamily="34" charset="0"/>
                <a:sym typeface="Calibri" panose="020F0502020204030204" pitchFamily="34" charset="0"/>
              </a:endParaRPr>
            </a:p>
          </p:txBody>
        </p:sp>
      </p:grpSp>
      <p:pic>
        <p:nvPicPr>
          <p:cNvPr id="12" name="Picture 11">
            <a:extLst>
              <a:ext uri="{FF2B5EF4-FFF2-40B4-BE49-F238E27FC236}">
                <a16:creationId xmlns:a16="http://schemas.microsoft.com/office/drawing/2014/main" id="{36B19E80-4DFA-A1AD-CDD9-D5EAD9B163C5}"/>
              </a:ext>
            </a:extLst>
          </p:cNvPr>
          <p:cNvPicPr>
            <a:picLocks noChangeAspect="1"/>
          </p:cNvPicPr>
          <p:nvPr/>
        </p:nvPicPr>
        <p:blipFill>
          <a:blip r:embed="rId2"/>
          <a:stretch>
            <a:fillRect/>
          </a:stretch>
        </p:blipFill>
        <p:spPr>
          <a:xfrm>
            <a:off x="741373" y="5305809"/>
            <a:ext cx="1761897" cy="951058"/>
          </a:xfrm>
          <a:prstGeom prst="rect">
            <a:avLst/>
          </a:prstGeom>
        </p:spPr>
      </p:pic>
    </p:spTree>
    <p:extLst>
      <p:ext uri="{BB962C8B-B14F-4D97-AF65-F5344CB8AC3E}">
        <p14:creationId xmlns:p14="http://schemas.microsoft.com/office/powerpoint/2010/main" val="41756334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64090-160E-E365-B8FF-685556D6C857}"/>
              </a:ext>
            </a:extLst>
          </p:cNvPr>
          <p:cNvSpPr>
            <a:spLocks noGrp="1"/>
          </p:cNvSpPr>
          <p:nvPr>
            <p:ph type="title"/>
          </p:nvPr>
        </p:nvSpPr>
        <p:spPr/>
        <p:txBody>
          <a:bodyPr/>
          <a:lstStyle/>
          <a:p>
            <a:pPr algn="ctr"/>
            <a:r>
              <a:rPr lang="en-CA" dirty="0"/>
              <a:t>Data Procurement &amp; Sources</a:t>
            </a:r>
          </a:p>
        </p:txBody>
      </p:sp>
      <p:sp>
        <p:nvSpPr>
          <p:cNvPr id="3" name="Content Placeholder 2">
            <a:extLst>
              <a:ext uri="{FF2B5EF4-FFF2-40B4-BE49-F238E27FC236}">
                <a16:creationId xmlns:a16="http://schemas.microsoft.com/office/drawing/2014/main" id="{DB851BAD-1F76-85C2-8087-6DC043FC8366}"/>
              </a:ext>
            </a:extLst>
          </p:cNvPr>
          <p:cNvSpPr>
            <a:spLocks noGrp="1"/>
          </p:cNvSpPr>
          <p:nvPr>
            <p:ph idx="1"/>
          </p:nvPr>
        </p:nvSpPr>
        <p:spPr/>
        <p:txBody>
          <a:bodyPr/>
          <a:lstStyle/>
          <a:p>
            <a:r>
              <a:rPr lang="en-CA" dirty="0"/>
              <a:t>Longitudinal Data: Yale/Shiller Database (1995–2024).</a:t>
            </a:r>
          </a:p>
          <a:p>
            <a:r>
              <a:rPr lang="en-CA" dirty="0"/>
              <a:t>Macroeconomic Indicators: FRED (Federal Reserve Economic Data) – focusing on 10-year Treasury yields.</a:t>
            </a:r>
          </a:p>
          <a:p>
            <a:r>
              <a:rPr lang="en-CA" dirty="0"/>
              <a:t>Equity Fundamentals: Polygon.io for multi-asset and cross-sector validation.</a:t>
            </a:r>
          </a:p>
        </p:txBody>
      </p:sp>
      <p:pic>
        <p:nvPicPr>
          <p:cNvPr id="5" name="Picture 4">
            <a:extLst>
              <a:ext uri="{FF2B5EF4-FFF2-40B4-BE49-F238E27FC236}">
                <a16:creationId xmlns:a16="http://schemas.microsoft.com/office/drawing/2014/main" id="{AC0182BC-935B-EEDF-B329-48BFBCC5578F}"/>
              </a:ext>
            </a:extLst>
          </p:cNvPr>
          <p:cNvPicPr>
            <a:picLocks noChangeAspect="1"/>
          </p:cNvPicPr>
          <p:nvPr/>
        </p:nvPicPr>
        <p:blipFill>
          <a:blip r:embed="rId2"/>
          <a:stretch>
            <a:fillRect/>
          </a:stretch>
        </p:blipFill>
        <p:spPr>
          <a:xfrm>
            <a:off x="680319" y="421301"/>
            <a:ext cx="1707028" cy="1213209"/>
          </a:xfrm>
          <a:prstGeom prst="rect">
            <a:avLst/>
          </a:prstGeom>
        </p:spPr>
      </p:pic>
      <p:pic>
        <p:nvPicPr>
          <p:cNvPr id="6" name="Picture 5">
            <a:extLst>
              <a:ext uri="{FF2B5EF4-FFF2-40B4-BE49-F238E27FC236}">
                <a16:creationId xmlns:a16="http://schemas.microsoft.com/office/drawing/2014/main" id="{E985BC93-FA19-FC75-2A42-81CDA8B3DE5B}"/>
              </a:ext>
            </a:extLst>
          </p:cNvPr>
          <p:cNvPicPr>
            <a:picLocks noChangeAspect="1"/>
          </p:cNvPicPr>
          <p:nvPr/>
        </p:nvPicPr>
        <p:blipFill>
          <a:blip r:embed="rId3"/>
          <a:stretch>
            <a:fillRect/>
          </a:stretch>
        </p:blipFill>
        <p:spPr>
          <a:xfrm>
            <a:off x="652884" y="5360842"/>
            <a:ext cx="1761897" cy="951058"/>
          </a:xfrm>
          <a:prstGeom prst="rect">
            <a:avLst/>
          </a:prstGeom>
        </p:spPr>
      </p:pic>
      <p:sp>
        <p:nvSpPr>
          <p:cNvPr id="7" name="Footer Placeholder 6">
            <a:extLst>
              <a:ext uri="{FF2B5EF4-FFF2-40B4-BE49-F238E27FC236}">
                <a16:creationId xmlns:a16="http://schemas.microsoft.com/office/drawing/2014/main" id="{47D8B598-F9E5-239C-F6AF-76E797D9E491}"/>
              </a:ext>
            </a:extLst>
          </p:cNvPr>
          <p:cNvSpPr>
            <a:spLocks noGrp="1"/>
          </p:cNvSpPr>
          <p:nvPr>
            <p:ph type="ftr" sz="quarter" idx="11"/>
          </p:nvPr>
        </p:nvSpPr>
        <p:spPr/>
        <p:txBody>
          <a:bodyPr/>
          <a:lstStyle/>
          <a:p>
            <a:r>
              <a:rPr lang="en-US"/>
              <a:t>Lecturer at George Brown College and Ontario Tech university</a:t>
            </a:r>
            <a:endParaRPr lang="en-CA"/>
          </a:p>
        </p:txBody>
      </p:sp>
    </p:spTree>
    <p:extLst>
      <p:ext uri="{BB962C8B-B14F-4D97-AF65-F5344CB8AC3E}">
        <p14:creationId xmlns:p14="http://schemas.microsoft.com/office/powerpoint/2010/main" val="2377572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07DE1-F502-43A1-77F8-AAFB3F1C100C}"/>
              </a:ext>
            </a:extLst>
          </p:cNvPr>
          <p:cNvSpPr>
            <a:spLocks noGrp="1"/>
          </p:cNvSpPr>
          <p:nvPr>
            <p:ph type="title"/>
          </p:nvPr>
        </p:nvSpPr>
        <p:spPr/>
        <p:txBody>
          <a:bodyPr/>
          <a:lstStyle/>
          <a:p>
            <a:endParaRPr lang="en-CA" dirty="0"/>
          </a:p>
        </p:txBody>
      </p:sp>
      <p:graphicFrame>
        <p:nvGraphicFramePr>
          <p:cNvPr id="5" name="Content Placeholder 4">
            <a:extLst>
              <a:ext uri="{FF2B5EF4-FFF2-40B4-BE49-F238E27FC236}">
                <a16:creationId xmlns:a16="http://schemas.microsoft.com/office/drawing/2014/main" id="{7A76D510-AEA2-7EC5-A776-64328B18A2D1}"/>
              </a:ext>
            </a:extLst>
          </p:cNvPr>
          <p:cNvGraphicFramePr>
            <a:graphicFrameLocks noGrp="1"/>
          </p:cNvGraphicFramePr>
          <p:nvPr>
            <p:ph idx="1"/>
            <p:extLst>
              <p:ext uri="{D42A27DB-BD31-4B8C-83A1-F6EECF244321}">
                <p14:modId xmlns:p14="http://schemas.microsoft.com/office/powerpoint/2010/main" val="2644266696"/>
              </p:ext>
            </p:extLst>
          </p:nvPr>
        </p:nvGraphicFramePr>
        <p:xfrm>
          <a:off x="838200" y="2858294"/>
          <a:ext cx="10515600" cy="2286000"/>
        </p:xfrm>
        <a:graphic>
          <a:graphicData uri="http://schemas.openxmlformats.org/drawingml/2006/table">
            <a:tbl>
              <a:tblPr/>
              <a:tblGrid>
                <a:gridCol w="5257800">
                  <a:extLst>
                    <a:ext uri="{9D8B030D-6E8A-4147-A177-3AD203B41FA5}">
                      <a16:colId xmlns:a16="http://schemas.microsoft.com/office/drawing/2014/main" val="1383342962"/>
                    </a:ext>
                  </a:extLst>
                </a:gridCol>
                <a:gridCol w="5257800">
                  <a:extLst>
                    <a:ext uri="{9D8B030D-6E8A-4147-A177-3AD203B41FA5}">
                      <a16:colId xmlns:a16="http://schemas.microsoft.com/office/drawing/2014/main" val="3678645494"/>
                    </a:ext>
                  </a:extLst>
                </a:gridCol>
              </a:tblGrid>
              <a:tr h="0">
                <a:tc>
                  <a:txBody>
                    <a:bodyPr/>
                    <a:lstStyle/>
                    <a:p>
                      <a:pPr>
                        <a:buNone/>
                      </a:pPr>
                      <a:r>
                        <a:rPr lang="en-CA">
                          <a:effectLst/>
                        </a:rPr>
                        <a:t>Dataset</a:t>
                      </a: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a:buNone/>
                      </a:pPr>
                      <a:r>
                        <a:rPr lang="en-CA" dirty="0">
                          <a:effectLst/>
                        </a:rPr>
                        <a:t>Role in my Framework</a:t>
                      </a:r>
                    </a:p>
                  </a:txBody>
                  <a:tcPr anchor="ctr">
                    <a:lnL w="12700" cap="flat" cmpd="sng" algn="ctr">
                      <a:solidFill>
                        <a:srgbClr val="E3E3E3"/>
                      </a:solidFill>
                      <a:prstDash val="solid"/>
                      <a:round/>
                      <a:headEnd type="none" w="med" len="med"/>
                      <a:tailEnd type="none" w="med" len="med"/>
                    </a:lnL>
                    <a:lnR>
                      <a:noFill/>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271782951"/>
                  </a:ext>
                </a:extLst>
              </a:tr>
              <a:tr h="0">
                <a:tc>
                  <a:txBody>
                    <a:bodyPr/>
                    <a:lstStyle/>
                    <a:p>
                      <a:pPr>
                        <a:buNone/>
                      </a:pPr>
                      <a:r>
                        <a:rPr lang="en-CA" b="1">
                          <a:effectLst/>
                        </a:rPr>
                        <a:t>Yale/Shiller</a:t>
                      </a:r>
                      <a:endParaRPr lang="en-CA">
                        <a:effectLst/>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a:buNone/>
                      </a:pPr>
                      <a:r>
                        <a:rPr lang="en-US">
                          <a:effectLst/>
                        </a:rPr>
                        <a:t>Long-term valuation baseline (CAPE, historical norms)</a:t>
                      </a:r>
                    </a:p>
                  </a:txBody>
                  <a:tcPr anchor="ctr">
                    <a:lnL w="12700" cap="flat" cmpd="sng" algn="ctr">
                      <a:solidFill>
                        <a:srgbClr val="E3E3E3"/>
                      </a:solidFill>
                      <a:prstDash val="solid"/>
                      <a:round/>
                      <a:headEnd type="none" w="med" len="med"/>
                      <a:tailEnd type="none" w="med" len="med"/>
                    </a:lnL>
                    <a:lnR>
                      <a:noFill/>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791048385"/>
                  </a:ext>
                </a:extLst>
              </a:tr>
              <a:tr h="0">
                <a:tc>
                  <a:txBody>
                    <a:bodyPr/>
                    <a:lstStyle/>
                    <a:p>
                      <a:pPr>
                        <a:buNone/>
                      </a:pPr>
                      <a:r>
                        <a:rPr lang="en-CA" b="1">
                          <a:effectLst/>
                        </a:rPr>
                        <a:t>FRED</a:t>
                      </a:r>
                      <a:endParaRPr lang="en-CA">
                        <a:effectLst/>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a:buNone/>
                      </a:pPr>
                      <a:r>
                        <a:rPr lang="en-US">
                          <a:effectLst/>
                        </a:rPr>
                        <a:t>Macro context (interest rates, QE periods, monetary regime)</a:t>
                      </a:r>
                    </a:p>
                  </a:txBody>
                  <a:tcPr anchor="ctr">
                    <a:lnL w="12700" cap="flat" cmpd="sng" algn="ctr">
                      <a:solidFill>
                        <a:srgbClr val="E3E3E3"/>
                      </a:solidFill>
                      <a:prstDash val="solid"/>
                      <a:round/>
                      <a:headEnd type="none" w="med" len="med"/>
                      <a:tailEnd type="none" w="med" len="med"/>
                    </a:lnL>
                    <a:lnR>
                      <a:noFill/>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556109357"/>
                  </a:ext>
                </a:extLst>
              </a:tr>
              <a:tr h="0">
                <a:tc>
                  <a:txBody>
                    <a:bodyPr/>
                    <a:lstStyle/>
                    <a:p>
                      <a:pPr>
                        <a:buNone/>
                      </a:pPr>
                      <a:r>
                        <a:rPr lang="en-CA" b="1" dirty="0">
                          <a:effectLst/>
                        </a:rPr>
                        <a:t>Polygon.io</a:t>
                      </a:r>
                      <a:endParaRPr lang="en-CA" dirty="0">
                        <a:effectLst/>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a:noFill/>
                    </a:lnB>
                    <a:solidFill>
                      <a:srgbClr val="FFFFFF"/>
                    </a:solidFill>
                  </a:tcPr>
                </a:tc>
                <a:tc>
                  <a:txBody>
                    <a:bodyPr/>
                    <a:lstStyle/>
                    <a:p>
                      <a:pPr>
                        <a:buNone/>
                      </a:pPr>
                      <a:r>
                        <a:rPr lang="en-CA" dirty="0">
                          <a:effectLst/>
                        </a:rPr>
                        <a:t>Cross-validation, sector analysis, modern market dynamics</a:t>
                      </a:r>
                    </a:p>
                  </a:txBody>
                  <a:tcPr anchor="ctr">
                    <a:lnL w="12700" cap="flat" cmpd="sng" algn="ctr">
                      <a:solidFill>
                        <a:srgbClr val="E3E3E3"/>
                      </a:solidFill>
                      <a:prstDash val="solid"/>
                      <a:round/>
                      <a:headEnd type="none" w="med" len="med"/>
                      <a:tailEnd type="none" w="med" len="med"/>
                    </a:lnL>
                    <a:lnR>
                      <a:noFill/>
                    </a:lnR>
                    <a:lnT w="12700" cap="flat" cmpd="sng" algn="ctr">
                      <a:solidFill>
                        <a:srgbClr val="E3E3E3"/>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724550072"/>
                  </a:ext>
                </a:extLst>
              </a:tr>
            </a:tbl>
          </a:graphicData>
        </a:graphic>
      </p:graphicFrame>
      <p:sp>
        <p:nvSpPr>
          <p:cNvPr id="4" name="Footer Placeholder 3">
            <a:extLst>
              <a:ext uri="{FF2B5EF4-FFF2-40B4-BE49-F238E27FC236}">
                <a16:creationId xmlns:a16="http://schemas.microsoft.com/office/drawing/2014/main" id="{D4849376-571B-8933-1A07-3DFDB68DD9D5}"/>
              </a:ext>
            </a:extLst>
          </p:cNvPr>
          <p:cNvSpPr>
            <a:spLocks noGrp="1"/>
          </p:cNvSpPr>
          <p:nvPr>
            <p:ph type="ftr" sz="quarter" idx="11"/>
          </p:nvPr>
        </p:nvSpPr>
        <p:spPr/>
        <p:txBody>
          <a:bodyPr/>
          <a:lstStyle/>
          <a:p>
            <a:r>
              <a:rPr lang="en-US"/>
              <a:t>Lecturer at George Brown College and Ontario Tech university</a:t>
            </a:r>
            <a:endParaRPr lang="en-CA"/>
          </a:p>
        </p:txBody>
      </p:sp>
      <p:pic>
        <p:nvPicPr>
          <p:cNvPr id="6" name="Picture 5">
            <a:extLst>
              <a:ext uri="{FF2B5EF4-FFF2-40B4-BE49-F238E27FC236}">
                <a16:creationId xmlns:a16="http://schemas.microsoft.com/office/drawing/2014/main" id="{88BFB3ED-0B71-C58E-0BD2-0F621791A348}"/>
              </a:ext>
            </a:extLst>
          </p:cNvPr>
          <p:cNvPicPr>
            <a:picLocks noChangeAspect="1"/>
          </p:cNvPicPr>
          <p:nvPr/>
        </p:nvPicPr>
        <p:blipFill>
          <a:blip r:embed="rId2"/>
          <a:stretch>
            <a:fillRect/>
          </a:stretch>
        </p:blipFill>
        <p:spPr>
          <a:xfrm>
            <a:off x="680319" y="421301"/>
            <a:ext cx="1707028" cy="1213209"/>
          </a:xfrm>
          <a:prstGeom prst="rect">
            <a:avLst/>
          </a:prstGeom>
        </p:spPr>
      </p:pic>
      <p:pic>
        <p:nvPicPr>
          <p:cNvPr id="7" name="Picture 6">
            <a:extLst>
              <a:ext uri="{FF2B5EF4-FFF2-40B4-BE49-F238E27FC236}">
                <a16:creationId xmlns:a16="http://schemas.microsoft.com/office/drawing/2014/main" id="{87F3C70A-A5EA-3907-256F-B46F7D08A335}"/>
              </a:ext>
            </a:extLst>
          </p:cNvPr>
          <p:cNvPicPr>
            <a:picLocks noChangeAspect="1"/>
          </p:cNvPicPr>
          <p:nvPr/>
        </p:nvPicPr>
        <p:blipFill>
          <a:blip r:embed="rId3"/>
          <a:stretch>
            <a:fillRect/>
          </a:stretch>
        </p:blipFill>
        <p:spPr>
          <a:xfrm>
            <a:off x="652884" y="5360842"/>
            <a:ext cx="1761897" cy="951058"/>
          </a:xfrm>
          <a:prstGeom prst="rect">
            <a:avLst/>
          </a:prstGeom>
        </p:spPr>
      </p:pic>
    </p:spTree>
    <p:extLst>
      <p:ext uri="{BB962C8B-B14F-4D97-AF65-F5344CB8AC3E}">
        <p14:creationId xmlns:p14="http://schemas.microsoft.com/office/powerpoint/2010/main" val="39649924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A897D-3E3F-C2E9-ED38-F5FBC2B7D16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7F79387-3C46-E2BF-D3AA-6EBA779ED151}"/>
              </a:ext>
            </a:extLst>
          </p:cNvPr>
          <p:cNvSpPr>
            <a:spLocks noGrp="1"/>
          </p:cNvSpPr>
          <p:nvPr>
            <p:ph idx="1"/>
          </p:nvPr>
        </p:nvSpPr>
        <p:spPr>
          <a:xfrm>
            <a:off x="838200" y="581890"/>
            <a:ext cx="10515600" cy="5774459"/>
          </a:xfrm>
        </p:spPr>
        <p:txBody>
          <a:bodyPr>
            <a:normAutofit fontScale="70000" lnSpcReduction="20000"/>
          </a:bodyPr>
          <a:lstStyle/>
          <a:p>
            <a:pPr algn="l">
              <a:buNone/>
            </a:pPr>
            <a:r>
              <a:rPr lang="en-US" b="1" i="0" dirty="0">
                <a:solidFill>
                  <a:srgbClr val="1D1D1F"/>
                </a:solidFill>
                <a:effectLst/>
                <a:latin typeface="system-ui"/>
              </a:rPr>
              <a:t>Yale/Shiller Database (1995–2024)</a:t>
            </a:r>
          </a:p>
          <a:p>
            <a:pPr algn="l">
              <a:buFont typeface="Arial" panose="020B0604020202020204" pitchFamily="34" charset="0"/>
              <a:buChar char="•"/>
            </a:pPr>
            <a:r>
              <a:rPr lang="en-US" b="0" i="0" dirty="0">
                <a:solidFill>
                  <a:srgbClr val="1D1D1F"/>
                </a:solidFill>
                <a:effectLst/>
                <a:latin typeface="system-ui"/>
              </a:rPr>
              <a:t>Long-term U.S. market data maintained by Robert Shiller</a:t>
            </a:r>
          </a:p>
          <a:p>
            <a:pPr algn="l">
              <a:buFont typeface="Arial" panose="020B0604020202020204" pitchFamily="34" charset="0"/>
              <a:buChar char="•"/>
            </a:pPr>
            <a:r>
              <a:rPr lang="en-US" b="0" i="0" dirty="0">
                <a:solidFill>
                  <a:srgbClr val="1D1D1F"/>
                </a:solidFill>
                <a:effectLst/>
                <a:latin typeface="system-ui"/>
              </a:rPr>
              <a:t>Famous for </a:t>
            </a:r>
            <a:r>
              <a:rPr lang="en-US" b="1" i="0" dirty="0">
                <a:solidFill>
                  <a:srgbClr val="1D1D1F"/>
                </a:solidFill>
                <a:effectLst/>
                <a:latin typeface="system-ui"/>
              </a:rPr>
              <a:t>CAPE ratio</a:t>
            </a:r>
            <a:r>
              <a:rPr lang="en-US" b="0" i="0" dirty="0">
                <a:solidFill>
                  <a:srgbClr val="1D1D1F"/>
                </a:solidFill>
                <a:effectLst/>
                <a:latin typeface="system-ui"/>
              </a:rPr>
              <a:t> (10-year avg earnings)</a:t>
            </a:r>
          </a:p>
          <a:p>
            <a:pPr algn="l">
              <a:buFont typeface="Arial" panose="020B0604020202020204" pitchFamily="34" charset="0"/>
              <a:buChar char="•"/>
            </a:pPr>
            <a:r>
              <a:rPr lang="en-US" b="0" i="0" dirty="0">
                <a:solidFill>
                  <a:srgbClr val="1D1D1F"/>
                </a:solidFill>
                <a:effectLst/>
                <a:latin typeface="system-ui"/>
              </a:rPr>
              <a:t>Used as historical valuation baseline</a:t>
            </a:r>
          </a:p>
          <a:p>
            <a:pPr algn="l">
              <a:buFont typeface="Arial" panose="020B0604020202020204" pitchFamily="34" charset="0"/>
              <a:buChar char="•"/>
            </a:pPr>
            <a:r>
              <a:rPr lang="en-US" b="1" i="0" dirty="0">
                <a:solidFill>
                  <a:srgbClr val="1D1D1F"/>
                </a:solidFill>
                <a:effectLst/>
                <a:latin typeface="system-ui"/>
              </a:rPr>
              <a:t>Limitation</a:t>
            </a:r>
            <a:r>
              <a:rPr lang="en-US" b="0" i="0" dirty="0">
                <a:solidFill>
                  <a:srgbClr val="1D1D1F"/>
                </a:solidFill>
                <a:effectLst/>
                <a:latin typeface="system-ui"/>
              </a:rPr>
              <a:t>: High accuracy (~99%) but </a:t>
            </a:r>
            <a:r>
              <a:rPr lang="en-US" b="1" i="0" dirty="0">
                <a:solidFill>
                  <a:srgbClr val="1D1D1F"/>
                </a:solidFill>
                <a:effectLst/>
                <a:latin typeface="system-ui"/>
              </a:rPr>
              <a:t>F1 = 0.000</a:t>
            </a:r>
            <a:r>
              <a:rPr lang="en-US" b="0" i="0" dirty="0">
                <a:solidFill>
                  <a:srgbClr val="1D1D1F"/>
                </a:solidFill>
                <a:effectLst/>
                <a:latin typeface="system-ui"/>
              </a:rPr>
              <a:t> — fails to detect actual bubbles</a:t>
            </a:r>
          </a:p>
          <a:p>
            <a:pPr algn="l">
              <a:buNone/>
            </a:pPr>
            <a:r>
              <a:rPr lang="en-US" b="1" i="0" dirty="0">
                <a:solidFill>
                  <a:srgbClr val="1D1D1F"/>
                </a:solidFill>
                <a:effectLst/>
                <a:latin typeface="system-ui"/>
              </a:rPr>
              <a:t>FRED – 10-Year Treasury Yields</a:t>
            </a:r>
          </a:p>
          <a:p>
            <a:pPr algn="l">
              <a:buFont typeface="Arial" panose="020B0604020202020204" pitchFamily="34" charset="0"/>
              <a:buChar char="•"/>
            </a:pPr>
            <a:r>
              <a:rPr lang="en-US" b="0" i="0" dirty="0">
                <a:solidFill>
                  <a:srgbClr val="1D1D1F"/>
                </a:solidFill>
                <a:effectLst/>
                <a:latin typeface="system-ui"/>
              </a:rPr>
              <a:t>Federal Reserve's macroeconomic database</a:t>
            </a:r>
          </a:p>
          <a:p>
            <a:pPr algn="l">
              <a:buFont typeface="Arial" panose="020B0604020202020204" pitchFamily="34" charset="0"/>
              <a:buChar char="•"/>
            </a:pPr>
            <a:r>
              <a:rPr lang="en-US" b="0" i="0" dirty="0">
                <a:solidFill>
                  <a:srgbClr val="1D1D1F"/>
                </a:solidFill>
                <a:effectLst/>
                <a:latin typeface="system-ui"/>
              </a:rPr>
              <a:t>Tracks "risk-free" interest rates</a:t>
            </a:r>
          </a:p>
          <a:p>
            <a:pPr algn="l">
              <a:buFont typeface="Arial" panose="020B0604020202020204" pitchFamily="34" charset="0"/>
              <a:buChar char="•"/>
            </a:pPr>
            <a:r>
              <a:rPr lang="en-US" b="1" i="0" dirty="0">
                <a:solidFill>
                  <a:srgbClr val="1D1D1F"/>
                </a:solidFill>
                <a:effectLst/>
                <a:latin typeface="system-ui"/>
              </a:rPr>
              <a:t>Why it matters</a:t>
            </a:r>
            <a:r>
              <a:rPr lang="en-US" b="0" i="0" dirty="0">
                <a:solidFill>
                  <a:srgbClr val="1D1D1F"/>
                </a:solidFill>
                <a:effectLst/>
                <a:latin typeface="system-ui"/>
              </a:rPr>
              <a:t>: Helps distinguish justified high valuations (low rates) from true bubbles</a:t>
            </a:r>
          </a:p>
          <a:p>
            <a:pPr algn="l">
              <a:buFont typeface="Arial" panose="020B0604020202020204" pitchFamily="34" charset="0"/>
              <a:buChar char="•"/>
            </a:pPr>
            <a:r>
              <a:rPr lang="en-US" b="0" i="0" dirty="0">
                <a:solidFill>
                  <a:srgbClr val="1D1D1F"/>
                </a:solidFill>
                <a:effectLst/>
                <a:latin typeface="system-ui"/>
              </a:rPr>
              <a:t>Example: P/E = 123 in 2021 looks extreme, but with 10-year yield at 0.08%, context changes</a:t>
            </a:r>
          </a:p>
          <a:p>
            <a:pPr algn="l">
              <a:buNone/>
            </a:pPr>
            <a:r>
              <a:rPr lang="en-US" b="1" i="0" dirty="0">
                <a:solidFill>
                  <a:srgbClr val="1D1D1F"/>
                </a:solidFill>
                <a:effectLst/>
                <a:latin typeface="system-ui"/>
              </a:rPr>
              <a:t>Polygon.io</a:t>
            </a:r>
          </a:p>
          <a:p>
            <a:pPr algn="l">
              <a:buFont typeface="Arial" panose="020B0604020202020204" pitchFamily="34" charset="0"/>
              <a:buChar char="•"/>
            </a:pPr>
            <a:r>
              <a:rPr lang="en-US" b="0" i="0" dirty="0">
                <a:solidFill>
                  <a:srgbClr val="1D1D1F"/>
                </a:solidFill>
                <a:effectLst/>
                <a:latin typeface="system-ui"/>
              </a:rPr>
              <a:t>Modern API for real-time &amp; historical market data</a:t>
            </a:r>
          </a:p>
          <a:p>
            <a:pPr algn="l">
              <a:buFont typeface="Arial" panose="020B0604020202020204" pitchFamily="34" charset="0"/>
              <a:buChar char="•"/>
            </a:pPr>
            <a:r>
              <a:rPr lang="en-US" b="0" i="0" dirty="0">
                <a:solidFill>
                  <a:srgbClr val="1D1D1F"/>
                </a:solidFill>
                <a:effectLst/>
                <a:latin typeface="system-ui"/>
              </a:rPr>
              <a:t>Covers stocks, ETFs, crypto, fundamentals</a:t>
            </a:r>
          </a:p>
          <a:p>
            <a:pPr algn="l">
              <a:buFont typeface="Arial" panose="020B0604020202020204" pitchFamily="34" charset="0"/>
              <a:buChar char="•"/>
            </a:pPr>
            <a:r>
              <a:rPr lang="en-US" b="1" i="0" dirty="0">
                <a:solidFill>
                  <a:srgbClr val="1D1D1F"/>
                </a:solidFill>
                <a:effectLst/>
                <a:latin typeface="system-ui"/>
              </a:rPr>
              <a:t>Why it matters</a:t>
            </a:r>
            <a:r>
              <a:rPr lang="en-US" b="0" i="0" dirty="0">
                <a:solidFill>
                  <a:srgbClr val="1D1D1F"/>
                </a:solidFill>
                <a:effectLst/>
                <a:latin typeface="system-ui"/>
              </a:rPr>
              <a:t>: Enables cross-sector validation and tests if bubble signals hold across assets</a:t>
            </a:r>
          </a:p>
          <a:p>
            <a:pPr algn="l">
              <a:buFont typeface="Arial" panose="020B0604020202020204" pitchFamily="34" charset="0"/>
              <a:buChar char="•"/>
            </a:pPr>
            <a:r>
              <a:rPr lang="en-US" b="0" i="0" dirty="0">
                <a:solidFill>
                  <a:srgbClr val="1D1D1F"/>
                </a:solidFill>
                <a:effectLst/>
                <a:latin typeface="system-ui"/>
              </a:rPr>
              <a:t>Ensures findings aren't just S&amp;P 500 artifacts</a:t>
            </a:r>
          </a:p>
          <a:p>
            <a:endParaRPr lang="en-CA" dirty="0"/>
          </a:p>
        </p:txBody>
      </p:sp>
      <p:sp>
        <p:nvSpPr>
          <p:cNvPr id="4" name="Footer Placeholder 3">
            <a:extLst>
              <a:ext uri="{FF2B5EF4-FFF2-40B4-BE49-F238E27FC236}">
                <a16:creationId xmlns:a16="http://schemas.microsoft.com/office/drawing/2014/main" id="{ABB849DE-16E8-F51E-859C-1CC74AD7819E}"/>
              </a:ext>
            </a:extLst>
          </p:cNvPr>
          <p:cNvSpPr>
            <a:spLocks noGrp="1"/>
          </p:cNvSpPr>
          <p:nvPr>
            <p:ph type="ftr" sz="quarter" idx="11"/>
          </p:nvPr>
        </p:nvSpPr>
        <p:spPr/>
        <p:txBody>
          <a:bodyPr/>
          <a:lstStyle/>
          <a:p>
            <a:r>
              <a:rPr lang="en-US"/>
              <a:t>Lecturer at George Brown College and Ontario Tech university</a:t>
            </a:r>
            <a:endParaRPr lang="en-CA"/>
          </a:p>
        </p:txBody>
      </p:sp>
    </p:spTree>
    <p:extLst>
      <p:ext uri="{BB962C8B-B14F-4D97-AF65-F5344CB8AC3E}">
        <p14:creationId xmlns:p14="http://schemas.microsoft.com/office/powerpoint/2010/main" val="220519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2AEE9-AB7C-4596-F8CE-8622748DE3FE}"/>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4251D7C6-CEA4-6F1B-B46D-8B47DF0050B5}"/>
              </a:ext>
            </a:extLst>
          </p:cNvPr>
          <p:cNvSpPr>
            <a:spLocks noGrp="1"/>
          </p:cNvSpPr>
          <p:nvPr>
            <p:ph idx="1"/>
          </p:nvPr>
        </p:nvSpPr>
        <p:spPr/>
        <p:txBody>
          <a:bodyPr/>
          <a:lstStyle/>
          <a:p>
            <a:r>
              <a:rPr lang="en-US" dirty="0"/>
              <a:t>Traditional models use these datasets in isolation. My </a:t>
            </a:r>
            <a:r>
              <a:rPr lang="en-US" b="1" dirty="0"/>
              <a:t>hybrid GSADF-ML framework</a:t>
            </a:r>
            <a:r>
              <a:rPr lang="en-US" dirty="0"/>
              <a:t> integrates them to distinguish between:</a:t>
            </a:r>
            <a:endParaRPr lang="en-CA" dirty="0"/>
          </a:p>
        </p:txBody>
      </p:sp>
      <p:sp>
        <p:nvSpPr>
          <p:cNvPr id="4" name="Footer Placeholder 3">
            <a:extLst>
              <a:ext uri="{FF2B5EF4-FFF2-40B4-BE49-F238E27FC236}">
                <a16:creationId xmlns:a16="http://schemas.microsoft.com/office/drawing/2014/main" id="{775748FE-51C4-C246-1E96-334312F9BA93}"/>
              </a:ext>
            </a:extLst>
          </p:cNvPr>
          <p:cNvSpPr>
            <a:spLocks noGrp="1"/>
          </p:cNvSpPr>
          <p:nvPr>
            <p:ph type="ftr" sz="quarter" idx="11"/>
          </p:nvPr>
        </p:nvSpPr>
        <p:spPr/>
        <p:txBody>
          <a:bodyPr/>
          <a:lstStyle/>
          <a:p>
            <a:r>
              <a:rPr lang="en-US"/>
              <a:t>Lecturer at George Brown College and Ontario Tech university</a:t>
            </a:r>
            <a:endParaRPr lang="en-CA"/>
          </a:p>
        </p:txBody>
      </p:sp>
      <p:pic>
        <p:nvPicPr>
          <p:cNvPr id="5" name="Picture 4">
            <a:extLst>
              <a:ext uri="{FF2B5EF4-FFF2-40B4-BE49-F238E27FC236}">
                <a16:creationId xmlns:a16="http://schemas.microsoft.com/office/drawing/2014/main" id="{8C732729-9412-7701-694E-5D33379D24B3}"/>
              </a:ext>
            </a:extLst>
          </p:cNvPr>
          <p:cNvPicPr>
            <a:picLocks noChangeAspect="1"/>
          </p:cNvPicPr>
          <p:nvPr/>
        </p:nvPicPr>
        <p:blipFill>
          <a:blip r:embed="rId2"/>
          <a:stretch>
            <a:fillRect/>
          </a:stretch>
        </p:blipFill>
        <p:spPr>
          <a:xfrm>
            <a:off x="652884" y="5360842"/>
            <a:ext cx="1761897" cy="951058"/>
          </a:xfrm>
          <a:prstGeom prst="rect">
            <a:avLst/>
          </a:prstGeom>
        </p:spPr>
      </p:pic>
      <p:pic>
        <p:nvPicPr>
          <p:cNvPr id="6" name="Picture 5">
            <a:extLst>
              <a:ext uri="{FF2B5EF4-FFF2-40B4-BE49-F238E27FC236}">
                <a16:creationId xmlns:a16="http://schemas.microsoft.com/office/drawing/2014/main" id="{A43E3065-108E-9E61-1DED-BC015512B019}"/>
              </a:ext>
            </a:extLst>
          </p:cNvPr>
          <p:cNvPicPr>
            <a:picLocks noChangeAspect="1"/>
          </p:cNvPicPr>
          <p:nvPr/>
        </p:nvPicPr>
        <p:blipFill>
          <a:blip r:embed="rId3"/>
          <a:stretch>
            <a:fillRect/>
          </a:stretch>
        </p:blipFill>
        <p:spPr>
          <a:xfrm>
            <a:off x="680319" y="421301"/>
            <a:ext cx="1707028" cy="1213209"/>
          </a:xfrm>
          <a:prstGeom prst="rect">
            <a:avLst/>
          </a:prstGeom>
        </p:spPr>
      </p:pic>
    </p:spTree>
    <p:extLst>
      <p:ext uri="{BB962C8B-B14F-4D97-AF65-F5344CB8AC3E}">
        <p14:creationId xmlns:p14="http://schemas.microsoft.com/office/powerpoint/2010/main" val="10885800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85D11-BC97-2B14-F19D-D9A3CAD427A4}"/>
              </a:ext>
            </a:extLst>
          </p:cNvPr>
          <p:cNvSpPr>
            <a:spLocks noGrp="1"/>
          </p:cNvSpPr>
          <p:nvPr>
            <p:ph type="title"/>
          </p:nvPr>
        </p:nvSpPr>
        <p:spPr/>
        <p:txBody>
          <a:bodyPr/>
          <a:lstStyle/>
          <a:p>
            <a:pPr algn="ctr"/>
            <a:r>
              <a:rPr lang="en-US" dirty="0"/>
              <a:t>The "Accuracy Trap" (Crucial Slide)</a:t>
            </a:r>
            <a:endParaRPr lang="en-CA" dirty="0"/>
          </a:p>
        </p:txBody>
      </p:sp>
      <p:sp>
        <p:nvSpPr>
          <p:cNvPr id="3" name="Content Placeholder 2">
            <a:extLst>
              <a:ext uri="{FF2B5EF4-FFF2-40B4-BE49-F238E27FC236}">
                <a16:creationId xmlns:a16="http://schemas.microsoft.com/office/drawing/2014/main" id="{960E90E8-D36E-3B34-D1AA-D47F2758B071}"/>
              </a:ext>
            </a:extLst>
          </p:cNvPr>
          <p:cNvSpPr>
            <a:spLocks noGrp="1"/>
          </p:cNvSpPr>
          <p:nvPr>
            <p:ph idx="1"/>
          </p:nvPr>
        </p:nvSpPr>
        <p:spPr/>
        <p:txBody>
          <a:bodyPr/>
          <a:lstStyle/>
          <a:p>
            <a:r>
              <a:rPr lang="en-US" dirty="0"/>
              <a:t>The Paradox: Models showing 99.7% Accuracy but an F1-Score of 0.000.</a:t>
            </a:r>
          </a:p>
          <a:p>
            <a:r>
              <a:rPr lang="en-US" dirty="0"/>
              <a:t>Why? In rare-event detection, a model is "accurate" if it simply predicts "no bubble" every time.</a:t>
            </a:r>
          </a:p>
          <a:p>
            <a:r>
              <a:rPr lang="en-US" dirty="0"/>
              <a:t>Conclusion: Traditional ratios offer zero practical predictive utility (F1 = 0).</a:t>
            </a:r>
            <a:endParaRPr lang="en-CA" dirty="0"/>
          </a:p>
        </p:txBody>
      </p:sp>
      <p:pic>
        <p:nvPicPr>
          <p:cNvPr id="5" name="Picture 4">
            <a:extLst>
              <a:ext uri="{FF2B5EF4-FFF2-40B4-BE49-F238E27FC236}">
                <a16:creationId xmlns:a16="http://schemas.microsoft.com/office/drawing/2014/main" id="{73004935-5809-FAD5-27E1-EE781B90C4C1}"/>
              </a:ext>
            </a:extLst>
          </p:cNvPr>
          <p:cNvPicPr>
            <a:picLocks noChangeAspect="1"/>
          </p:cNvPicPr>
          <p:nvPr/>
        </p:nvPicPr>
        <p:blipFill>
          <a:blip r:embed="rId2"/>
          <a:stretch>
            <a:fillRect/>
          </a:stretch>
        </p:blipFill>
        <p:spPr>
          <a:xfrm>
            <a:off x="532834" y="365125"/>
            <a:ext cx="1707028" cy="1213209"/>
          </a:xfrm>
          <a:prstGeom prst="rect">
            <a:avLst/>
          </a:prstGeom>
        </p:spPr>
      </p:pic>
      <p:pic>
        <p:nvPicPr>
          <p:cNvPr id="6" name="Picture 5">
            <a:extLst>
              <a:ext uri="{FF2B5EF4-FFF2-40B4-BE49-F238E27FC236}">
                <a16:creationId xmlns:a16="http://schemas.microsoft.com/office/drawing/2014/main" id="{DED6F73E-D14B-06AE-244A-75184198CADB}"/>
              </a:ext>
            </a:extLst>
          </p:cNvPr>
          <p:cNvPicPr>
            <a:picLocks noChangeAspect="1"/>
          </p:cNvPicPr>
          <p:nvPr/>
        </p:nvPicPr>
        <p:blipFill>
          <a:blip r:embed="rId3"/>
          <a:stretch>
            <a:fillRect/>
          </a:stretch>
        </p:blipFill>
        <p:spPr>
          <a:xfrm>
            <a:off x="731541" y="5360842"/>
            <a:ext cx="1761897" cy="951058"/>
          </a:xfrm>
          <a:prstGeom prst="rect">
            <a:avLst/>
          </a:prstGeom>
        </p:spPr>
      </p:pic>
      <p:sp>
        <p:nvSpPr>
          <p:cNvPr id="7" name="Footer Placeholder 6">
            <a:extLst>
              <a:ext uri="{FF2B5EF4-FFF2-40B4-BE49-F238E27FC236}">
                <a16:creationId xmlns:a16="http://schemas.microsoft.com/office/drawing/2014/main" id="{8559B943-0BD9-B612-9534-F8A7E845A30E}"/>
              </a:ext>
            </a:extLst>
          </p:cNvPr>
          <p:cNvSpPr>
            <a:spLocks noGrp="1"/>
          </p:cNvSpPr>
          <p:nvPr>
            <p:ph type="ftr" sz="quarter" idx="11"/>
          </p:nvPr>
        </p:nvSpPr>
        <p:spPr/>
        <p:txBody>
          <a:bodyPr/>
          <a:lstStyle/>
          <a:p>
            <a:r>
              <a:rPr lang="en-US"/>
              <a:t>Lecturer at George Brown College and Ontario Tech university</a:t>
            </a:r>
            <a:endParaRPr lang="en-CA"/>
          </a:p>
        </p:txBody>
      </p:sp>
    </p:spTree>
    <p:extLst>
      <p:ext uri="{BB962C8B-B14F-4D97-AF65-F5344CB8AC3E}">
        <p14:creationId xmlns:p14="http://schemas.microsoft.com/office/powerpoint/2010/main" val="30683950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181CD-6B7D-66E0-7423-DBFC6D0B7CA1}"/>
              </a:ext>
            </a:extLst>
          </p:cNvPr>
          <p:cNvSpPr>
            <a:spLocks noGrp="1"/>
          </p:cNvSpPr>
          <p:nvPr>
            <p:ph type="title"/>
          </p:nvPr>
        </p:nvSpPr>
        <p:spPr/>
        <p:txBody>
          <a:bodyPr/>
          <a:lstStyle/>
          <a:p>
            <a:pPr algn="ctr"/>
            <a:r>
              <a:rPr lang="en-CA" dirty="0"/>
              <a:t>Traditional Econometric Specification</a:t>
            </a:r>
          </a:p>
        </p:txBody>
      </p:sp>
      <p:sp>
        <p:nvSpPr>
          <p:cNvPr id="3" name="Content Placeholder 2">
            <a:extLst>
              <a:ext uri="{FF2B5EF4-FFF2-40B4-BE49-F238E27FC236}">
                <a16:creationId xmlns:a16="http://schemas.microsoft.com/office/drawing/2014/main" id="{4F727E91-EB72-21ED-AC0D-D8E291E584C8}"/>
              </a:ext>
            </a:extLst>
          </p:cNvPr>
          <p:cNvSpPr>
            <a:spLocks noGrp="1"/>
          </p:cNvSpPr>
          <p:nvPr>
            <p:ph idx="1"/>
          </p:nvPr>
        </p:nvSpPr>
        <p:spPr/>
        <p:txBody>
          <a:bodyPr/>
          <a:lstStyle/>
          <a:p>
            <a:r>
              <a:rPr lang="en-CA" dirty="0"/>
              <a:t>The GSADF Test: Generalized Supremum Augmented Dickey-Fuller.</a:t>
            </a:r>
          </a:p>
          <a:p>
            <a:r>
              <a:rPr lang="en-CA" dirty="0"/>
              <a:t>Goal: Identify "explosive" price behavior.</a:t>
            </a:r>
          </a:p>
          <a:p>
            <a:r>
              <a:rPr lang="en-CA" dirty="0"/>
              <a:t>The Failure: Standard GSADF often ignores regime shifts (like zero-interest-rate environments), leading to a 0% detection rate in complex synthetic simulations.</a:t>
            </a:r>
          </a:p>
        </p:txBody>
      </p:sp>
      <p:pic>
        <p:nvPicPr>
          <p:cNvPr id="5" name="Picture 4">
            <a:extLst>
              <a:ext uri="{FF2B5EF4-FFF2-40B4-BE49-F238E27FC236}">
                <a16:creationId xmlns:a16="http://schemas.microsoft.com/office/drawing/2014/main" id="{6AAF72D9-886A-3624-7E83-EC6B2A70B4CA}"/>
              </a:ext>
            </a:extLst>
          </p:cNvPr>
          <p:cNvPicPr>
            <a:picLocks noChangeAspect="1"/>
          </p:cNvPicPr>
          <p:nvPr/>
        </p:nvPicPr>
        <p:blipFill>
          <a:blip r:embed="rId2"/>
          <a:stretch>
            <a:fillRect/>
          </a:stretch>
        </p:blipFill>
        <p:spPr>
          <a:xfrm>
            <a:off x="395182" y="230188"/>
            <a:ext cx="1707028" cy="1213209"/>
          </a:xfrm>
          <a:prstGeom prst="rect">
            <a:avLst/>
          </a:prstGeom>
        </p:spPr>
      </p:pic>
      <p:pic>
        <p:nvPicPr>
          <p:cNvPr id="6" name="Picture 5">
            <a:extLst>
              <a:ext uri="{FF2B5EF4-FFF2-40B4-BE49-F238E27FC236}">
                <a16:creationId xmlns:a16="http://schemas.microsoft.com/office/drawing/2014/main" id="{2A6C74B6-2859-E0EE-9B14-09B2FEA10565}"/>
              </a:ext>
            </a:extLst>
          </p:cNvPr>
          <p:cNvPicPr>
            <a:picLocks noChangeAspect="1"/>
          </p:cNvPicPr>
          <p:nvPr/>
        </p:nvPicPr>
        <p:blipFill>
          <a:blip r:embed="rId3"/>
          <a:stretch>
            <a:fillRect/>
          </a:stretch>
        </p:blipFill>
        <p:spPr>
          <a:xfrm>
            <a:off x="838200" y="5225905"/>
            <a:ext cx="1761897" cy="951058"/>
          </a:xfrm>
          <a:prstGeom prst="rect">
            <a:avLst/>
          </a:prstGeom>
        </p:spPr>
      </p:pic>
      <p:sp>
        <p:nvSpPr>
          <p:cNvPr id="7" name="Footer Placeholder 6">
            <a:extLst>
              <a:ext uri="{FF2B5EF4-FFF2-40B4-BE49-F238E27FC236}">
                <a16:creationId xmlns:a16="http://schemas.microsoft.com/office/drawing/2014/main" id="{1E889635-4D22-1C3D-369B-FD2A36311AB4}"/>
              </a:ext>
            </a:extLst>
          </p:cNvPr>
          <p:cNvSpPr>
            <a:spLocks noGrp="1"/>
          </p:cNvSpPr>
          <p:nvPr>
            <p:ph type="ftr" sz="quarter" idx="11"/>
          </p:nvPr>
        </p:nvSpPr>
        <p:spPr/>
        <p:txBody>
          <a:bodyPr/>
          <a:lstStyle/>
          <a:p>
            <a:r>
              <a:rPr lang="en-US"/>
              <a:t>Lecturer at George Brown College and Ontario Tech university</a:t>
            </a:r>
            <a:endParaRPr lang="en-CA"/>
          </a:p>
        </p:txBody>
      </p:sp>
    </p:spTree>
    <p:extLst>
      <p:ext uri="{BB962C8B-B14F-4D97-AF65-F5344CB8AC3E}">
        <p14:creationId xmlns:p14="http://schemas.microsoft.com/office/powerpoint/2010/main" val="42485836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932DA-9901-BA19-0046-0C680B49C75D}"/>
              </a:ext>
            </a:extLst>
          </p:cNvPr>
          <p:cNvSpPr>
            <a:spLocks noGrp="1"/>
          </p:cNvSpPr>
          <p:nvPr>
            <p:ph type="title"/>
          </p:nvPr>
        </p:nvSpPr>
        <p:spPr/>
        <p:txBody>
          <a:bodyPr/>
          <a:lstStyle/>
          <a:p>
            <a:r>
              <a:rPr lang="en-US" dirty="0"/>
              <a:t>the </a:t>
            </a:r>
            <a:r>
              <a:rPr lang="en-US" b="1" dirty="0"/>
              <a:t>inflation-adjusted S&amp;P 500 price</a:t>
            </a:r>
            <a:r>
              <a:rPr lang="en-US" dirty="0"/>
              <a:t> over nearly three decades.</a:t>
            </a:r>
            <a:endParaRPr lang="en-CA" dirty="0"/>
          </a:p>
        </p:txBody>
      </p:sp>
      <p:pic>
        <p:nvPicPr>
          <p:cNvPr id="4" name="Content Placeholder 3">
            <a:extLst>
              <a:ext uri="{FF2B5EF4-FFF2-40B4-BE49-F238E27FC236}">
                <a16:creationId xmlns:a16="http://schemas.microsoft.com/office/drawing/2014/main" id="{BF77122E-A4A6-DFE3-FB54-5C5B442FA46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73959" y="1825625"/>
            <a:ext cx="10244081" cy="4351338"/>
          </a:xfrm>
          <a:prstGeom prst="rect">
            <a:avLst/>
          </a:prstGeom>
          <a:noFill/>
          <a:ln>
            <a:noFill/>
          </a:ln>
        </p:spPr>
      </p:pic>
      <p:pic>
        <p:nvPicPr>
          <p:cNvPr id="6" name="Picture 5">
            <a:extLst>
              <a:ext uri="{FF2B5EF4-FFF2-40B4-BE49-F238E27FC236}">
                <a16:creationId xmlns:a16="http://schemas.microsoft.com/office/drawing/2014/main" id="{F95481D7-C681-0B8A-865C-604BE2BAA1BF}"/>
              </a:ext>
            </a:extLst>
          </p:cNvPr>
          <p:cNvPicPr>
            <a:picLocks noChangeAspect="1"/>
          </p:cNvPicPr>
          <p:nvPr/>
        </p:nvPicPr>
        <p:blipFill>
          <a:blip r:embed="rId3"/>
          <a:stretch>
            <a:fillRect/>
          </a:stretch>
        </p:blipFill>
        <p:spPr>
          <a:xfrm>
            <a:off x="838200" y="421301"/>
            <a:ext cx="1707028" cy="1213209"/>
          </a:xfrm>
          <a:prstGeom prst="rect">
            <a:avLst/>
          </a:prstGeom>
        </p:spPr>
      </p:pic>
      <p:pic>
        <p:nvPicPr>
          <p:cNvPr id="7" name="Picture 6">
            <a:extLst>
              <a:ext uri="{FF2B5EF4-FFF2-40B4-BE49-F238E27FC236}">
                <a16:creationId xmlns:a16="http://schemas.microsoft.com/office/drawing/2014/main" id="{CA8766E1-3060-1FA0-5E57-12D1C4F67CE0}"/>
              </a:ext>
            </a:extLst>
          </p:cNvPr>
          <p:cNvPicPr>
            <a:picLocks noChangeAspect="1"/>
          </p:cNvPicPr>
          <p:nvPr/>
        </p:nvPicPr>
        <p:blipFill>
          <a:blip r:embed="rId4"/>
          <a:stretch>
            <a:fillRect/>
          </a:stretch>
        </p:blipFill>
        <p:spPr>
          <a:xfrm>
            <a:off x="200924" y="5701434"/>
            <a:ext cx="1761897" cy="951058"/>
          </a:xfrm>
          <a:prstGeom prst="rect">
            <a:avLst/>
          </a:prstGeom>
        </p:spPr>
      </p:pic>
      <p:sp>
        <p:nvSpPr>
          <p:cNvPr id="8" name="Footer Placeholder 7">
            <a:extLst>
              <a:ext uri="{FF2B5EF4-FFF2-40B4-BE49-F238E27FC236}">
                <a16:creationId xmlns:a16="http://schemas.microsoft.com/office/drawing/2014/main" id="{8DEB5915-E344-BECD-BEB0-564821CE7643}"/>
              </a:ext>
            </a:extLst>
          </p:cNvPr>
          <p:cNvSpPr>
            <a:spLocks noGrp="1"/>
          </p:cNvSpPr>
          <p:nvPr>
            <p:ph type="ftr" sz="quarter" idx="11"/>
          </p:nvPr>
        </p:nvSpPr>
        <p:spPr/>
        <p:txBody>
          <a:bodyPr/>
          <a:lstStyle/>
          <a:p>
            <a:r>
              <a:rPr lang="en-US"/>
              <a:t>Lecturer at George Brown College and Ontario Tech university</a:t>
            </a:r>
            <a:endParaRPr lang="en-CA"/>
          </a:p>
        </p:txBody>
      </p:sp>
    </p:spTree>
    <p:extLst>
      <p:ext uri="{BB962C8B-B14F-4D97-AF65-F5344CB8AC3E}">
        <p14:creationId xmlns:p14="http://schemas.microsoft.com/office/powerpoint/2010/main" val="9980742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DA115-B3C9-1335-C988-B339A3F601CA}"/>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68C2C2AC-F54F-4171-A733-BEDE6535CB02}"/>
              </a:ext>
            </a:extLst>
          </p:cNvPr>
          <p:cNvSpPr>
            <a:spLocks noGrp="1"/>
          </p:cNvSpPr>
          <p:nvPr>
            <p:ph idx="1"/>
          </p:nvPr>
        </p:nvSpPr>
        <p:spPr/>
        <p:txBody>
          <a:bodyPr>
            <a:normAutofit fontScale="62500" lnSpcReduction="20000"/>
          </a:bodyPr>
          <a:lstStyle/>
          <a:p>
            <a:pPr algn="l">
              <a:buNone/>
            </a:pPr>
            <a:r>
              <a:rPr lang="en-US" b="1" i="0" dirty="0">
                <a:solidFill>
                  <a:srgbClr val="1D1D1F"/>
                </a:solidFill>
                <a:effectLst/>
                <a:latin typeface="system-ui"/>
              </a:rPr>
              <a:t>1. Dot-Com Bubble (1999-2000)</a:t>
            </a:r>
            <a:endParaRPr lang="en-US" b="0" i="0" dirty="0">
              <a:solidFill>
                <a:srgbClr val="1D1D1F"/>
              </a:solidFill>
              <a:effectLst/>
              <a:latin typeface="system-ui"/>
            </a:endParaRPr>
          </a:p>
          <a:p>
            <a:pPr algn="l">
              <a:buFont typeface="Arial" panose="020B0604020202020204" pitchFamily="34" charset="0"/>
              <a:buChar char="•"/>
            </a:pPr>
            <a:r>
              <a:rPr lang="en-US" b="0" i="0" dirty="0">
                <a:solidFill>
                  <a:srgbClr val="1D1D1F"/>
                </a:solidFill>
                <a:effectLst/>
                <a:latin typeface="system-ui"/>
              </a:rPr>
              <a:t>Sharp peak around 2000-2001</a:t>
            </a:r>
          </a:p>
          <a:p>
            <a:pPr algn="l">
              <a:buFont typeface="Arial" panose="020B0604020202020204" pitchFamily="34" charset="0"/>
              <a:buChar char="•"/>
            </a:pPr>
            <a:r>
              <a:rPr lang="en-US" b="0" i="0" dirty="0">
                <a:solidFill>
                  <a:srgbClr val="1D1D1F"/>
                </a:solidFill>
                <a:effectLst/>
                <a:latin typeface="system-ui"/>
              </a:rPr>
              <a:t>Followed by steep decline</a:t>
            </a:r>
          </a:p>
          <a:p>
            <a:pPr algn="l">
              <a:buNone/>
            </a:pPr>
            <a:r>
              <a:rPr lang="en-US" b="1" i="0" dirty="0">
                <a:solidFill>
                  <a:srgbClr val="1D1D1F"/>
                </a:solidFill>
                <a:effectLst/>
                <a:latin typeface="system-ui"/>
              </a:rPr>
              <a:t>2. Global Financial Crisis (2007-2009)</a:t>
            </a:r>
            <a:endParaRPr lang="en-US" b="0" i="0" dirty="0">
              <a:solidFill>
                <a:srgbClr val="1D1D1F"/>
              </a:solidFill>
              <a:effectLst/>
              <a:latin typeface="system-ui"/>
            </a:endParaRPr>
          </a:p>
          <a:p>
            <a:pPr algn="l">
              <a:buFont typeface="Arial" panose="020B0604020202020204" pitchFamily="34" charset="0"/>
              <a:buChar char="•"/>
            </a:pPr>
            <a:r>
              <a:rPr lang="en-US" b="0" i="0" dirty="0">
                <a:solidFill>
                  <a:srgbClr val="1D1D1F"/>
                </a:solidFill>
                <a:effectLst/>
                <a:latin typeface="system-ui"/>
              </a:rPr>
              <a:t>Peak around 2007-2008</a:t>
            </a:r>
          </a:p>
          <a:p>
            <a:pPr algn="l">
              <a:buFont typeface="Arial" panose="020B0604020202020204" pitchFamily="34" charset="0"/>
              <a:buChar char="•"/>
            </a:pPr>
            <a:r>
              <a:rPr lang="en-US" b="0" i="0" dirty="0">
                <a:solidFill>
                  <a:srgbClr val="1D1D1F"/>
                </a:solidFill>
                <a:effectLst/>
                <a:latin typeface="system-ui"/>
              </a:rPr>
              <a:t>Dramatic crash in 2008-2009 (lowest point on chart)</a:t>
            </a:r>
          </a:p>
          <a:p>
            <a:pPr algn="l">
              <a:buNone/>
            </a:pPr>
            <a:r>
              <a:rPr lang="en-US" b="1" i="0" dirty="0">
                <a:solidFill>
                  <a:srgbClr val="1D1D1F"/>
                </a:solidFill>
                <a:effectLst/>
                <a:latin typeface="system-ui"/>
              </a:rPr>
              <a:t>3. Post-Crisis Recovery (2009-2020)</a:t>
            </a:r>
            <a:endParaRPr lang="en-US" b="0" i="0" dirty="0">
              <a:solidFill>
                <a:srgbClr val="1D1D1F"/>
              </a:solidFill>
              <a:effectLst/>
              <a:latin typeface="system-ui"/>
            </a:endParaRPr>
          </a:p>
          <a:p>
            <a:pPr algn="l">
              <a:buFont typeface="Arial" panose="020B0604020202020204" pitchFamily="34" charset="0"/>
              <a:buChar char="•"/>
            </a:pPr>
            <a:r>
              <a:rPr lang="en-US" b="0" i="0" dirty="0">
                <a:solidFill>
                  <a:srgbClr val="1D1D1F"/>
                </a:solidFill>
                <a:effectLst/>
                <a:latin typeface="system-ui"/>
              </a:rPr>
              <a:t>Gradual, steady upward trend</a:t>
            </a:r>
          </a:p>
          <a:p>
            <a:pPr algn="l">
              <a:buFont typeface="Arial" panose="020B0604020202020204" pitchFamily="34" charset="0"/>
              <a:buChar char="•"/>
            </a:pPr>
            <a:r>
              <a:rPr lang="en-US" b="0" i="0" dirty="0">
                <a:solidFill>
                  <a:srgbClr val="1D1D1F"/>
                </a:solidFill>
                <a:effectLst/>
                <a:latin typeface="system-ui"/>
              </a:rPr>
              <a:t>Some volatility around 2015-2016</a:t>
            </a:r>
          </a:p>
          <a:p>
            <a:pPr algn="l">
              <a:buNone/>
            </a:pPr>
            <a:r>
              <a:rPr lang="en-US" b="1" i="0" dirty="0">
                <a:solidFill>
                  <a:srgbClr val="1D1D1F"/>
                </a:solidFill>
                <a:effectLst/>
                <a:latin typeface="system-ui"/>
              </a:rPr>
              <a:t>4. COVID-19 Era Surge (2020-2022)</a:t>
            </a:r>
            <a:endParaRPr lang="en-US" b="0" i="0" dirty="0">
              <a:solidFill>
                <a:srgbClr val="1D1D1F"/>
              </a:solidFill>
              <a:effectLst/>
              <a:latin typeface="system-ui"/>
            </a:endParaRPr>
          </a:p>
          <a:p>
            <a:pPr algn="l">
              <a:buFont typeface="Arial" panose="020B0604020202020204" pitchFamily="34" charset="0"/>
              <a:buChar char="•"/>
            </a:pPr>
            <a:r>
              <a:rPr lang="en-US" b="0" i="0" dirty="0">
                <a:solidFill>
                  <a:srgbClr val="1D1D1F"/>
                </a:solidFill>
                <a:effectLst/>
                <a:latin typeface="system-ui"/>
              </a:rPr>
              <a:t>Sharp acceleration from 2020</a:t>
            </a:r>
          </a:p>
          <a:p>
            <a:pPr algn="l">
              <a:buFont typeface="Arial" panose="020B0604020202020204" pitchFamily="34" charset="0"/>
              <a:buChar char="•"/>
            </a:pPr>
            <a:r>
              <a:rPr lang="en-US" b="0" i="0" dirty="0">
                <a:solidFill>
                  <a:srgbClr val="1D1D1F"/>
                </a:solidFill>
                <a:effectLst/>
                <a:latin typeface="system-ui"/>
              </a:rPr>
              <a:t>Peak around 2022 at highest level (~800+ real price)</a:t>
            </a:r>
          </a:p>
          <a:p>
            <a:pPr algn="l">
              <a:buFont typeface="Arial" panose="020B0604020202020204" pitchFamily="34" charset="0"/>
              <a:buChar char="•"/>
            </a:pPr>
            <a:r>
              <a:rPr lang="en-US" b="0" i="0" dirty="0">
                <a:solidFill>
                  <a:srgbClr val="1D1D1F"/>
                </a:solidFill>
                <a:effectLst/>
                <a:latin typeface="system-ui"/>
              </a:rPr>
              <a:t>Subsequent decline and volatility through 2024</a:t>
            </a:r>
          </a:p>
          <a:p>
            <a:endParaRPr lang="en-CA" dirty="0"/>
          </a:p>
        </p:txBody>
      </p:sp>
      <p:sp>
        <p:nvSpPr>
          <p:cNvPr id="4" name="Footer Placeholder 3">
            <a:extLst>
              <a:ext uri="{FF2B5EF4-FFF2-40B4-BE49-F238E27FC236}">
                <a16:creationId xmlns:a16="http://schemas.microsoft.com/office/drawing/2014/main" id="{005BDDA5-12F9-0049-ED95-EF957E4882FA}"/>
              </a:ext>
            </a:extLst>
          </p:cNvPr>
          <p:cNvSpPr>
            <a:spLocks noGrp="1"/>
          </p:cNvSpPr>
          <p:nvPr>
            <p:ph type="ftr" sz="quarter" idx="11"/>
          </p:nvPr>
        </p:nvSpPr>
        <p:spPr/>
        <p:txBody>
          <a:bodyPr/>
          <a:lstStyle/>
          <a:p>
            <a:r>
              <a:rPr lang="en-US"/>
              <a:t>Lecturer at George Brown College and Ontario Tech university</a:t>
            </a:r>
            <a:endParaRPr lang="en-CA"/>
          </a:p>
        </p:txBody>
      </p:sp>
      <p:pic>
        <p:nvPicPr>
          <p:cNvPr id="5" name="Picture 4">
            <a:extLst>
              <a:ext uri="{FF2B5EF4-FFF2-40B4-BE49-F238E27FC236}">
                <a16:creationId xmlns:a16="http://schemas.microsoft.com/office/drawing/2014/main" id="{9EB561E2-0899-9129-0517-01366A22E96C}"/>
              </a:ext>
            </a:extLst>
          </p:cNvPr>
          <p:cNvPicPr>
            <a:picLocks noChangeAspect="1"/>
          </p:cNvPicPr>
          <p:nvPr/>
        </p:nvPicPr>
        <p:blipFill>
          <a:blip r:embed="rId2"/>
          <a:stretch>
            <a:fillRect/>
          </a:stretch>
        </p:blipFill>
        <p:spPr>
          <a:xfrm>
            <a:off x="838200" y="421301"/>
            <a:ext cx="1707028" cy="1213209"/>
          </a:xfrm>
          <a:prstGeom prst="rect">
            <a:avLst/>
          </a:prstGeom>
        </p:spPr>
      </p:pic>
      <p:pic>
        <p:nvPicPr>
          <p:cNvPr id="6" name="Picture 5">
            <a:extLst>
              <a:ext uri="{FF2B5EF4-FFF2-40B4-BE49-F238E27FC236}">
                <a16:creationId xmlns:a16="http://schemas.microsoft.com/office/drawing/2014/main" id="{92E35236-8EE0-CA03-F752-5FF137914B45}"/>
              </a:ext>
            </a:extLst>
          </p:cNvPr>
          <p:cNvPicPr>
            <a:picLocks noChangeAspect="1"/>
          </p:cNvPicPr>
          <p:nvPr/>
        </p:nvPicPr>
        <p:blipFill>
          <a:blip r:embed="rId3"/>
          <a:stretch>
            <a:fillRect/>
          </a:stretch>
        </p:blipFill>
        <p:spPr>
          <a:xfrm>
            <a:off x="200924" y="5701434"/>
            <a:ext cx="1761897" cy="951058"/>
          </a:xfrm>
          <a:prstGeom prst="rect">
            <a:avLst/>
          </a:prstGeom>
        </p:spPr>
      </p:pic>
    </p:spTree>
    <p:extLst>
      <p:ext uri="{BB962C8B-B14F-4D97-AF65-F5344CB8AC3E}">
        <p14:creationId xmlns:p14="http://schemas.microsoft.com/office/powerpoint/2010/main" val="3502545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DF84E-1A8D-16FA-0583-6FA320C5DC6C}"/>
              </a:ext>
            </a:extLst>
          </p:cNvPr>
          <p:cNvSpPr>
            <a:spLocks noGrp="1"/>
          </p:cNvSpPr>
          <p:nvPr>
            <p:ph type="title"/>
          </p:nvPr>
        </p:nvSpPr>
        <p:spPr/>
        <p:txBody>
          <a:bodyPr/>
          <a:lstStyle/>
          <a:p>
            <a:endParaRPr lang="en-CA"/>
          </a:p>
        </p:txBody>
      </p:sp>
      <p:graphicFrame>
        <p:nvGraphicFramePr>
          <p:cNvPr id="5" name="Content Placeholder 4">
            <a:extLst>
              <a:ext uri="{FF2B5EF4-FFF2-40B4-BE49-F238E27FC236}">
                <a16:creationId xmlns:a16="http://schemas.microsoft.com/office/drawing/2014/main" id="{79BE0C39-2E9D-246C-9F36-78DA1594DDD2}"/>
              </a:ext>
            </a:extLst>
          </p:cNvPr>
          <p:cNvGraphicFramePr>
            <a:graphicFrameLocks noGrp="1"/>
          </p:cNvGraphicFramePr>
          <p:nvPr>
            <p:ph idx="1"/>
            <p:extLst>
              <p:ext uri="{D42A27DB-BD31-4B8C-83A1-F6EECF244321}">
                <p14:modId xmlns:p14="http://schemas.microsoft.com/office/powerpoint/2010/main" val="3979246698"/>
              </p:ext>
            </p:extLst>
          </p:nvPr>
        </p:nvGraphicFramePr>
        <p:xfrm>
          <a:off x="706582" y="2858294"/>
          <a:ext cx="10647218" cy="2286000"/>
        </p:xfrm>
        <a:graphic>
          <a:graphicData uri="http://schemas.openxmlformats.org/drawingml/2006/table">
            <a:tbl>
              <a:tblPr/>
              <a:tblGrid>
                <a:gridCol w="2760518">
                  <a:extLst>
                    <a:ext uri="{9D8B030D-6E8A-4147-A177-3AD203B41FA5}">
                      <a16:colId xmlns:a16="http://schemas.microsoft.com/office/drawing/2014/main" val="313516710"/>
                    </a:ext>
                  </a:extLst>
                </a:gridCol>
                <a:gridCol w="2628900">
                  <a:extLst>
                    <a:ext uri="{9D8B030D-6E8A-4147-A177-3AD203B41FA5}">
                      <a16:colId xmlns:a16="http://schemas.microsoft.com/office/drawing/2014/main" val="2667241460"/>
                    </a:ext>
                  </a:extLst>
                </a:gridCol>
                <a:gridCol w="2628900">
                  <a:extLst>
                    <a:ext uri="{9D8B030D-6E8A-4147-A177-3AD203B41FA5}">
                      <a16:colId xmlns:a16="http://schemas.microsoft.com/office/drawing/2014/main" val="201624837"/>
                    </a:ext>
                  </a:extLst>
                </a:gridCol>
                <a:gridCol w="2628900">
                  <a:extLst>
                    <a:ext uri="{9D8B030D-6E8A-4147-A177-3AD203B41FA5}">
                      <a16:colId xmlns:a16="http://schemas.microsoft.com/office/drawing/2014/main" val="1600266197"/>
                    </a:ext>
                  </a:extLst>
                </a:gridCol>
              </a:tblGrid>
              <a:tr h="0">
                <a:tc>
                  <a:txBody>
                    <a:bodyPr/>
                    <a:lstStyle/>
                    <a:p>
                      <a:pPr>
                        <a:buNone/>
                      </a:pPr>
                      <a:r>
                        <a:rPr lang="en-CA"/>
                        <a:t>Market Episode</a:t>
                      </a:r>
                    </a:p>
                  </a:txBody>
                  <a:tcPr anchor="ctr">
                    <a:lnL>
                      <a:noFill/>
                    </a:lnL>
                    <a:lnR>
                      <a:noFill/>
                    </a:lnR>
                    <a:lnT>
                      <a:noFill/>
                    </a:lnT>
                    <a:lnB>
                      <a:noFill/>
                    </a:lnB>
                    <a:noFill/>
                  </a:tcPr>
                </a:tc>
                <a:tc>
                  <a:txBody>
                    <a:bodyPr/>
                    <a:lstStyle/>
                    <a:p>
                      <a:pPr>
                        <a:buNone/>
                      </a:pPr>
                      <a:r>
                        <a:rPr lang="en-CA"/>
                        <a:t>GSADF Statistic</a:t>
                      </a:r>
                    </a:p>
                  </a:txBody>
                  <a:tcPr anchor="ctr">
                    <a:lnL>
                      <a:noFill/>
                    </a:lnL>
                    <a:lnR>
                      <a:noFill/>
                    </a:lnR>
                    <a:lnT>
                      <a:noFill/>
                    </a:lnT>
                    <a:lnB>
                      <a:noFill/>
                    </a:lnB>
                    <a:noFill/>
                  </a:tcPr>
                </a:tc>
                <a:tc>
                  <a:txBody>
                    <a:bodyPr/>
                    <a:lstStyle/>
                    <a:p>
                      <a:pPr>
                        <a:buNone/>
                      </a:pPr>
                      <a:r>
                        <a:rPr lang="en-CA"/>
                        <a:t>95% Critical Value</a:t>
                      </a:r>
                    </a:p>
                  </a:txBody>
                  <a:tcPr anchor="ctr">
                    <a:lnL>
                      <a:noFill/>
                    </a:lnL>
                    <a:lnR>
                      <a:noFill/>
                    </a:lnR>
                    <a:lnT>
                      <a:noFill/>
                    </a:lnT>
                    <a:lnB>
                      <a:noFill/>
                    </a:lnB>
                    <a:noFill/>
                  </a:tcPr>
                </a:tc>
                <a:tc>
                  <a:txBody>
                    <a:bodyPr/>
                    <a:lstStyle/>
                    <a:p>
                      <a:pPr>
                        <a:buNone/>
                      </a:pPr>
                      <a:r>
                        <a:rPr lang="en-CA"/>
                        <a:t>Statistical Result</a:t>
                      </a:r>
                    </a:p>
                  </a:txBody>
                  <a:tcPr anchor="ctr">
                    <a:lnL>
                      <a:noFill/>
                    </a:lnL>
                    <a:lnR>
                      <a:noFill/>
                    </a:lnR>
                    <a:lnT>
                      <a:noFill/>
                    </a:lnT>
                    <a:lnB>
                      <a:noFill/>
                    </a:lnB>
                    <a:noFill/>
                  </a:tcPr>
                </a:tc>
                <a:extLst>
                  <a:ext uri="{0D108BD9-81ED-4DB2-BD59-A6C34878D82A}">
                    <a16:rowId xmlns:a16="http://schemas.microsoft.com/office/drawing/2014/main" val="3498369859"/>
                  </a:ext>
                </a:extLst>
              </a:tr>
              <a:tr h="0">
                <a:tc>
                  <a:txBody>
                    <a:bodyPr/>
                    <a:lstStyle/>
                    <a:p>
                      <a:pPr>
                        <a:buNone/>
                      </a:pPr>
                      <a:r>
                        <a:rPr lang="en-CA" b="1"/>
                        <a:t>2000 Dot-com Peak</a:t>
                      </a:r>
                      <a:endParaRPr lang="en-CA"/>
                    </a:p>
                  </a:txBody>
                  <a:tcPr anchor="ctr">
                    <a:lnL>
                      <a:noFill/>
                    </a:lnL>
                    <a:lnR>
                      <a:noFill/>
                    </a:lnR>
                    <a:lnT>
                      <a:noFill/>
                    </a:lnT>
                    <a:lnB>
                      <a:noFill/>
                    </a:lnB>
                    <a:noFill/>
                  </a:tcPr>
                </a:tc>
                <a:tc>
                  <a:txBody>
                    <a:bodyPr/>
                    <a:lstStyle/>
                    <a:p>
                      <a:pPr>
                        <a:buNone/>
                      </a:pPr>
                      <a:r>
                        <a:rPr lang="en-CA" b="1"/>
                        <a:t>4.50</a:t>
                      </a:r>
                      <a:endParaRPr lang="en-CA"/>
                    </a:p>
                  </a:txBody>
                  <a:tcPr anchor="ctr">
                    <a:lnL>
                      <a:noFill/>
                    </a:lnL>
                    <a:lnR>
                      <a:noFill/>
                    </a:lnR>
                    <a:lnT>
                      <a:noFill/>
                    </a:lnT>
                    <a:lnB>
                      <a:noFill/>
                    </a:lnB>
                    <a:noFill/>
                  </a:tcPr>
                </a:tc>
                <a:tc>
                  <a:txBody>
                    <a:bodyPr/>
                    <a:lstStyle/>
                    <a:p>
                      <a:pPr>
                        <a:buNone/>
                      </a:pPr>
                      <a:r>
                        <a:rPr lang="en-CA"/>
                        <a:t>2.14</a:t>
                      </a:r>
                    </a:p>
                  </a:txBody>
                  <a:tcPr anchor="ctr">
                    <a:lnL>
                      <a:noFill/>
                    </a:lnL>
                    <a:lnR>
                      <a:noFill/>
                    </a:lnR>
                    <a:lnT>
                      <a:noFill/>
                    </a:lnT>
                    <a:lnB>
                      <a:noFill/>
                    </a:lnB>
                    <a:noFill/>
                  </a:tcPr>
                </a:tc>
                <a:tc>
                  <a:txBody>
                    <a:bodyPr/>
                    <a:lstStyle/>
                    <a:p>
                      <a:pPr>
                        <a:buNone/>
                      </a:pPr>
                      <a:r>
                        <a:rPr lang="en-CA" b="1"/>
                        <a:t>Explosive Behavior Detected</a:t>
                      </a:r>
                      <a:endParaRPr lang="en-CA"/>
                    </a:p>
                  </a:txBody>
                  <a:tcPr anchor="ctr">
                    <a:lnL>
                      <a:noFill/>
                    </a:lnL>
                    <a:lnR>
                      <a:noFill/>
                    </a:lnR>
                    <a:lnT>
                      <a:noFill/>
                    </a:lnT>
                    <a:lnB>
                      <a:noFill/>
                    </a:lnB>
                    <a:noFill/>
                  </a:tcPr>
                </a:tc>
                <a:extLst>
                  <a:ext uri="{0D108BD9-81ED-4DB2-BD59-A6C34878D82A}">
                    <a16:rowId xmlns:a16="http://schemas.microsoft.com/office/drawing/2014/main" val="1879090941"/>
                  </a:ext>
                </a:extLst>
              </a:tr>
              <a:tr h="0">
                <a:tc>
                  <a:txBody>
                    <a:bodyPr/>
                    <a:lstStyle/>
                    <a:p>
                      <a:pPr>
                        <a:buNone/>
                      </a:pPr>
                      <a:r>
                        <a:rPr lang="en-CA" b="1"/>
                        <a:t>2008 Subprime</a:t>
                      </a:r>
                      <a:endParaRPr lang="en-CA"/>
                    </a:p>
                  </a:txBody>
                  <a:tcPr anchor="ctr">
                    <a:lnL>
                      <a:noFill/>
                    </a:lnL>
                    <a:lnR>
                      <a:noFill/>
                    </a:lnR>
                    <a:lnT>
                      <a:noFill/>
                    </a:lnT>
                    <a:lnB>
                      <a:noFill/>
                    </a:lnB>
                    <a:noFill/>
                  </a:tcPr>
                </a:tc>
                <a:tc>
                  <a:txBody>
                    <a:bodyPr/>
                    <a:lstStyle/>
                    <a:p>
                      <a:pPr>
                        <a:buNone/>
                      </a:pPr>
                      <a:r>
                        <a:rPr lang="en-CA" b="1"/>
                        <a:t>3.20</a:t>
                      </a:r>
                      <a:endParaRPr lang="en-CA"/>
                    </a:p>
                  </a:txBody>
                  <a:tcPr anchor="ctr">
                    <a:lnL>
                      <a:noFill/>
                    </a:lnL>
                    <a:lnR>
                      <a:noFill/>
                    </a:lnR>
                    <a:lnT>
                      <a:noFill/>
                    </a:lnT>
                    <a:lnB>
                      <a:noFill/>
                    </a:lnB>
                    <a:noFill/>
                  </a:tcPr>
                </a:tc>
                <a:tc>
                  <a:txBody>
                    <a:bodyPr/>
                    <a:lstStyle/>
                    <a:p>
                      <a:pPr>
                        <a:buNone/>
                      </a:pPr>
                      <a:r>
                        <a:rPr lang="en-CA"/>
                        <a:t>2.14</a:t>
                      </a:r>
                    </a:p>
                  </a:txBody>
                  <a:tcPr anchor="ctr">
                    <a:lnL>
                      <a:noFill/>
                    </a:lnL>
                    <a:lnR>
                      <a:noFill/>
                    </a:lnR>
                    <a:lnT>
                      <a:noFill/>
                    </a:lnT>
                    <a:lnB>
                      <a:noFill/>
                    </a:lnB>
                    <a:noFill/>
                  </a:tcPr>
                </a:tc>
                <a:tc>
                  <a:txBody>
                    <a:bodyPr/>
                    <a:lstStyle/>
                    <a:p>
                      <a:pPr>
                        <a:buNone/>
                      </a:pPr>
                      <a:r>
                        <a:rPr lang="en-CA" b="1"/>
                        <a:t>Explosive Behavior Detected</a:t>
                      </a:r>
                      <a:endParaRPr lang="en-CA"/>
                    </a:p>
                  </a:txBody>
                  <a:tcPr anchor="ctr">
                    <a:lnL>
                      <a:noFill/>
                    </a:lnL>
                    <a:lnR>
                      <a:noFill/>
                    </a:lnR>
                    <a:lnT>
                      <a:noFill/>
                    </a:lnT>
                    <a:lnB>
                      <a:noFill/>
                    </a:lnB>
                    <a:noFill/>
                  </a:tcPr>
                </a:tc>
                <a:extLst>
                  <a:ext uri="{0D108BD9-81ED-4DB2-BD59-A6C34878D82A}">
                    <a16:rowId xmlns:a16="http://schemas.microsoft.com/office/drawing/2014/main" val="1226934620"/>
                  </a:ext>
                </a:extLst>
              </a:tr>
              <a:tr h="0">
                <a:tc>
                  <a:txBody>
                    <a:bodyPr/>
                    <a:lstStyle/>
                    <a:p>
                      <a:pPr>
                        <a:buNone/>
                      </a:pPr>
                      <a:r>
                        <a:rPr lang="en-CA" b="1"/>
                        <a:t>2020 COVID Shock</a:t>
                      </a:r>
                      <a:endParaRPr lang="en-CA"/>
                    </a:p>
                  </a:txBody>
                  <a:tcPr anchor="ctr">
                    <a:lnL>
                      <a:noFill/>
                    </a:lnL>
                    <a:lnR>
                      <a:noFill/>
                    </a:lnR>
                    <a:lnT>
                      <a:noFill/>
                    </a:lnT>
                    <a:lnB>
                      <a:noFill/>
                    </a:lnB>
                    <a:noFill/>
                  </a:tcPr>
                </a:tc>
                <a:tc>
                  <a:txBody>
                    <a:bodyPr/>
                    <a:lstStyle/>
                    <a:p>
                      <a:pPr>
                        <a:buNone/>
                      </a:pPr>
                      <a:r>
                        <a:rPr lang="en-CA" b="1"/>
                        <a:t>2.85</a:t>
                      </a:r>
                      <a:endParaRPr lang="en-CA"/>
                    </a:p>
                  </a:txBody>
                  <a:tcPr anchor="ctr">
                    <a:lnL>
                      <a:noFill/>
                    </a:lnL>
                    <a:lnR>
                      <a:noFill/>
                    </a:lnR>
                    <a:lnT>
                      <a:noFill/>
                    </a:lnT>
                    <a:lnB>
                      <a:noFill/>
                    </a:lnB>
                    <a:noFill/>
                  </a:tcPr>
                </a:tc>
                <a:tc>
                  <a:txBody>
                    <a:bodyPr/>
                    <a:lstStyle/>
                    <a:p>
                      <a:pPr>
                        <a:buNone/>
                      </a:pPr>
                      <a:r>
                        <a:rPr lang="en-CA"/>
                        <a:t>2.38</a:t>
                      </a:r>
                    </a:p>
                  </a:txBody>
                  <a:tcPr anchor="ctr">
                    <a:lnL>
                      <a:noFill/>
                    </a:lnL>
                    <a:lnR>
                      <a:noFill/>
                    </a:lnR>
                    <a:lnT>
                      <a:noFill/>
                    </a:lnT>
                    <a:lnB>
                      <a:noFill/>
                    </a:lnB>
                    <a:noFill/>
                  </a:tcPr>
                </a:tc>
                <a:tc>
                  <a:txBody>
                    <a:bodyPr/>
                    <a:lstStyle/>
                    <a:p>
                      <a:pPr>
                        <a:buNone/>
                      </a:pPr>
                      <a:r>
                        <a:rPr lang="en-CA" b="1" dirty="0"/>
                        <a:t>Explosive Behavior Detected</a:t>
                      </a:r>
                      <a:endParaRPr lang="en-CA" dirty="0"/>
                    </a:p>
                  </a:txBody>
                  <a:tcPr anchor="ctr">
                    <a:lnL>
                      <a:noFill/>
                    </a:lnL>
                    <a:lnR>
                      <a:noFill/>
                    </a:lnR>
                    <a:lnT>
                      <a:noFill/>
                    </a:lnT>
                    <a:lnB>
                      <a:noFill/>
                    </a:lnB>
                    <a:noFill/>
                  </a:tcPr>
                </a:tc>
                <a:extLst>
                  <a:ext uri="{0D108BD9-81ED-4DB2-BD59-A6C34878D82A}">
                    <a16:rowId xmlns:a16="http://schemas.microsoft.com/office/drawing/2014/main" val="2286031259"/>
                  </a:ext>
                </a:extLst>
              </a:tr>
            </a:tbl>
          </a:graphicData>
        </a:graphic>
      </p:graphicFrame>
      <p:sp>
        <p:nvSpPr>
          <p:cNvPr id="4" name="Footer Placeholder 3">
            <a:extLst>
              <a:ext uri="{FF2B5EF4-FFF2-40B4-BE49-F238E27FC236}">
                <a16:creationId xmlns:a16="http://schemas.microsoft.com/office/drawing/2014/main" id="{A69A636B-075C-9F01-3FC5-B4105F14F03B}"/>
              </a:ext>
            </a:extLst>
          </p:cNvPr>
          <p:cNvSpPr>
            <a:spLocks noGrp="1"/>
          </p:cNvSpPr>
          <p:nvPr>
            <p:ph type="ftr" sz="quarter" idx="11"/>
          </p:nvPr>
        </p:nvSpPr>
        <p:spPr/>
        <p:txBody>
          <a:bodyPr/>
          <a:lstStyle/>
          <a:p>
            <a:r>
              <a:rPr lang="en-US"/>
              <a:t>Lecturer at George Brown College and Ontario Tech university</a:t>
            </a:r>
            <a:endParaRPr lang="en-CA"/>
          </a:p>
        </p:txBody>
      </p:sp>
    </p:spTree>
    <p:extLst>
      <p:ext uri="{BB962C8B-B14F-4D97-AF65-F5344CB8AC3E}">
        <p14:creationId xmlns:p14="http://schemas.microsoft.com/office/powerpoint/2010/main" val="15174961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2B56E-7E49-7B97-3AF1-31B94CD645C4}"/>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00C4A8A6-A2CD-776A-F6EA-18369AF456F4}"/>
              </a:ext>
            </a:extLst>
          </p:cNvPr>
          <p:cNvSpPr>
            <a:spLocks noGrp="1"/>
          </p:cNvSpPr>
          <p:nvPr>
            <p:ph idx="1"/>
          </p:nvPr>
        </p:nvSpPr>
        <p:spPr/>
        <p:txBody>
          <a:bodyPr/>
          <a:lstStyle/>
          <a:p>
            <a:r>
              <a:rPr lang="en-US" dirty="0"/>
              <a:t>"The GSADF is powerful because it detects the 2000, 2008, and 2020 episodes. However, the different values (4.50 vs 3.20 vs 2.85) show that every 'explosion' has a different cause—be it Tech Mania, Credit, or </a:t>
            </a:r>
            <a:r>
              <a:rPr lang="en-US" b="1" dirty="0"/>
              <a:t>QE</a:t>
            </a:r>
            <a:r>
              <a:rPr lang="en-US" dirty="0"/>
              <a:t>. Relying on a 'simple' threshold isn't enough; we must look at the </a:t>
            </a:r>
            <a:r>
              <a:rPr lang="en-US" b="1" dirty="0"/>
              <a:t>Momentum</a:t>
            </a:r>
            <a:r>
              <a:rPr lang="en-US" dirty="0"/>
              <a:t> and </a:t>
            </a:r>
            <a:r>
              <a:rPr lang="en-US" b="1" dirty="0"/>
              <a:t>Volatility</a:t>
            </a:r>
            <a:r>
              <a:rPr lang="en-US" dirty="0"/>
              <a:t> behind these numbers to understand the risk."</a:t>
            </a:r>
            <a:endParaRPr lang="en-CA" dirty="0"/>
          </a:p>
        </p:txBody>
      </p:sp>
      <p:sp>
        <p:nvSpPr>
          <p:cNvPr id="4" name="Footer Placeholder 3">
            <a:extLst>
              <a:ext uri="{FF2B5EF4-FFF2-40B4-BE49-F238E27FC236}">
                <a16:creationId xmlns:a16="http://schemas.microsoft.com/office/drawing/2014/main" id="{B800B754-610D-D28F-87A6-018DC49A16AF}"/>
              </a:ext>
            </a:extLst>
          </p:cNvPr>
          <p:cNvSpPr>
            <a:spLocks noGrp="1"/>
          </p:cNvSpPr>
          <p:nvPr>
            <p:ph type="ftr" sz="quarter" idx="11"/>
          </p:nvPr>
        </p:nvSpPr>
        <p:spPr/>
        <p:txBody>
          <a:bodyPr/>
          <a:lstStyle/>
          <a:p>
            <a:r>
              <a:rPr lang="en-US"/>
              <a:t>Lecturer at George Brown College and Ontario Tech university</a:t>
            </a:r>
            <a:endParaRPr lang="en-CA"/>
          </a:p>
        </p:txBody>
      </p:sp>
      <p:pic>
        <p:nvPicPr>
          <p:cNvPr id="5" name="Picture 4">
            <a:extLst>
              <a:ext uri="{FF2B5EF4-FFF2-40B4-BE49-F238E27FC236}">
                <a16:creationId xmlns:a16="http://schemas.microsoft.com/office/drawing/2014/main" id="{ABA7C84D-E866-7754-91E0-49F433B72FC4}"/>
              </a:ext>
            </a:extLst>
          </p:cNvPr>
          <p:cNvPicPr>
            <a:picLocks noChangeAspect="1"/>
          </p:cNvPicPr>
          <p:nvPr/>
        </p:nvPicPr>
        <p:blipFill>
          <a:blip r:embed="rId2"/>
          <a:stretch>
            <a:fillRect/>
          </a:stretch>
        </p:blipFill>
        <p:spPr>
          <a:xfrm>
            <a:off x="200924" y="5701434"/>
            <a:ext cx="1761897" cy="951058"/>
          </a:xfrm>
          <a:prstGeom prst="rect">
            <a:avLst/>
          </a:prstGeom>
        </p:spPr>
      </p:pic>
      <p:pic>
        <p:nvPicPr>
          <p:cNvPr id="6" name="Picture 5">
            <a:extLst>
              <a:ext uri="{FF2B5EF4-FFF2-40B4-BE49-F238E27FC236}">
                <a16:creationId xmlns:a16="http://schemas.microsoft.com/office/drawing/2014/main" id="{7109AB4E-822E-F74D-EA6E-486B2373AF56}"/>
              </a:ext>
            </a:extLst>
          </p:cNvPr>
          <p:cNvPicPr>
            <a:picLocks noChangeAspect="1"/>
          </p:cNvPicPr>
          <p:nvPr/>
        </p:nvPicPr>
        <p:blipFill>
          <a:blip r:embed="rId3"/>
          <a:stretch>
            <a:fillRect/>
          </a:stretch>
        </p:blipFill>
        <p:spPr>
          <a:xfrm>
            <a:off x="838200" y="421301"/>
            <a:ext cx="1707028" cy="1213209"/>
          </a:xfrm>
          <a:prstGeom prst="rect">
            <a:avLst/>
          </a:prstGeom>
        </p:spPr>
      </p:pic>
    </p:spTree>
    <p:extLst>
      <p:ext uri="{BB962C8B-B14F-4D97-AF65-F5344CB8AC3E}">
        <p14:creationId xmlns:p14="http://schemas.microsoft.com/office/powerpoint/2010/main" val="39372382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54555-CDF5-E372-9026-5B4224EB57E7}"/>
              </a:ext>
            </a:extLst>
          </p:cNvPr>
          <p:cNvSpPr>
            <a:spLocks noGrp="1"/>
          </p:cNvSpPr>
          <p:nvPr>
            <p:ph type="title"/>
          </p:nvPr>
        </p:nvSpPr>
        <p:spPr/>
        <p:txBody>
          <a:bodyPr/>
          <a:lstStyle/>
          <a:p>
            <a:pPr algn="ctr"/>
            <a:r>
              <a:rPr lang="en-CA" dirty="0"/>
              <a:t>Proposed Hybrid Framework</a:t>
            </a:r>
          </a:p>
        </p:txBody>
      </p:sp>
      <p:sp>
        <p:nvSpPr>
          <p:cNvPr id="3" name="Content Placeholder 2">
            <a:extLst>
              <a:ext uri="{FF2B5EF4-FFF2-40B4-BE49-F238E27FC236}">
                <a16:creationId xmlns:a16="http://schemas.microsoft.com/office/drawing/2014/main" id="{4C3CBE73-D944-D35A-D93F-5F3746C44EAE}"/>
              </a:ext>
            </a:extLst>
          </p:cNvPr>
          <p:cNvSpPr>
            <a:spLocks noGrp="1"/>
          </p:cNvSpPr>
          <p:nvPr>
            <p:ph idx="1"/>
          </p:nvPr>
        </p:nvSpPr>
        <p:spPr/>
        <p:txBody>
          <a:bodyPr>
            <a:normAutofit fontScale="92500"/>
          </a:bodyPr>
          <a:lstStyle/>
          <a:p>
            <a:r>
              <a:rPr lang="en-US" dirty="0"/>
              <a:t>Layer 1 (Econometrics): GSADF identifies potential explosive price data.</a:t>
            </a:r>
          </a:p>
          <a:p>
            <a:r>
              <a:rPr lang="en-US" dirty="0"/>
              <a:t>Layer 2 (Machine Learning): Non-linear ML layer verifies if the signal is a "bubble" or "justified growth.“</a:t>
            </a:r>
          </a:p>
          <a:p>
            <a:r>
              <a:rPr lang="en-US" dirty="0"/>
              <a:t>Deep Learning called </a:t>
            </a:r>
            <a:r>
              <a:rPr lang="en-US" b="1" dirty="0"/>
              <a:t>Long Short-Term Memory (LSTM)</a:t>
            </a:r>
            <a:r>
              <a:rPr lang="en-US" dirty="0"/>
              <a:t>, which is a specialized version of a </a:t>
            </a:r>
            <a:r>
              <a:rPr lang="en-US" b="1" dirty="0"/>
              <a:t>Recurrent Neural Network (RNN)</a:t>
            </a:r>
            <a:r>
              <a:rPr lang="en-US" dirty="0"/>
              <a:t>.</a:t>
            </a:r>
          </a:p>
          <a:p>
            <a:r>
              <a:rPr lang="en-US" dirty="0"/>
              <a:t>Benefits: Moves from linear logic to adaptive, multi-signal validation.</a:t>
            </a:r>
          </a:p>
          <a:p>
            <a:r>
              <a:rPr lang="en-US" dirty="0"/>
              <a:t>While the GSADF is a binary statistical "switch," your ML layer provides a </a:t>
            </a:r>
            <a:r>
              <a:rPr lang="en-US" b="1" dirty="0"/>
              <a:t>probability</a:t>
            </a:r>
            <a:r>
              <a:rPr lang="en-US" dirty="0"/>
              <a:t> and an </a:t>
            </a:r>
            <a:r>
              <a:rPr lang="en-US" b="1" dirty="0"/>
              <a:t>optimized threshold</a:t>
            </a:r>
            <a:r>
              <a:rPr lang="en-US" dirty="0"/>
              <a:t> for decision-making.</a:t>
            </a:r>
            <a:endParaRPr lang="en-CA" dirty="0"/>
          </a:p>
        </p:txBody>
      </p:sp>
      <p:pic>
        <p:nvPicPr>
          <p:cNvPr id="4" name="Picture 3">
            <a:extLst>
              <a:ext uri="{FF2B5EF4-FFF2-40B4-BE49-F238E27FC236}">
                <a16:creationId xmlns:a16="http://schemas.microsoft.com/office/drawing/2014/main" id="{F46CB778-8431-B3BA-DBAD-F8125B6CD417}"/>
              </a:ext>
            </a:extLst>
          </p:cNvPr>
          <p:cNvPicPr>
            <a:picLocks noChangeAspect="1"/>
          </p:cNvPicPr>
          <p:nvPr/>
        </p:nvPicPr>
        <p:blipFill>
          <a:blip r:embed="rId2"/>
          <a:stretch>
            <a:fillRect/>
          </a:stretch>
        </p:blipFill>
        <p:spPr>
          <a:xfrm>
            <a:off x="621325" y="477479"/>
            <a:ext cx="1707028" cy="1213209"/>
          </a:xfrm>
          <a:prstGeom prst="rect">
            <a:avLst/>
          </a:prstGeom>
        </p:spPr>
      </p:pic>
      <p:pic>
        <p:nvPicPr>
          <p:cNvPr id="5" name="Picture 4">
            <a:extLst>
              <a:ext uri="{FF2B5EF4-FFF2-40B4-BE49-F238E27FC236}">
                <a16:creationId xmlns:a16="http://schemas.microsoft.com/office/drawing/2014/main" id="{9E880D9C-11D3-1D14-5076-F3D8C026A505}"/>
              </a:ext>
            </a:extLst>
          </p:cNvPr>
          <p:cNvPicPr>
            <a:picLocks noChangeAspect="1"/>
          </p:cNvPicPr>
          <p:nvPr/>
        </p:nvPicPr>
        <p:blipFill>
          <a:blip r:embed="rId3"/>
          <a:stretch>
            <a:fillRect/>
          </a:stretch>
        </p:blipFill>
        <p:spPr>
          <a:xfrm>
            <a:off x="838200" y="5328887"/>
            <a:ext cx="1761897" cy="951058"/>
          </a:xfrm>
          <a:prstGeom prst="rect">
            <a:avLst/>
          </a:prstGeom>
        </p:spPr>
      </p:pic>
      <p:sp>
        <p:nvSpPr>
          <p:cNvPr id="6" name="Footer Placeholder 5">
            <a:extLst>
              <a:ext uri="{FF2B5EF4-FFF2-40B4-BE49-F238E27FC236}">
                <a16:creationId xmlns:a16="http://schemas.microsoft.com/office/drawing/2014/main" id="{7FA0FB7B-2917-A4BE-ADF4-E714436F9D09}"/>
              </a:ext>
            </a:extLst>
          </p:cNvPr>
          <p:cNvSpPr>
            <a:spLocks noGrp="1"/>
          </p:cNvSpPr>
          <p:nvPr>
            <p:ph type="ftr" sz="quarter" idx="11"/>
          </p:nvPr>
        </p:nvSpPr>
        <p:spPr/>
        <p:txBody>
          <a:bodyPr/>
          <a:lstStyle/>
          <a:p>
            <a:r>
              <a:rPr lang="en-US"/>
              <a:t>Lecturer at George Brown College and Ontario Tech university</a:t>
            </a:r>
            <a:endParaRPr lang="en-CA"/>
          </a:p>
        </p:txBody>
      </p:sp>
    </p:spTree>
    <p:extLst>
      <p:ext uri="{BB962C8B-B14F-4D97-AF65-F5344CB8AC3E}">
        <p14:creationId xmlns:p14="http://schemas.microsoft.com/office/powerpoint/2010/main" val="170581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288F4-1854-F4FC-366E-789A217F1D67}"/>
              </a:ext>
            </a:extLst>
          </p:cNvPr>
          <p:cNvSpPr>
            <a:spLocks noGrp="1"/>
          </p:cNvSpPr>
          <p:nvPr>
            <p:ph type="title"/>
          </p:nvPr>
        </p:nvSpPr>
        <p:spPr/>
        <p:txBody>
          <a:bodyPr/>
          <a:lstStyle/>
          <a:p>
            <a:r>
              <a:rPr lang="en-US" dirty="0"/>
              <a:t>ML Layer Results for Historical Episodes</a:t>
            </a:r>
            <a:endParaRPr lang="en-CA" dirty="0"/>
          </a:p>
        </p:txBody>
      </p:sp>
      <p:graphicFrame>
        <p:nvGraphicFramePr>
          <p:cNvPr id="5" name="Content Placeholder 4">
            <a:extLst>
              <a:ext uri="{FF2B5EF4-FFF2-40B4-BE49-F238E27FC236}">
                <a16:creationId xmlns:a16="http://schemas.microsoft.com/office/drawing/2014/main" id="{ACE64B59-DC98-D413-B5FB-423D495CEED3}"/>
              </a:ext>
            </a:extLst>
          </p:cNvPr>
          <p:cNvGraphicFramePr>
            <a:graphicFrameLocks noGrp="1"/>
          </p:cNvGraphicFramePr>
          <p:nvPr>
            <p:ph idx="1"/>
          </p:nvPr>
        </p:nvGraphicFramePr>
        <p:xfrm>
          <a:off x="838200" y="3269774"/>
          <a:ext cx="10515600" cy="1463040"/>
        </p:xfrm>
        <a:graphic>
          <a:graphicData uri="http://schemas.openxmlformats.org/drawingml/2006/table">
            <a:tbl>
              <a:tblPr/>
              <a:tblGrid>
                <a:gridCol w="2628900">
                  <a:extLst>
                    <a:ext uri="{9D8B030D-6E8A-4147-A177-3AD203B41FA5}">
                      <a16:colId xmlns:a16="http://schemas.microsoft.com/office/drawing/2014/main" val="1450035697"/>
                    </a:ext>
                  </a:extLst>
                </a:gridCol>
                <a:gridCol w="2628900">
                  <a:extLst>
                    <a:ext uri="{9D8B030D-6E8A-4147-A177-3AD203B41FA5}">
                      <a16:colId xmlns:a16="http://schemas.microsoft.com/office/drawing/2014/main" val="2656090558"/>
                    </a:ext>
                  </a:extLst>
                </a:gridCol>
                <a:gridCol w="2628900">
                  <a:extLst>
                    <a:ext uri="{9D8B030D-6E8A-4147-A177-3AD203B41FA5}">
                      <a16:colId xmlns:a16="http://schemas.microsoft.com/office/drawing/2014/main" val="752987993"/>
                    </a:ext>
                  </a:extLst>
                </a:gridCol>
                <a:gridCol w="2628900">
                  <a:extLst>
                    <a:ext uri="{9D8B030D-6E8A-4147-A177-3AD203B41FA5}">
                      <a16:colId xmlns:a16="http://schemas.microsoft.com/office/drawing/2014/main" val="4267034216"/>
                    </a:ext>
                  </a:extLst>
                </a:gridCol>
              </a:tblGrid>
              <a:tr h="0">
                <a:tc>
                  <a:txBody>
                    <a:bodyPr/>
                    <a:lstStyle/>
                    <a:p>
                      <a:pPr>
                        <a:buNone/>
                      </a:pPr>
                      <a:r>
                        <a:rPr lang="en-CA" b="1">
                          <a:effectLst/>
                          <a:latin typeface="Google Sans Text"/>
                        </a:rPr>
                        <a:t>Market Episode</a:t>
                      </a:r>
                      <a:endParaRPr lang="en-CA">
                        <a:effectLst/>
                        <a:latin typeface="Google Sans Tex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n-CA" b="1">
                          <a:effectLst/>
                          <a:latin typeface="Google Sans Text"/>
                        </a:rPr>
                        <a:t>ML Probability Score</a:t>
                      </a:r>
                      <a:endParaRPr lang="en-CA">
                        <a:effectLst/>
                        <a:latin typeface="Google Sans Tex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n-CA" b="1">
                          <a:effectLst/>
                          <a:latin typeface="Google Sans Text"/>
                        </a:rPr>
                        <a:t>Threshold (0.42)</a:t>
                      </a:r>
                      <a:endParaRPr lang="en-CA">
                        <a:effectLst/>
                        <a:latin typeface="Google Sans Tex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n-CA" b="1">
                          <a:effectLst/>
                          <a:latin typeface="Google Sans Text"/>
                        </a:rPr>
                        <a:t>ML Result</a:t>
                      </a:r>
                      <a:endParaRPr lang="en-CA">
                        <a:effectLst/>
                        <a:latin typeface="Google Sans Tex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698917876"/>
                  </a:ext>
                </a:extLst>
              </a:tr>
              <a:tr h="0">
                <a:tc>
                  <a:txBody>
                    <a:bodyPr/>
                    <a:lstStyle/>
                    <a:p>
                      <a:pPr>
                        <a:buNone/>
                      </a:pPr>
                      <a:r>
                        <a:rPr lang="en-CA" b="1">
                          <a:effectLst/>
                          <a:latin typeface="Google Sans Text"/>
                        </a:rPr>
                        <a:t>2000 Dot-com</a:t>
                      </a:r>
                      <a:endParaRPr lang="en-CA">
                        <a:effectLst/>
                        <a:latin typeface="Google Sans Tex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n-CA" b="1">
                          <a:effectLst/>
                          <a:latin typeface="Google Sans Text"/>
                        </a:rPr>
                        <a:t>98.2%</a:t>
                      </a:r>
                      <a:endParaRPr lang="en-CA">
                        <a:effectLst/>
                        <a:latin typeface="Google Sans Tex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n-CA">
                          <a:effectLst/>
                          <a:latin typeface="Google Sans Text"/>
                        </a:rPr>
                        <a:t>Exceeded</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n-CA" b="1">
                          <a:effectLst/>
                          <a:latin typeface="Google Sans Text"/>
                        </a:rPr>
                        <a:t>High Risk Signal</a:t>
                      </a:r>
                      <a:endParaRPr lang="en-CA">
                        <a:effectLst/>
                        <a:latin typeface="Google Sans Tex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27805857"/>
                  </a:ext>
                </a:extLst>
              </a:tr>
              <a:tr h="0">
                <a:tc>
                  <a:txBody>
                    <a:bodyPr/>
                    <a:lstStyle/>
                    <a:p>
                      <a:pPr>
                        <a:buNone/>
                      </a:pPr>
                      <a:r>
                        <a:rPr lang="en-CA" b="1">
                          <a:effectLst/>
                          <a:latin typeface="Google Sans Text"/>
                        </a:rPr>
                        <a:t>2008 Subprime</a:t>
                      </a:r>
                      <a:endParaRPr lang="en-CA">
                        <a:effectLst/>
                        <a:latin typeface="Google Sans Tex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n-CA" b="1">
                          <a:effectLst/>
                          <a:latin typeface="Google Sans Text"/>
                        </a:rPr>
                        <a:t>74.5%</a:t>
                      </a:r>
                      <a:endParaRPr lang="en-CA">
                        <a:effectLst/>
                        <a:latin typeface="Google Sans Tex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n-CA">
                          <a:effectLst/>
                          <a:latin typeface="Google Sans Text"/>
                        </a:rPr>
                        <a:t>Exceeded</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n-CA" b="1">
                          <a:effectLst/>
                          <a:latin typeface="Google Sans Text"/>
                        </a:rPr>
                        <a:t>Moderate Risk Signal</a:t>
                      </a:r>
                      <a:endParaRPr lang="en-CA">
                        <a:effectLst/>
                        <a:latin typeface="Google Sans Tex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14257111"/>
                  </a:ext>
                </a:extLst>
              </a:tr>
              <a:tr h="0">
                <a:tc>
                  <a:txBody>
                    <a:bodyPr/>
                    <a:lstStyle/>
                    <a:p>
                      <a:pPr>
                        <a:buNone/>
                      </a:pPr>
                      <a:r>
                        <a:rPr lang="en-CA" b="1" dirty="0">
                          <a:effectLst/>
                          <a:latin typeface="Google Sans Text"/>
                        </a:rPr>
                        <a:t>2020 COVID Shock</a:t>
                      </a:r>
                      <a:endParaRPr lang="en-CA" dirty="0">
                        <a:effectLst/>
                        <a:latin typeface="Google Sans Tex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n-CA" b="1">
                          <a:effectLst/>
                          <a:latin typeface="Google Sans Text"/>
                        </a:rPr>
                        <a:t>89.1%</a:t>
                      </a:r>
                      <a:endParaRPr lang="en-CA">
                        <a:effectLst/>
                        <a:latin typeface="Google Sans Tex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n-CA">
                          <a:effectLst/>
                          <a:latin typeface="Google Sans Text"/>
                        </a:rPr>
                        <a:t>Exceeded</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buNone/>
                      </a:pPr>
                      <a:r>
                        <a:rPr lang="en-CA" b="1" dirty="0">
                          <a:effectLst/>
                          <a:latin typeface="Google Sans Text"/>
                        </a:rPr>
                        <a:t>High Risk Signal</a:t>
                      </a:r>
                      <a:endParaRPr lang="en-CA" dirty="0">
                        <a:effectLst/>
                        <a:latin typeface="Google Sans Tex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15227414"/>
                  </a:ext>
                </a:extLst>
              </a:tr>
            </a:tbl>
          </a:graphicData>
        </a:graphic>
      </p:graphicFrame>
      <p:sp>
        <p:nvSpPr>
          <p:cNvPr id="4" name="Footer Placeholder 3">
            <a:extLst>
              <a:ext uri="{FF2B5EF4-FFF2-40B4-BE49-F238E27FC236}">
                <a16:creationId xmlns:a16="http://schemas.microsoft.com/office/drawing/2014/main" id="{7625A385-EC02-79F1-6360-DB2F41264765}"/>
              </a:ext>
            </a:extLst>
          </p:cNvPr>
          <p:cNvSpPr>
            <a:spLocks noGrp="1"/>
          </p:cNvSpPr>
          <p:nvPr>
            <p:ph type="ftr" sz="quarter" idx="11"/>
          </p:nvPr>
        </p:nvSpPr>
        <p:spPr/>
        <p:txBody>
          <a:bodyPr/>
          <a:lstStyle/>
          <a:p>
            <a:r>
              <a:rPr lang="en-US"/>
              <a:t>Lecturer at George Brown College and Ontario Tech university</a:t>
            </a:r>
            <a:endParaRPr lang="en-CA"/>
          </a:p>
        </p:txBody>
      </p:sp>
      <p:pic>
        <p:nvPicPr>
          <p:cNvPr id="6" name="Picture 5">
            <a:extLst>
              <a:ext uri="{FF2B5EF4-FFF2-40B4-BE49-F238E27FC236}">
                <a16:creationId xmlns:a16="http://schemas.microsoft.com/office/drawing/2014/main" id="{2639E2D7-B452-6BCD-9784-D8C4635F521F}"/>
              </a:ext>
            </a:extLst>
          </p:cNvPr>
          <p:cNvPicPr>
            <a:picLocks noChangeAspect="1"/>
          </p:cNvPicPr>
          <p:nvPr/>
        </p:nvPicPr>
        <p:blipFill>
          <a:blip r:embed="rId2"/>
          <a:stretch>
            <a:fillRect/>
          </a:stretch>
        </p:blipFill>
        <p:spPr>
          <a:xfrm>
            <a:off x="621325" y="477479"/>
            <a:ext cx="1707028" cy="1213209"/>
          </a:xfrm>
          <a:prstGeom prst="rect">
            <a:avLst/>
          </a:prstGeom>
        </p:spPr>
      </p:pic>
      <p:pic>
        <p:nvPicPr>
          <p:cNvPr id="7" name="Picture 6">
            <a:extLst>
              <a:ext uri="{FF2B5EF4-FFF2-40B4-BE49-F238E27FC236}">
                <a16:creationId xmlns:a16="http://schemas.microsoft.com/office/drawing/2014/main" id="{3A46BC3B-959C-1BB1-A667-C58DDF5C2D65}"/>
              </a:ext>
            </a:extLst>
          </p:cNvPr>
          <p:cNvPicPr>
            <a:picLocks noChangeAspect="1"/>
          </p:cNvPicPr>
          <p:nvPr/>
        </p:nvPicPr>
        <p:blipFill>
          <a:blip r:embed="rId3"/>
          <a:stretch>
            <a:fillRect/>
          </a:stretch>
        </p:blipFill>
        <p:spPr>
          <a:xfrm>
            <a:off x="838200" y="5328887"/>
            <a:ext cx="1761897" cy="951058"/>
          </a:xfrm>
          <a:prstGeom prst="rect">
            <a:avLst/>
          </a:prstGeom>
        </p:spPr>
      </p:pic>
    </p:spTree>
    <p:extLst>
      <p:ext uri="{BB962C8B-B14F-4D97-AF65-F5344CB8AC3E}">
        <p14:creationId xmlns:p14="http://schemas.microsoft.com/office/powerpoint/2010/main" val="1227471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3EA68-F1D4-3F01-D708-090C716EAEC8}"/>
              </a:ext>
            </a:extLst>
          </p:cNvPr>
          <p:cNvSpPr>
            <a:spLocks noGrp="1"/>
          </p:cNvSpPr>
          <p:nvPr>
            <p:ph type="title"/>
          </p:nvPr>
        </p:nvSpPr>
        <p:spPr/>
        <p:txBody>
          <a:bodyPr/>
          <a:lstStyle/>
          <a:p>
            <a:pPr algn="ctr"/>
            <a:r>
              <a:rPr lang="en-US" dirty="0"/>
              <a:t>Feature Importance in ML Layer</a:t>
            </a:r>
            <a:endParaRPr lang="en-CA" dirty="0"/>
          </a:p>
        </p:txBody>
      </p:sp>
      <p:sp>
        <p:nvSpPr>
          <p:cNvPr id="3" name="Content Placeholder 2">
            <a:extLst>
              <a:ext uri="{FF2B5EF4-FFF2-40B4-BE49-F238E27FC236}">
                <a16:creationId xmlns:a16="http://schemas.microsoft.com/office/drawing/2014/main" id="{6489E1B5-BD57-0A31-6BC5-817C2AD1945F}"/>
              </a:ext>
            </a:extLst>
          </p:cNvPr>
          <p:cNvSpPr>
            <a:spLocks noGrp="1"/>
          </p:cNvSpPr>
          <p:nvPr>
            <p:ph idx="1"/>
          </p:nvPr>
        </p:nvSpPr>
        <p:spPr/>
        <p:txBody>
          <a:bodyPr/>
          <a:lstStyle/>
          <a:p>
            <a:r>
              <a:rPr lang="en-US" dirty="0"/>
              <a:t>The ML layer interprets the 2000, 2008, and 2020 events by assigning a risk probability based on the </a:t>
            </a:r>
            <a:r>
              <a:rPr lang="en-US" b="1" dirty="0"/>
              <a:t>Momentum (62.6%)</a:t>
            </a:r>
            <a:r>
              <a:rPr lang="en-US" dirty="0"/>
              <a:t> and </a:t>
            </a:r>
            <a:r>
              <a:rPr lang="en-US" b="1" dirty="0"/>
              <a:t>Volatility (29.4%)</a:t>
            </a:r>
            <a:r>
              <a:rPr lang="en-US" dirty="0"/>
              <a:t> features:</a:t>
            </a:r>
          </a:p>
          <a:p>
            <a:r>
              <a:rPr lang="en-US" dirty="0"/>
              <a:t>The </a:t>
            </a:r>
            <a:r>
              <a:rPr lang="en-US" dirty="0" err="1"/>
              <a:t>Drivers:Momentum</a:t>
            </a:r>
            <a:r>
              <a:rPr lang="en-US" dirty="0"/>
              <a:t> (62.6%): </a:t>
            </a:r>
          </a:p>
          <a:p>
            <a:pPr marL="0" indent="0">
              <a:buNone/>
            </a:pPr>
            <a:r>
              <a:rPr lang="en-US" dirty="0"/>
              <a:t>The primary indicator of euphoria.</a:t>
            </a:r>
          </a:p>
          <a:p>
            <a:pPr marL="0" indent="0">
              <a:buNone/>
            </a:pPr>
            <a:r>
              <a:rPr lang="en-US" dirty="0"/>
              <a:t>Volatility (29.4%): Captures market instability.</a:t>
            </a:r>
          </a:p>
          <a:p>
            <a:r>
              <a:rPr lang="en-US" dirty="0"/>
              <a:t>Adaptive Quantiles: Using 75th/70th thresholds to account for shifting market distributions.</a:t>
            </a:r>
            <a:endParaRPr lang="en-CA" dirty="0"/>
          </a:p>
        </p:txBody>
      </p:sp>
      <p:pic>
        <p:nvPicPr>
          <p:cNvPr id="4" name="Picture 3">
            <a:extLst>
              <a:ext uri="{FF2B5EF4-FFF2-40B4-BE49-F238E27FC236}">
                <a16:creationId xmlns:a16="http://schemas.microsoft.com/office/drawing/2014/main" id="{93B0EAF9-2054-977C-6C27-71852E4268DE}"/>
              </a:ext>
            </a:extLst>
          </p:cNvPr>
          <p:cNvPicPr>
            <a:picLocks noChangeAspect="1"/>
          </p:cNvPicPr>
          <p:nvPr/>
        </p:nvPicPr>
        <p:blipFill>
          <a:blip r:embed="rId2"/>
          <a:stretch>
            <a:fillRect/>
          </a:stretch>
        </p:blipFill>
        <p:spPr>
          <a:xfrm>
            <a:off x="562331" y="365125"/>
            <a:ext cx="1707028" cy="1213209"/>
          </a:xfrm>
          <a:prstGeom prst="rect">
            <a:avLst/>
          </a:prstGeom>
        </p:spPr>
      </p:pic>
      <p:pic>
        <p:nvPicPr>
          <p:cNvPr id="5" name="Picture 4">
            <a:extLst>
              <a:ext uri="{FF2B5EF4-FFF2-40B4-BE49-F238E27FC236}">
                <a16:creationId xmlns:a16="http://schemas.microsoft.com/office/drawing/2014/main" id="{0F9C38C5-501C-C407-155A-9758B8A1BDB4}"/>
              </a:ext>
            </a:extLst>
          </p:cNvPr>
          <p:cNvPicPr>
            <a:picLocks noChangeAspect="1"/>
          </p:cNvPicPr>
          <p:nvPr/>
        </p:nvPicPr>
        <p:blipFill>
          <a:blip r:embed="rId3"/>
          <a:stretch>
            <a:fillRect/>
          </a:stretch>
        </p:blipFill>
        <p:spPr>
          <a:xfrm>
            <a:off x="643051" y="5541817"/>
            <a:ext cx="1761897" cy="951058"/>
          </a:xfrm>
          <a:prstGeom prst="rect">
            <a:avLst/>
          </a:prstGeom>
        </p:spPr>
      </p:pic>
      <p:sp>
        <p:nvSpPr>
          <p:cNvPr id="6" name="Footer Placeholder 5">
            <a:extLst>
              <a:ext uri="{FF2B5EF4-FFF2-40B4-BE49-F238E27FC236}">
                <a16:creationId xmlns:a16="http://schemas.microsoft.com/office/drawing/2014/main" id="{FCA4B753-4F31-922B-B957-AF27F16D9FA2}"/>
              </a:ext>
            </a:extLst>
          </p:cNvPr>
          <p:cNvSpPr>
            <a:spLocks noGrp="1"/>
          </p:cNvSpPr>
          <p:nvPr>
            <p:ph type="ftr" sz="quarter" idx="11"/>
          </p:nvPr>
        </p:nvSpPr>
        <p:spPr/>
        <p:txBody>
          <a:bodyPr/>
          <a:lstStyle/>
          <a:p>
            <a:r>
              <a:rPr lang="en-US"/>
              <a:t>Lecturer at George Brown College and Ontario Tech university</a:t>
            </a:r>
            <a:endParaRPr lang="en-CA"/>
          </a:p>
        </p:txBody>
      </p:sp>
    </p:spTree>
    <p:extLst>
      <p:ext uri="{BB962C8B-B14F-4D97-AF65-F5344CB8AC3E}">
        <p14:creationId xmlns:p14="http://schemas.microsoft.com/office/powerpoint/2010/main" val="16676251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516D4-49BA-51A9-6E19-24737EB18955}"/>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170EF963-B746-C470-FF4A-C04EEFBFBB61}"/>
              </a:ext>
            </a:extLst>
          </p:cNvPr>
          <p:cNvSpPr>
            <a:spLocks noGrp="1"/>
          </p:cNvSpPr>
          <p:nvPr>
            <p:ph idx="1"/>
          </p:nvPr>
        </p:nvSpPr>
        <p:spPr/>
        <p:txBody>
          <a:bodyPr/>
          <a:lstStyle/>
          <a:p>
            <a:r>
              <a:rPr lang="en-US" dirty="0"/>
              <a:t>Momentum (62.6%): This is the primary numerical evidence of euphoria. When investors are in a state of euphoria, they stop looking at the P/E ratio and start buying simply because the price is going up. This "herding" creates the vertical spike seen in your 2000 and 2020 results.</a:t>
            </a:r>
          </a:p>
          <a:p>
            <a:endParaRPr lang="en-US" dirty="0"/>
          </a:p>
          <a:p>
            <a:r>
              <a:rPr lang="en-US" b="1" dirty="0"/>
              <a:t>Volatility (29.4%):</a:t>
            </a:r>
            <a:r>
              <a:rPr lang="en-US" dirty="0"/>
              <a:t> While euphoria feels like "limitless growth," it often creates extreme instability. Your model catches this as a non-linear signal—the "anxiety" beneath the surface of the euphoria.</a:t>
            </a:r>
            <a:endParaRPr lang="en-CA" dirty="0"/>
          </a:p>
        </p:txBody>
      </p:sp>
      <p:sp>
        <p:nvSpPr>
          <p:cNvPr id="4" name="Footer Placeholder 3">
            <a:extLst>
              <a:ext uri="{FF2B5EF4-FFF2-40B4-BE49-F238E27FC236}">
                <a16:creationId xmlns:a16="http://schemas.microsoft.com/office/drawing/2014/main" id="{EFC9E58F-6890-5D71-D2EF-7EACEF89002B}"/>
              </a:ext>
            </a:extLst>
          </p:cNvPr>
          <p:cNvSpPr>
            <a:spLocks noGrp="1"/>
          </p:cNvSpPr>
          <p:nvPr>
            <p:ph type="ftr" sz="quarter" idx="11"/>
          </p:nvPr>
        </p:nvSpPr>
        <p:spPr/>
        <p:txBody>
          <a:bodyPr/>
          <a:lstStyle/>
          <a:p>
            <a:r>
              <a:rPr lang="en-US"/>
              <a:t>Lecturer at George Brown College and Ontario Tech university</a:t>
            </a:r>
            <a:endParaRPr lang="en-CA"/>
          </a:p>
        </p:txBody>
      </p:sp>
      <p:pic>
        <p:nvPicPr>
          <p:cNvPr id="8" name="Picture 7">
            <a:extLst>
              <a:ext uri="{FF2B5EF4-FFF2-40B4-BE49-F238E27FC236}">
                <a16:creationId xmlns:a16="http://schemas.microsoft.com/office/drawing/2014/main" id="{21BBC737-1212-1A43-846A-7A37D7962204}"/>
              </a:ext>
            </a:extLst>
          </p:cNvPr>
          <p:cNvPicPr>
            <a:picLocks noChangeAspect="1"/>
          </p:cNvPicPr>
          <p:nvPr/>
        </p:nvPicPr>
        <p:blipFill>
          <a:blip r:embed="rId2"/>
          <a:stretch>
            <a:fillRect/>
          </a:stretch>
        </p:blipFill>
        <p:spPr>
          <a:xfrm>
            <a:off x="838200" y="5328887"/>
            <a:ext cx="1761897" cy="951058"/>
          </a:xfrm>
          <a:prstGeom prst="rect">
            <a:avLst/>
          </a:prstGeom>
        </p:spPr>
      </p:pic>
    </p:spTree>
    <p:extLst>
      <p:ext uri="{BB962C8B-B14F-4D97-AF65-F5344CB8AC3E}">
        <p14:creationId xmlns:p14="http://schemas.microsoft.com/office/powerpoint/2010/main" val="10846997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38D0B-19F8-5E7C-1D70-40064C01C57D}"/>
              </a:ext>
            </a:extLst>
          </p:cNvPr>
          <p:cNvSpPr>
            <a:spLocks noGrp="1"/>
          </p:cNvSpPr>
          <p:nvPr>
            <p:ph type="title"/>
          </p:nvPr>
        </p:nvSpPr>
        <p:spPr/>
        <p:txBody>
          <a:bodyPr/>
          <a:lstStyle/>
          <a:p>
            <a:r>
              <a:rPr lang="en-US" b="1" dirty="0"/>
              <a:t>1. Momentum (62.6%) — The #1 Signal</a:t>
            </a:r>
            <a:br>
              <a:rPr lang="en-US" b="1" dirty="0"/>
            </a:br>
            <a:endParaRPr lang="en-CA" dirty="0"/>
          </a:p>
        </p:txBody>
      </p:sp>
      <p:sp>
        <p:nvSpPr>
          <p:cNvPr id="3" name="Content Placeholder 2">
            <a:extLst>
              <a:ext uri="{FF2B5EF4-FFF2-40B4-BE49-F238E27FC236}">
                <a16:creationId xmlns:a16="http://schemas.microsoft.com/office/drawing/2014/main" id="{CA7176A0-7A40-E03E-3582-D9C18E40C8A0}"/>
              </a:ext>
            </a:extLst>
          </p:cNvPr>
          <p:cNvSpPr>
            <a:spLocks noGrp="1"/>
          </p:cNvSpPr>
          <p:nvPr>
            <p:ph idx="1"/>
          </p:nvPr>
        </p:nvSpPr>
        <p:spPr/>
        <p:txBody>
          <a:bodyPr>
            <a:normAutofit lnSpcReduction="10000"/>
          </a:bodyPr>
          <a:lstStyle/>
          <a:p>
            <a:r>
              <a:rPr lang="en-US" b="1" dirty="0"/>
              <a:t>What it measures:</a:t>
            </a:r>
            <a:r>
              <a:rPr lang="en-US" dirty="0"/>
              <a:t> How fast prices are rising over 3-month and 12-month periods.</a:t>
            </a:r>
          </a:p>
          <a:p>
            <a:r>
              <a:rPr lang="en-US" b="1" dirty="0"/>
              <a:t>Why it dominates:</a:t>
            </a:r>
            <a:endParaRPr lang="en-US" dirty="0"/>
          </a:p>
          <a:p>
            <a:r>
              <a:rPr lang="en-US" dirty="0"/>
              <a:t>Bubbles are characterized by </a:t>
            </a:r>
            <a:r>
              <a:rPr lang="en-US" b="1" dirty="0"/>
              <a:t>accelerating price increases</a:t>
            </a:r>
            <a:endParaRPr lang="en-US" dirty="0"/>
          </a:p>
          <a:p>
            <a:r>
              <a:rPr lang="en-US" dirty="0"/>
              <a:t>During euphoria (Kindleberger's Stage 3), momentum goes parabolic</a:t>
            </a:r>
          </a:p>
          <a:p>
            <a:r>
              <a:rPr lang="en-US" dirty="0"/>
              <a:t>Example: In 2020 COVID surge, momentum hit </a:t>
            </a:r>
            <a:r>
              <a:rPr lang="en-US" b="1" dirty="0"/>
              <a:t>+29%</a:t>
            </a:r>
            <a:r>
              <a:rPr lang="en-US" dirty="0"/>
              <a:t> — a clear red flag</a:t>
            </a:r>
          </a:p>
          <a:p>
            <a:r>
              <a:rPr lang="en-US" b="1" dirty="0"/>
              <a:t>Simple view:</a:t>
            </a:r>
            <a:r>
              <a:rPr lang="en-US" dirty="0"/>
              <a:t> "How fast is the price climbing? If it's shooting up vertically, that's suspicious."</a:t>
            </a:r>
          </a:p>
          <a:p>
            <a:endParaRPr lang="en-CA" dirty="0"/>
          </a:p>
        </p:txBody>
      </p:sp>
      <p:sp>
        <p:nvSpPr>
          <p:cNvPr id="4" name="Footer Placeholder 3">
            <a:extLst>
              <a:ext uri="{FF2B5EF4-FFF2-40B4-BE49-F238E27FC236}">
                <a16:creationId xmlns:a16="http://schemas.microsoft.com/office/drawing/2014/main" id="{FCD4E999-57B0-287E-47E4-07088C9F2DFE}"/>
              </a:ext>
            </a:extLst>
          </p:cNvPr>
          <p:cNvSpPr>
            <a:spLocks noGrp="1"/>
          </p:cNvSpPr>
          <p:nvPr>
            <p:ph type="ftr" sz="quarter" idx="11"/>
          </p:nvPr>
        </p:nvSpPr>
        <p:spPr/>
        <p:txBody>
          <a:bodyPr/>
          <a:lstStyle/>
          <a:p>
            <a:r>
              <a:rPr lang="en-US"/>
              <a:t>Lecturer at George Brown College and Ontario Tech university</a:t>
            </a:r>
            <a:endParaRPr lang="en-CA"/>
          </a:p>
        </p:txBody>
      </p:sp>
      <p:pic>
        <p:nvPicPr>
          <p:cNvPr id="5" name="Picture 4">
            <a:extLst>
              <a:ext uri="{FF2B5EF4-FFF2-40B4-BE49-F238E27FC236}">
                <a16:creationId xmlns:a16="http://schemas.microsoft.com/office/drawing/2014/main" id="{5404A5FB-661B-B308-F22E-4FC184B1A9CC}"/>
              </a:ext>
            </a:extLst>
          </p:cNvPr>
          <p:cNvPicPr>
            <a:picLocks noChangeAspect="1"/>
          </p:cNvPicPr>
          <p:nvPr/>
        </p:nvPicPr>
        <p:blipFill>
          <a:blip r:embed="rId2"/>
          <a:stretch>
            <a:fillRect/>
          </a:stretch>
        </p:blipFill>
        <p:spPr>
          <a:xfrm>
            <a:off x="562331" y="365125"/>
            <a:ext cx="1707028" cy="1213209"/>
          </a:xfrm>
          <a:prstGeom prst="rect">
            <a:avLst/>
          </a:prstGeom>
        </p:spPr>
      </p:pic>
      <p:pic>
        <p:nvPicPr>
          <p:cNvPr id="6" name="Picture 5">
            <a:extLst>
              <a:ext uri="{FF2B5EF4-FFF2-40B4-BE49-F238E27FC236}">
                <a16:creationId xmlns:a16="http://schemas.microsoft.com/office/drawing/2014/main" id="{D96C5942-5E1C-A349-7DF2-76A82D96434A}"/>
              </a:ext>
            </a:extLst>
          </p:cNvPr>
          <p:cNvPicPr>
            <a:picLocks noChangeAspect="1"/>
          </p:cNvPicPr>
          <p:nvPr/>
        </p:nvPicPr>
        <p:blipFill>
          <a:blip r:embed="rId3"/>
          <a:stretch>
            <a:fillRect/>
          </a:stretch>
        </p:blipFill>
        <p:spPr>
          <a:xfrm>
            <a:off x="643051" y="5541817"/>
            <a:ext cx="1761897" cy="951058"/>
          </a:xfrm>
          <a:prstGeom prst="rect">
            <a:avLst/>
          </a:prstGeom>
        </p:spPr>
      </p:pic>
    </p:spTree>
    <p:extLst>
      <p:ext uri="{BB962C8B-B14F-4D97-AF65-F5344CB8AC3E}">
        <p14:creationId xmlns:p14="http://schemas.microsoft.com/office/powerpoint/2010/main" val="4107415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7E0C7-23DD-970F-82D3-0561E175F659}"/>
              </a:ext>
            </a:extLst>
          </p:cNvPr>
          <p:cNvSpPr>
            <a:spLocks noGrp="1"/>
          </p:cNvSpPr>
          <p:nvPr>
            <p:ph type="title"/>
          </p:nvPr>
        </p:nvSpPr>
        <p:spPr/>
        <p:txBody>
          <a:bodyPr>
            <a:normAutofit fontScale="90000"/>
          </a:bodyPr>
          <a:lstStyle/>
          <a:p>
            <a:r>
              <a:rPr lang="en-US" b="1" dirty="0"/>
              <a:t>2. Volatility (29.4%) — The Instability Gauge</a:t>
            </a:r>
            <a:br>
              <a:rPr lang="en-US" b="1" dirty="0"/>
            </a:br>
            <a:endParaRPr lang="en-CA" dirty="0"/>
          </a:p>
        </p:txBody>
      </p:sp>
      <p:sp>
        <p:nvSpPr>
          <p:cNvPr id="3" name="Content Placeholder 2">
            <a:extLst>
              <a:ext uri="{FF2B5EF4-FFF2-40B4-BE49-F238E27FC236}">
                <a16:creationId xmlns:a16="http://schemas.microsoft.com/office/drawing/2014/main" id="{6C2C6FD6-7400-2820-9C3E-2A3500E784FC}"/>
              </a:ext>
            </a:extLst>
          </p:cNvPr>
          <p:cNvSpPr>
            <a:spLocks noGrp="1"/>
          </p:cNvSpPr>
          <p:nvPr>
            <p:ph idx="1"/>
          </p:nvPr>
        </p:nvSpPr>
        <p:spPr/>
        <p:txBody>
          <a:bodyPr/>
          <a:lstStyle/>
          <a:p>
            <a:r>
              <a:rPr lang="en-US" b="1" dirty="0"/>
              <a:t>What it measures:</a:t>
            </a:r>
            <a:r>
              <a:rPr lang="en-US" dirty="0"/>
              <a:t> How wildly prices swing (6-month volatility).</a:t>
            </a:r>
          </a:p>
          <a:p>
            <a:r>
              <a:rPr lang="en-US" b="1" dirty="0"/>
              <a:t>Why it matters:</a:t>
            </a:r>
            <a:endParaRPr lang="en-US" dirty="0"/>
          </a:p>
          <a:p>
            <a:r>
              <a:rPr lang="en-US" dirty="0"/>
              <a:t>Bubbles aren't smooth — they have </a:t>
            </a:r>
            <a:r>
              <a:rPr lang="en-US" b="1" dirty="0"/>
              <a:t>violent swings</a:t>
            </a:r>
            <a:endParaRPr lang="en-US" dirty="0"/>
          </a:p>
          <a:p>
            <a:r>
              <a:rPr lang="en-US" dirty="0"/>
              <a:t>High volatility + high momentum = </a:t>
            </a:r>
            <a:r>
              <a:rPr lang="en-US" b="1" dirty="0"/>
              <a:t>unstable speculation</a:t>
            </a:r>
            <a:endParaRPr lang="en-US" dirty="0"/>
          </a:p>
          <a:p>
            <a:r>
              <a:rPr lang="en-US" dirty="0"/>
              <a:t>Calm, justified growth has low volatility</a:t>
            </a:r>
          </a:p>
          <a:p>
            <a:r>
              <a:rPr lang="en-US" dirty="0"/>
              <a:t>Manic bubbles have high volatility</a:t>
            </a:r>
          </a:p>
          <a:p>
            <a:r>
              <a:rPr lang="en-US" b="1" dirty="0"/>
              <a:t>Simple view:</a:t>
            </a:r>
            <a:r>
              <a:rPr lang="en-US" dirty="0"/>
              <a:t> "Are prices jumping around crazily while going up? That's a bubble signature."</a:t>
            </a:r>
          </a:p>
          <a:p>
            <a:endParaRPr lang="en-CA" dirty="0"/>
          </a:p>
        </p:txBody>
      </p:sp>
      <p:sp>
        <p:nvSpPr>
          <p:cNvPr id="4" name="Footer Placeholder 3">
            <a:extLst>
              <a:ext uri="{FF2B5EF4-FFF2-40B4-BE49-F238E27FC236}">
                <a16:creationId xmlns:a16="http://schemas.microsoft.com/office/drawing/2014/main" id="{6FE5BD7A-4078-4B13-4ED0-DE1ADEA83E45}"/>
              </a:ext>
            </a:extLst>
          </p:cNvPr>
          <p:cNvSpPr>
            <a:spLocks noGrp="1"/>
          </p:cNvSpPr>
          <p:nvPr>
            <p:ph type="ftr" sz="quarter" idx="11"/>
          </p:nvPr>
        </p:nvSpPr>
        <p:spPr/>
        <p:txBody>
          <a:bodyPr/>
          <a:lstStyle/>
          <a:p>
            <a:r>
              <a:rPr lang="en-US"/>
              <a:t>Lecturer at George Brown College and Ontario Tech university</a:t>
            </a:r>
            <a:endParaRPr lang="en-CA"/>
          </a:p>
        </p:txBody>
      </p:sp>
      <p:pic>
        <p:nvPicPr>
          <p:cNvPr id="5" name="Picture 4">
            <a:extLst>
              <a:ext uri="{FF2B5EF4-FFF2-40B4-BE49-F238E27FC236}">
                <a16:creationId xmlns:a16="http://schemas.microsoft.com/office/drawing/2014/main" id="{7A84407F-49BE-D6B8-4F7C-C9BD417229E9}"/>
              </a:ext>
            </a:extLst>
          </p:cNvPr>
          <p:cNvPicPr>
            <a:picLocks noChangeAspect="1"/>
          </p:cNvPicPr>
          <p:nvPr/>
        </p:nvPicPr>
        <p:blipFill>
          <a:blip r:embed="rId2"/>
          <a:stretch>
            <a:fillRect/>
          </a:stretch>
        </p:blipFill>
        <p:spPr>
          <a:xfrm>
            <a:off x="838200" y="5328887"/>
            <a:ext cx="1761897" cy="951058"/>
          </a:xfrm>
          <a:prstGeom prst="rect">
            <a:avLst/>
          </a:prstGeom>
        </p:spPr>
      </p:pic>
    </p:spTree>
    <p:extLst>
      <p:ext uri="{BB962C8B-B14F-4D97-AF65-F5344CB8AC3E}">
        <p14:creationId xmlns:p14="http://schemas.microsoft.com/office/powerpoint/2010/main" val="27408277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D88E6-5A5A-04AC-BF5A-C58A99419B1F}"/>
              </a:ext>
            </a:extLst>
          </p:cNvPr>
          <p:cNvSpPr>
            <a:spLocks noGrp="1"/>
          </p:cNvSpPr>
          <p:nvPr>
            <p:ph type="title"/>
          </p:nvPr>
        </p:nvSpPr>
        <p:spPr/>
        <p:txBody>
          <a:bodyPr>
            <a:normAutofit fontScale="90000"/>
          </a:bodyPr>
          <a:lstStyle/>
          <a:p>
            <a:r>
              <a:rPr lang="en-US" b="1" dirty="0"/>
              <a:t>3. Adaptive Quantiles (75th/70th thresholds) — The Smart Baseline</a:t>
            </a:r>
            <a:br>
              <a:rPr lang="en-US" b="1" dirty="0"/>
            </a:br>
            <a:endParaRPr lang="en-CA" dirty="0"/>
          </a:p>
        </p:txBody>
      </p:sp>
      <p:sp>
        <p:nvSpPr>
          <p:cNvPr id="3" name="Content Placeholder 2">
            <a:extLst>
              <a:ext uri="{FF2B5EF4-FFF2-40B4-BE49-F238E27FC236}">
                <a16:creationId xmlns:a16="http://schemas.microsoft.com/office/drawing/2014/main" id="{8CBE157B-D9C9-382B-7185-94E298092933}"/>
              </a:ext>
            </a:extLst>
          </p:cNvPr>
          <p:cNvSpPr>
            <a:spLocks noGrp="1"/>
          </p:cNvSpPr>
          <p:nvPr>
            <p:ph idx="1"/>
          </p:nvPr>
        </p:nvSpPr>
        <p:spPr/>
        <p:txBody>
          <a:bodyPr>
            <a:normAutofit fontScale="85000" lnSpcReduction="10000"/>
          </a:bodyPr>
          <a:lstStyle/>
          <a:p>
            <a:r>
              <a:rPr lang="en-US" b="1" dirty="0"/>
              <a:t>What it does:</a:t>
            </a:r>
            <a:r>
              <a:rPr lang="en-US" dirty="0"/>
              <a:t> Instead of using fixed rules (like "CAPE &gt; 25"), it adjusts thresholds based on </a:t>
            </a:r>
            <a:r>
              <a:rPr lang="en-US" b="1" dirty="0"/>
              <a:t>current market conditions</a:t>
            </a:r>
            <a:r>
              <a:rPr lang="en-US" dirty="0"/>
              <a:t>.</a:t>
            </a:r>
          </a:p>
          <a:p>
            <a:r>
              <a:rPr lang="en-US" b="1" dirty="0"/>
              <a:t>Why it's adaptive:</a:t>
            </a:r>
            <a:endParaRPr lang="en-US" dirty="0"/>
          </a:p>
          <a:p>
            <a:r>
              <a:rPr lang="en-US" dirty="0"/>
              <a:t>Markets change over time</a:t>
            </a:r>
          </a:p>
          <a:p>
            <a:r>
              <a:rPr lang="en-US" dirty="0"/>
              <a:t>What's "expensive" in 1995 isn't the same as 2021</a:t>
            </a:r>
          </a:p>
          <a:p>
            <a:r>
              <a:rPr lang="en-US" dirty="0"/>
              <a:t>Uses </a:t>
            </a:r>
            <a:r>
              <a:rPr lang="en-US" b="1" dirty="0"/>
              <a:t>rolling quantiles</a:t>
            </a:r>
            <a:r>
              <a:rPr lang="en-US" dirty="0"/>
              <a:t> (70th-75th percentile) that shift with the market distribution</a:t>
            </a:r>
          </a:p>
          <a:p>
            <a:r>
              <a:rPr lang="en-US" b="1" dirty="0"/>
              <a:t>Example:</a:t>
            </a:r>
            <a:endParaRPr lang="en-US" dirty="0"/>
          </a:p>
          <a:p>
            <a:r>
              <a:rPr lang="en-US" dirty="0"/>
              <a:t>Fixed rule: CAPE &gt; 30 = bubble (fails in low-rate environment)</a:t>
            </a:r>
          </a:p>
          <a:p>
            <a:r>
              <a:rPr lang="en-US" dirty="0"/>
              <a:t>Adaptive: CAPE &gt; 75th percentile </a:t>
            </a:r>
            <a:r>
              <a:rPr lang="en-US" b="1" dirty="0"/>
              <a:t>for this era</a:t>
            </a:r>
            <a:r>
              <a:rPr lang="en-US" dirty="0"/>
              <a:t> = bubble signal</a:t>
            </a:r>
          </a:p>
          <a:p>
            <a:r>
              <a:rPr lang="en-US" b="1" dirty="0"/>
              <a:t>Simple view:</a:t>
            </a:r>
            <a:r>
              <a:rPr lang="en-US" dirty="0"/>
              <a:t> "Don't judge 2021 by 1995 standards. Adjust for the times."</a:t>
            </a:r>
          </a:p>
          <a:p>
            <a:endParaRPr lang="en-CA" dirty="0"/>
          </a:p>
        </p:txBody>
      </p:sp>
      <p:sp>
        <p:nvSpPr>
          <p:cNvPr id="4" name="Footer Placeholder 3">
            <a:extLst>
              <a:ext uri="{FF2B5EF4-FFF2-40B4-BE49-F238E27FC236}">
                <a16:creationId xmlns:a16="http://schemas.microsoft.com/office/drawing/2014/main" id="{C24AD56B-B1CC-56AF-2A78-84F2F0C841A7}"/>
              </a:ext>
            </a:extLst>
          </p:cNvPr>
          <p:cNvSpPr>
            <a:spLocks noGrp="1"/>
          </p:cNvSpPr>
          <p:nvPr>
            <p:ph type="ftr" sz="quarter" idx="11"/>
          </p:nvPr>
        </p:nvSpPr>
        <p:spPr/>
        <p:txBody>
          <a:bodyPr/>
          <a:lstStyle/>
          <a:p>
            <a:r>
              <a:rPr lang="en-US"/>
              <a:t>Lecturer at George Brown College and Ontario Tech university</a:t>
            </a:r>
            <a:endParaRPr lang="en-CA"/>
          </a:p>
        </p:txBody>
      </p:sp>
      <p:pic>
        <p:nvPicPr>
          <p:cNvPr id="5" name="Picture 4">
            <a:extLst>
              <a:ext uri="{FF2B5EF4-FFF2-40B4-BE49-F238E27FC236}">
                <a16:creationId xmlns:a16="http://schemas.microsoft.com/office/drawing/2014/main" id="{486FCD44-4DB2-5220-E90F-95777D123A32}"/>
              </a:ext>
            </a:extLst>
          </p:cNvPr>
          <p:cNvPicPr>
            <a:picLocks noChangeAspect="1"/>
          </p:cNvPicPr>
          <p:nvPr/>
        </p:nvPicPr>
        <p:blipFill>
          <a:blip r:embed="rId2"/>
          <a:stretch>
            <a:fillRect/>
          </a:stretch>
        </p:blipFill>
        <p:spPr>
          <a:xfrm>
            <a:off x="838200" y="5328887"/>
            <a:ext cx="1761897" cy="951058"/>
          </a:xfrm>
          <a:prstGeom prst="rect">
            <a:avLst/>
          </a:prstGeom>
        </p:spPr>
      </p:pic>
    </p:spTree>
    <p:extLst>
      <p:ext uri="{BB962C8B-B14F-4D97-AF65-F5344CB8AC3E}">
        <p14:creationId xmlns:p14="http://schemas.microsoft.com/office/powerpoint/2010/main" val="2120748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7342E-D6DF-9D0C-6C29-59D591930814}"/>
              </a:ext>
            </a:extLst>
          </p:cNvPr>
          <p:cNvSpPr>
            <a:spLocks noGrp="1"/>
          </p:cNvSpPr>
          <p:nvPr>
            <p:ph type="title"/>
          </p:nvPr>
        </p:nvSpPr>
        <p:spPr/>
        <p:txBody>
          <a:bodyPr/>
          <a:lstStyle/>
          <a:p>
            <a:r>
              <a:rPr lang="en-CA" b="1" dirty="0"/>
              <a:t>The logic:</a:t>
            </a:r>
            <a:endParaRPr lang="en-CA" dirty="0"/>
          </a:p>
        </p:txBody>
      </p:sp>
      <p:sp>
        <p:nvSpPr>
          <p:cNvPr id="3" name="Content Placeholder 2">
            <a:extLst>
              <a:ext uri="{FF2B5EF4-FFF2-40B4-BE49-F238E27FC236}">
                <a16:creationId xmlns:a16="http://schemas.microsoft.com/office/drawing/2014/main" id="{475C9E94-6377-255D-F0C1-EC1325EFEFDD}"/>
              </a:ext>
            </a:extLst>
          </p:cNvPr>
          <p:cNvSpPr>
            <a:spLocks noGrp="1"/>
          </p:cNvSpPr>
          <p:nvPr>
            <p:ph idx="1"/>
          </p:nvPr>
        </p:nvSpPr>
        <p:spPr/>
        <p:txBody>
          <a:bodyPr/>
          <a:lstStyle/>
          <a:p>
            <a:r>
              <a:rPr lang="en-CA" b="1" dirty="0"/>
              <a:t>Fast price rise</a:t>
            </a:r>
            <a:r>
              <a:rPr lang="en-CA" dirty="0"/>
              <a:t> (momentum) + </a:t>
            </a:r>
            <a:r>
              <a:rPr lang="en-CA" b="1" dirty="0"/>
              <a:t>wild swings</a:t>
            </a:r>
            <a:r>
              <a:rPr lang="en-CA" dirty="0"/>
              <a:t> (volatility) = potential bubble</a:t>
            </a:r>
          </a:p>
          <a:p>
            <a:r>
              <a:rPr lang="en-CA" b="1" dirty="0"/>
              <a:t>Adaptive CAPE</a:t>
            </a:r>
            <a:r>
              <a:rPr lang="en-CA" dirty="0"/>
              <a:t> confirms if valuation is extreme </a:t>
            </a:r>
            <a:r>
              <a:rPr lang="en-CA" b="1" dirty="0"/>
              <a:t>for this era</a:t>
            </a:r>
            <a:endParaRPr lang="en-CA" dirty="0"/>
          </a:p>
          <a:p>
            <a:r>
              <a:rPr lang="en-CA" dirty="0"/>
              <a:t>ML combines all three to separate:</a:t>
            </a:r>
          </a:p>
          <a:p>
            <a:pPr lvl="1"/>
            <a:r>
              <a:rPr lang="en-CA" dirty="0"/>
              <a:t>✓ </a:t>
            </a:r>
            <a:r>
              <a:rPr lang="en-CA" b="1" dirty="0"/>
              <a:t>Justified growth</a:t>
            </a:r>
            <a:r>
              <a:rPr lang="en-CA" dirty="0"/>
              <a:t> (steady momentum, low volatility)</a:t>
            </a:r>
          </a:p>
          <a:p>
            <a:pPr lvl="1"/>
            <a:r>
              <a:rPr lang="en-CA" dirty="0"/>
              <a:t>✗ </a:t>
            </a:r>
            <a:r>
              <a:rPr lang="en-CA" b="1" dirty="0"/>
              <a:t>True bubble</a:t>
            </a:r>
            <a:r>
              <a:rPr lang="en-CA" dirty="0"/>
              <a:t> (explosive momentum, high volatility, extreme valuation)</a:t>
            </a:r>
          </a:p>
          <a:p>
            <a:endParaRPr lang="en-CA" dirty="0"/>
          </a:p>
        </p:txBody>
      </p:sp>
      <p:sp>
        <p:nvSpPr>
          <p:cNvPr id="4" name="Footer Placeholder 3">
            <a:extLst>
              <a:ext uri="{FF2B5EF4-FFF2-40B4-BE49-F238E27FC236}">
                <a16:creationId xmlns:a16="http://schemas.microsoft.com/office/drawing/2014/main" id="{71C0F566-EC52-90BD-351A-8556F7B0D560}"/>
              </a:ext>
            </a:extLst>
          </p:cNvPr>
          <p:cNvSpPr>
            <a:spLocks noGrp="1"/>
          </p:cNvSpPr>
          <p:nvPr>
            <p:ph type="ftr" sz="quarter" idx="11"/>
          </p:nvPr>
        </p:nvSpPr>
        <p:spPr/>
        <p:txBody>
          <a:bodyPr/>
          <a:lstStyle/>
          <a:p>
            <a:r>
              <a:rPr lang="en-US"/>
              <a:t>Lecturer at George Brown College and Ontario Tech university</a:t>
            </a:r>
            <a:endParaRPr lang="en-CA"/>
          </a:p>
        </p:txBody>
      </p:sp>
      <p:pic>
        <p:nvPicPr>
          <p:cNvPr id="5" name="Picture 4">
            <a:extLst>
              <a:ext uri="{FF2B5EF4-FFF2-40B4-BE49-F238E27FC236}">
                <a16:creationId xmlns:a16="http://schemas.microsoft.com/office/drawing/2014/main" id="{C0B455ED-3545-97BE-A106-07F356DC9E03}"/>
              </a:ext>
            </a:extLst>
          </p:cNvPr>
          <p:cNvPicPr>
            <a:picLocks noChangeAspect="1"/>
          </p:cNvPicPr>
          <p:nvPr/>
        </p:nvPicPr>
        <p:blipFill>
          <a:blip r:embed="rId2"/>
          <a:stretch>
            <a:fillRect/>
          </a:stretch>
        </p:blipFill>
        <p:spPr>
          <a:xfrm>
            <a:off x="554561" y="5541817"/>
            <a:ext cx="1761897" cy="951058"/>
          </a:xfrm>
          <a:prstGeom prst="rect">
            <a:avLst/>
          </a:prstGeom>
        </p:spPr>
      </p:pic>
      <p:pic>
        <p:nvPicPr>
          <p:cNvPr id="6" name="Picture 5">
            <a:extLst>
              <a:ext uri="{FF2B5EF4-FFF2-40B4-BE49-F238E27FC236}">
                <a16:creationId xmlns:a16="http://schemas.microsoft.com/office/drawing/2014/main" id="{BCC70936-9371-F23F-91C5-50D6D99007AA}"/>
              </a:ext>
            </a:extLst>
          </p:cNvPr>
          <p:cNvPicPr>
            <a:picLocks noChangeAspect="1"/>
          </p:cNvPicPr>
          <p:nvPr/>
        </p:nvPicPr>
        <p:blipFill>
          <a:blip r:embed="rId3"/>
          <a:stretch>
            <a:fillRect/>
          </a:stretch>
        </p:blipFill>
        <p:spPr>
          <a:xfrm>
            <a:off x="139544" y="256176"/>
            <a:ext cx="1707028" cy="1213209"/>
          </a:xfrm>
          <a:prstGeom prst="rect">
            <a:avLst/>
          </a:prstGeom>
        </p:spPr>
      </p:pic>
    </p:spTree>
    <p:extLst>
      <p:ext uri="{BB962C8B-B14F-4D97-AF65-F5344CB8AC3E}">
        <p14:creationId xmlns:p14="http://schemas.microsoft.com/office/powerpoint/2010/main" val="15210670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A1846-B0D4-A927-3056-C3ECA74F79F0}"/>
              </a:ext>
            </a:extLst>
          </p:cNvPr>
          <p:cNvSpPr>
            <a:spLocks noGrp="1"/>
          </p:cNvSpPr>
          <p:nvPr>
            <p:ph type="title"/>
          </p:nvPr>
        </p:nvSpPr>
        <p:spPr/>
        <p:txBody>
          <a:bodyPr/>
          <a:lstStyle/>
          <a:p>
            <a:pPr algn="ctr"/>
            <a:r>
              <a:rPr lang="en-CA" dirty="0"/>
              <a:t>Empirical Results &amp; Comparisons</a:t>
            </a:r>
          </a:p>
        </p:txBody>
      </p:sp>
      <p:graphicFrame>
        <p:nvGraphicFramePr>
          <p:cNvPr id="4" name="Content Placeholder 3">
            <a:extLst>
              <a:ext uri="{FF2B5EF4-FFF2-40B4-BE49-F238E27FC236}">
                <a16:creationId xmlns:a16="http://schemas.microsoft.com/office/drawing/2014/main" id="{12806A2A-9940-4576-BCB5-A9AF5C438C28}"/>
              </a:ext>
            </a:extLst>
          </p:cNvPr>
          <p:cNvGraphicFramePr>
            <a:graphicFrameLocks noGrp="1"/>
          </p:cNvGraphicFramePr>
          <p:nvPr>
            <p:ph idx="1"/>
          </p:nvPr>
        </p:nvGraphicFramePr>
        <p:xfrm>
          <a:off x="838200" y="2964974"/>
          <a:ext cx="10515600" cy="2072640"/>
        </p:xfrm>
        <a:graphic>
          <a:graphicData uri="http://schemas.openxmlformats.org/drawingml/2006/table">
            <a:tbl>
              <a:tblPr/>
              <a:tblGrid>
                <a:gridCol w="2628900">
                  <a:extLst>
                    <a:ext uri="{9D8B030D-6E8A-4147-A177-3AD203B41FA5}">
                      <a16:colId xmlns:a16="http://schemas.microsoft.com/office/drawing/2014/main" val="2598917949"/>
                    </a:ext>
                  </a:extLst>
                </a:gridCol>
                <a:gridCol w="2628900">
                  <a:extLst>
                    <a:ext uri="{9D8B030D-6E8A-4147-A177-3AD203B41FA5}">
                      <a16:colId xmlns:a16="http://schemas.microsoft.com/office/drawing/2014/main" val="3943933372"/>
                    </a:ext>
                  </a:extLst>
                </a:gridCol>
                <a:gridCol w="2628900">
                  <a:extLst>
                    <a:ext uri="{9D8B030D-6E8A-4147-A177-3AD203B41FA5}">
                      <a16:colId xmlns:a16="http://schemas.microsoft.com/office/drawing/2014/main" val="3022829405"/>
                    </a:ext>
                  </a:extLst>
                </a:gridCol>
                <a:gridCol w="2628900">
                  <a:extLst>
                    <a:ext uri="{9D8B030D-6E8A-4147-A177-3AD203B41FA5}">
                      <a16:colId xmlns:a16="http://schemas.microsoft.com/office/drawing/2014/main" val="4125461612"/>
                    </a:ext>
                  </a:extLst>
                </a:gridCol>
              </a:tblGrid>
              <a:tr h="0">
                <a:tc>
                  <a:txBody>
                    <a:bodyPr/>
                    <a:lstStyle/>
                    <a:p>
                      <a:pPr rtl="0">
                        <a:buNone/>
                      </a:pPr>
                      <a:r>
                        <a:rPr lang="en-CA" b="1">
                          <a:solidFill>
                            <a:srgbClr val="1F1F1F"/>
                          </a:solidFill>
                          <a:effectLst/>
                          <a:latin typeface="Google Sans Text"/>
                        </a:rPr>
                        <a:t>Method</a:t>
                      </a:r>
                      <a:endParaRPr lang="en-CA">
                        <a:solidFill>
                          <a:srgbClr val="1F1F1F"/>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CA" b="1">
                          <a:solidFill>
                            <a:srgbClr val="1F1F1F"/>
                          </a:solidFill>
                          <a:effectLst/>
                          <a:latin typeface="Google Sans Text"/>
                        </a:rPr>
                        <a:t>Accuracy</a:t>
                      </a:r>
                      <a:endParaRPr lang="en-CA">
                        <a:solidFill>
                          <a:srgbClr val="1F1F1F"/>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CA" b="1">
                          <a:solidFill>
                            <a:srgbClr val="1F1F1F"/>
                          </a:solidFill>
                          <a:effectLst/>
                          <a:latin typeface="Google Sans Text"/>
                        </a:rPr>
                        <a:t>Detection Rate</a:t>
                      </a:r>
                      <a:endParaRPr lang="en-CA">
                        <a:solidFill>
                          <a:srgbClr val="1F1F1F"/>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CA" b="1">
                          <a:solidFill>
                            <a:srgbClr val="1F1F1F"/>
                          </a:solidFill>
                          <a:effectLst/>
                          <a:latin typeface="Google Sans Text"/>
                        </a:rPr>
                        <a:t>F1-Score</a:t>
                      </a:r>
                      <a:endParaRPr lang="en-CA">
                        <a:solidFill>
                          <a:srgbClr val="1F1F1F"/>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6249131"/>
                  </a:ext>
                </a:extLst>
              </a:tr>
              <a:tr h="0">
                <a:tc>
                  <a:txBody>
                    <a:bodyPr/>
                    <a:lstStyle/>
                    <a:p>
                      <a:pPr rtl="0">
                        <a:buNone/>
                      </a:pPr>
                      <a:r>
                        <a:rPr lang="en-CA">
                          <a:solidFill>
                            <a:srgbClr val="1F1F1F"/>
                          </a:solidFill>
                          <a:effectLst/>
                          <a:latin typeface="Google Sans Text"/>
                        </a:rPr>
                        <a:t>CAPE &gt; 25</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CA">
                          <a:solidFill>
                            <a:srgbClr val="1F1F1F"/>
                          </a:solidFill>
                          <a:effectLst/>
                          <a:latin typeface="Google Sans Text"/>
                        </a:rPr>
                        <a:t>97.8%</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CA">
                          <a:solidFill>
                            <a:srgbClr val="1F1F1F"/>
                          </a:solidFill>
                          <a:effectLst/>
                          <a:latin typeface="Google Sans Text"/>
                        </a:rPr>
                        <a:t>2.2%</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CA" b="1">
                          <a:solidFill>
                            <a:srgbClr val="1F1F1F"/>
                          </a:solidFill>
                          <a:effectLst/>
                          <a:latin typeface="Google Sans Text"/>
                        </a:rPr>
                        <a:t>0.000</a:t>
                      </a:r>
                      <a:endParaRPr lang="en-CA">
                        <a:solidFill>
                          <a:srgbClr val="1F1F1F"/>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35794198"/>
                  </a:ext>
                </a:extLst>
              </a:tr>
              <a:tr h="0">
                <a:tc>
                  <a:txBody>
                    <a:bodyPr/>
                    <a:lstStyle/>
                    <a:p>
                      <a:pPr rtl="0">
                        <a:buNone/>
                      </a:pPr>
                      <a:r>
                        <a:rPr lang="en-CA">
                          <a:solidFill>
                            <a:srgbClr val="1F1F1F"/>
                          </a:solidFill>
                          <a:effectLst/>
                          <a:latin typeface="Google Sans Text"/>
                        </a:rPr>
                        <a:t>GSADF-Only</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CA" dirty="0">
                          <a:solidFill>
                            <a:srgbClr val="1F1F1F"/>
                          </a:solidFill>
                          <a:effectLst/>
                          <a:latin typeface="Google Sans Text"/>
                        </a:rPr>
                        <a:t>88.2%</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CA">
                          <a:solidFill>
                            <a:srgbClr val="1F1F1F"/>
                          </a:solidFill>
                          <a:effectLst/>
                          <a:latin typeface="Google Sans Text"/>
                        </a:rPr>
                        <a:t>0.0%</a:t>
                      </a: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CA" b="1">
                          <a:solidFill>
                            <a:srgbClr val="1F1F1F"/>
                          </a:solidFill>
                          <a:effectLst/>
                          <a:latin typeface="Google Sans Text"/>
                        </a:rPr>
                        <a:t>0.000</a:t>
                      </a:r>
                      <a:endParaRPr lang="en-CA">
                        <a:solidFill>
                          <a:srgbClr val="1F1F1F"/>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55726701"/>
                  </a:ext>
                </a:extLst>
              </a:tr>
              <a:tr h="0">
                <a:tc>
                  <a:txBody>
                    <a:bodyPr/>
                    <a:lstStyle/>
                    <a:p>
                      <a:pPr rtl="0">
                        <a:buNone/>
                      </a:pPr>
                      <a:r>
                        <a:rPr lang="en-CA" b="1">
                          <a:solidFill>
                            <a:srgbClr val="1F1F1F"/>
                          </a:solidFill>
                          <a:effectLst/>
                          <a:latin typeface="Google Sans Text"/>
                        </a:rPr>
                        <a:t>Hybrid (GSADF+ML)</a:t>
                      </a:r>
                      <a:endParaRPr lang="en-CA">
                        <a:solidFill>
                          <a:srgbClr val="1F1F1F"/>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CA" b="1">
                          <a:solidFill>
                            <a:srgbClr val="1F1F1F"/>
                          </a:solidFill>
                          <a:effectLst/>
                          <a:latin typeface="Google Sans Text"/>
                        </a:rPr>
                        <a:t>94.1%</a:t>
                      </a:r>
                      <a:endParaRPr lang="en-CA">
                        <a:solidFill>
                          <a:srgbClr val="1F1F1F"/>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CA" b="1">
                          <a:solidFill>
                            <a:srgbClr val="1F1F1F"/>
                          </a:solidFill>
                          <a:effectLst/>
                          <a:latin typeface="Google Sans Text"/>
                        </a:rPr>
                        <a:t>4.7%</a:t>
                      </a:r>
                      <a:endParaRPr lang="en-CA">
                        <a:solidFill>
                          <a:srgbClr val="1F1F1F"/>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CA" b="1" dirty="0">
                          <a:solidFill>
                            <a:srgbClr val="1F1F1F"/>
                          </a:solidFill>
                          <a:effectLst/>
                          <a:latin typeface="Google Sans Text"/>
                        </a:rPr>
                        <a:t>0.143</a:t>
                      </a:r>
                      <a:endParaRPr lang="en-CA" dirty="0">
                        <a:solidFill>
                          <a:srgbClr val="1F1F1F"/>
                        </a:solidFill>
                        <a:effectLst/>
                        <a:latin typeface="Google Sans Text"/>
                      </a:endParaRPr>
                    </a:p>
                  </a:txBody>
                  <a:tcPr marT="121920" marB="12192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1634727"/>
                  </a:ext>
                </a:extLst>
              </a:tr>
            </a:tbl>
          </a:graphicData>
        </a:graphic>
      </p:graphicFrame>
      <p:pic>
        <p:nvPicPr>
          <p:cNvPr id="5" name="Picture 4">
            <a:extLst>
              <a:ext uri="{FF2B5EF4-FFF2-40B4-BE49-F238E27FC236}">
                <a16:creationId xmlns:a16="http://schemas.microsoft.com/office/drawing/2014/main" id="{C02E1074-D9F9-85D8-E063-FEC8E6152547}"/>
              </a:ext>
            </a:extLst>
          </p:cNvPr>
          <p:cNvPicPr>
            <a:picLocks noChangeAspect="1"/>
          </p:cNvPicPr>
          <p:nvPr/>
        </p:nvPicPr>
        <p:blipFill>
          <a:blip r:embed="rId2"/>
          <a:stretch>
            <a:fillRect/>
          </a:stretch>
        </p:blipFill>
        <p:spPr>
          <a:xfrm>
            <a:off x="139544" y="256176"/>
            <a:ext cx="1707028" cy="1213209"/>
          </a:xfrm>
          <a:prstGeom prst="rect">
            <a:avLst/>
          </a:prstGeom>
        </p:spPr>
      </p:pic>
      <p:pic>
        <p:nvPicPr>
          <p:cNvPr id="6" name="Picture 5">
            <a:extLst>
              <a:ext uri="{FF2B5EF4-FFF2-40B4-BE49-F238E27FC236}">
                <a16:creationId xmlns:a16="http://schemas.microsoft.com/office/drawing/2014/main" id="{E3903979-EE78-3E5D-F49E-A56E70675B4B}"/>
              </a:ext>
            </a:extLst>
          </p:cNvPr>
          <p:cNvPicPr>
            <a:picLocks noChangeAspect="1"/>
          </p:cNvPicPr>
          <p:nvPr/>
        </p:nvPicPr>
        <p:blipFill>
          <a:blip r:embed="rId3"/>
          <a:stretch>
            <a:fillRect/>
          </a:stretch>
        </p:blipFill>
        <p:spPr>
          <a:xfrm>
            <a:off x="554561" y="5541817"/>
            <a:ext cx="1761897" cy="951058"/>
          </a:xfrm>
          <a:prstGeom prst="rect">
            <a:avLst/>
          </a:prstGeom>
        </p:spPr>
      </p:pic>
      <p:sp>
        <p:nvSpPr>
          <p:cNvPr id="7" name="Footer Placeholder 6">
            <a:extLst>
              <a:ext uri="{FF2B5EF4-FFF2-40B4-BE49-F238E27FC236}">
                <a16:creationId xmlns:a16="http://schemas.microsoft.com/office/drawing/2014/main" id="{DACA3C88-2972-3D7A-39A2-946F0AA09FD0}"/>
              </a:ext>
            </a:extLst>
          </p:cNvPr>
          <p:cNvSpPr>
            <a:spLocks noGrp="1"/>
          </p:cNvSpPr>
          <p:nvPr>
            <p:ph type="ftr" sz="quarter" idx="11"/>
          </p:nvPr>
        </p:nvSpPr>
        <p:spPr/>
        <p:txBody>
          <a:bodyPr/>
          <a:lstStyle/>
          <a:p>
            <a:r>
              <a:rPr lang="en-US"/>
              <a:t>Lecturer at George Brown College and Ontario Tech university</a:t>
            </a:r>
            <a:endParaRPr lang="en-CA"/>
          </a:p>
        </p:txBody>
      </p:sp>
    </p:spTree>
    <p:extLst>
      <p:ext uri="{BB962C8B-B14F-4D97-AF65-F5344CB8AC3E}">
        <p14:creationId xmlns:p14="http://schemas.microsoft.com/office/powerpoint/2010/main" val="39057401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EFD7C-DCA3-0BD6-39B8-4D5DF7695FD7}"/>
              </a:ext>
            </a:extLst>
          </p:cNvPr>
          <p:cNvSpPr>
            <a:spLocks noGrp="1"/>
          </p:cNvSpPr>
          <p:nvPr>
            <p:ph type="title"/>
          </p:nvPr>
        </p:nvSpPr>
        <p:spPr/>
        <p:txBody>
          <a:bodyPr/>
          <a:lstStyle/>
          <a:p>
            <a:r>
              <a:rPr lang="en-CA" b="1" dirty="0"/>
              <a:t>Key Insight</a:t>
            </a:r>
            <a:br>
              <a:rPr lang="en-CA" b="1" dirty="0"/>
            </a:br>
            <a:endParaRPr lang="en-CA" dirty="0"/>
          </a:p>
        </p:txBody>
      </p:sp>
      <p:sp>
        <p:nvSpPr>
          <p:cNvPr id="3" name="Content Placeholder 2">
            <a:extLst>
              <a:ext uri="{FF2B5EF4-FFF2-40B4-BE49-F238E27FC236}">
                <a16:creationId xmlns:a16="http://schemas.microsoft.com/office/drawing/2014/main" id="{8BFD27E7-6542-D1D5-3C2E-5590DCA61A24}"/>
              </a:ext>
            </a:extLst>
          </p:cNvPr>
          <p:cNvSpPr>
            <a:spLocks noGrp="1"/>
          </p:cNvSpPr>
          <p:nvPr>
            <p:ph idx="1"/>
          </p:nvPr>
        </p:nvSpPr>
        <p:spPr/>
        <p:txBody>
          <a:bodyPr/>
          <a:lstStyle/>
          <a:p>
            <a:r>
              <a:rPr lang="en-CA" dirty="0"/>
              <a:t>Traditional models use </a:t>
            </a:r>
            <a:r>
              <a:rPr lang="en-CA" b="1" dirty="0"/>
              <a:t>CAPE alone</a:t>
            </a:r>
            <a:r>
              <a:rPr lang="en-CA" dirty="0"/>
              <a:t> → F1 = 0.000 (total failure)</a:t>
            </a:r>
          </a:p>
          <a:p>
            <a:r>
              <a:rPr lang="en-CA" dirty="0"/>
              <a:t>Hybrid model uses </a:t>
            </a:r>
            <a:r>
              <a:rPr lang="en-CA" b="1" dirty="0"/>
              <a:t>momentum + volatility + adaptive CAPE</a:t>
            </a:r>
            <a:r>
              <a:rPr lang="en-CA" dirty="0"/>
              <a:t> → F1 = 0.143 (detects real bubbles)</a:t>
            </a:r>
          </a:p>
          <a:p>
            <a:r>
              <a:rPr lang="en-CA" dirty="0"/>
              <a:t>🎯 </a:t>
            </a:r>
            <a:r>
              <a:rPr lang="en-CA" b="1" dirty="0"/>
              <a:t>Bottom line:</a:t>
            </a:r>
            <a:r>
              <a:rPr lang="en-CA" dirty="0"/>
              <a:t> Speed (momentum) and chaos (volatility) matter more than static valuation. The hybrid model catches what simple ratios miss.</a:t>
            </a:r>
          </a:p>
          <a:p>
            <a:endParaRPr lang="en-CA" dirty="0"/>
          </a:p>
        </p:txBody>
      </p:sp>
      <p:sp>
        <p:nvSpPr>
          <p:cNvPr id="4" name="Footer Placeholder 3">
            <a:extLst>
              <a:ext uri="{FF2B5EF4-FFF2-40B4-BE49-F238E27FC236}">
                <a16:creationId xmlns:a16="http://schemas.microsoft.com/office/drawing/2014/main" id="{3FC169FC-65F8-55DB-0BA6-48985ABCA5E4}"/>
              </a:ext>
            </a:extLst>
          </p:cNvPr>
          <p:cNvSpPr>
            <a:spLocks noGrp="1"/>
          </p:cNvSpPr>
          <p:nvPr>
            <p:ph type="ftr" sz="quarter" idx="11"/>
          </p:nvPr>
        </p:nvSpPr>
        <p:spPr/>
        <p:txBody>
          <a:bodyPr/>
          <a:lstStyle/>
          <a:p>
            <a:r>
              <a:rPr lang="en-US"/>
              <a:t>Lecturer at George Brown College and Ontario Tech university</a:t>
            </a:r>
            <a:endParaRPr lang="en-CA"/>
          </a:p>
        </p:txBody>
      </p:sp>
      <p:pic>
        <p:nvPicPr>
          <p:cNvPr id="5" name="Picture 4">
            <a:extLst>
              <a:ext uri="{FF2B5EF4-FFF2-40B4-BE49-F238E27FC236}">
                <a16:creationId xmlns:a16="http://schemas.microsoft.com/office/drawing/2014/main" id="{2FD1E5B1-EBAD-1988-2F7C-5C4DE987F638}"/>
              </a:ext>
            </a:extLst>
          </p:cNvPr>
          <p:cNvPicPr>
            <a:picLocks noChangeAspect="1"/>
          </p:cNvPicPr>
          <p:nvPr/>
        </p:nvPicPr>
        <p:blipFill>
          <a:blip r:embed="rId2"/>
          <a:stretch>
            <a:fillRect/>
          </a:stretch>
        </p:blipFill>
        <p:spPr>
          <a:xfrm>
            <a:off x="139544" y="256176"/>
            <a:ext cx="1707028" cy="1213209"/>
          </a:xfrm>
          <a:prstGeom prst="rect">
            <a:avLst/>
          </a:prstGeom>
        </p:spPr>
      </p:pic>
      <p:pic>
        <p:nvPicPr>
          <p:cNvPr id="6" name="Picture 5">
            <a:extLst>
              <a:ext uri="{FF2B5EF4-FFF2-40B4-BE49-F238E27FC236}">
                <a16:creationId xmlns:a16="http://schemas.microsoft.com/office/drawing/2014/main" id="{6656906A-D13E-19FA-0AC9-009EDB0997DA}"/>
              </a:ext>
            </a:extLst>
          </p:cNvPr>
          <p:cNvPicPr>
            <a:picLocks noChangeAspect="1"/>
          </p:cNvPicPr>
          <p:nvPr/>
        </p:nvPicPr>
        <p:blipFill>
          <a:blip r:embed="rId3"/>
          <a:stretch>
            <a:fillRect/>
          </a:stretch>
        </p:blipFill>
        <p:spPr>
          <a:xfrm>
            <a:off x="554561" y="5541817"/>
            <a:ext cx="1761897" cy="951058"/>
          </a:xfrm>
          <a:prstGeom prst="rect">
            <a:avLst/>
          </a:prstGeom>
        </p:spPr>
      </p:pic>
    </p:spTree>
    <p:extLst>
      <p:ext uri="{BB962C8B-B14F-4D97-AF65-F5344CB8AC3E}">
        <p14:creationId xmlns:p14="http://schemas.microsoft.com/office/powerpoint/2010/main" val="19415523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5C61D-0FCA-0DC5-0D06-F7C24D57C635}"/>
              </a:ext>
            </a:extLst>
          </p:cNvPr>
          <p:cNvSpPr>
            <a:spLocks noGrp="1"/>
          </p:cNvSpPr>
          <p:nvPr>
            <p:ph type="title"/>
          </p:nvPr>
        </p:nvSpPr>
        <p:spPr/>
        <p:txBody>
          <a:bodyPr/>
          <a:lstStyle/>
          <a:p>
            <a:pPr algn="ctr"/>
            <a:r>
              <a:rPr lang="en-CA" dirty="0"/>
              <a:t>Detection Highlights (Case Studies)</a:t>
            </a:r>
          </a:p>
        </p:txBody>
      </p:sp>
      <p:sp>
        <p:nvSpPr>
          <p:cNvPr id="3" name="Content Placeholder 2">
            <a:extLst>
              <a:ext uri="{FF2B5EF4-FFF2-40B4-BE49-F238E27FC236}">
                <a16:creationId xmlns:a16="http://schemas.microsoft.com/office/drawing/2014/main" id="{61D7FCF0-F4C8-6527-2159-EA2B199219A9}"/>
              </a:ext>
            </a:extLst>
          </p:cNvPr>
          <p:cNvSpPr>
            <a:spLocks noGrp="1"/>
          </p:cNvSpPr>
          <p:nvPr>
            <p:ph idx="1"/>
          </p:nvPr>
        </p:nvSpPr>
        <p:spPr/>
        <p:txBody>
          <a:bodyPr/>
          <a:lstStyle/>
          <a:p>
            <a:r>
              <a:rPr lang="en-US" dirty="0"/>
              <a:t>2000-01: Dot-com spike (+58.6% Momentum).</a:t>
            </a:r>
          </a:p>
          <a:p>
            <a:r>
              <a:rPr lang="en-US" dirty="0"/>
              <a:t>2020-04: COVID-19 Liquidity Shock.</a:t>
            </a:r>
          </a:p>
          <a:p>
            <a:r>
              <a:rPr lang="en-US" dirty="0"/>
              <a:t>The ML Gain: Identified 17 unique signals that traditional econometrics missed entirely.</a:t>
            </a:r>
            <a:endParaRPr lang="en-CA" dirty="0"/>
          </a:p>
        </p:txBody>
      </p:sp>
      <p:pic>
        <p:nvPicPr>
          <p:cNvPr id="4" name="Picture 3">
            <a:extLst>
              <a:ext uri="{FF2B5EF4-FFF2-40B4-BE49-F238E27FC236}">
                <a16:creationId xmlns:a16="http://schemas.microsoft.com/office/drawing/2014/main" id="{B1B320D5-BC34-8202-4121-B28DA55DD649}"/>
              </a:ext>
            </a:extLst>
          </p:cNvPr>
          <p:cNvPicPr>
            <a:picLocks noChangeAspect="1"/>
          </p:cNvPicPr>
          <p:nvPr/>
        </p:nvPicPr>
        <p:blipFill>
          <a:blip r:embed="rId2"/>
          <a:stretch>
            <a:fillRect/>
          </a:stretch>
        </p:blipFill>
        <p:spPr>
          <a:xfrm>
            <a:off x="218202" y="230188"/>
            <a:ext cx="1707028" cy="1213209"/>
          </a:xfrm>
          <a:prstGeom prst="rect">
            <a:avLst/>
          </a:prstGeom>
        </p:spPr>
      </p:pic>
      <p:pic>
        <p:nvPicPr>
          <p:cNvPr id="5" name="Picture 4">
            <a:extLst>
              <a:ext uri="{FF2B5EF4-FFF2-40B4-BE49-F238E27FC236}">
                <a16:creationId xmlns:a16="http://schemas.microsoft.com/office/drawing/2014/main" id="{DEDBC0DD-8337-A8F4-05CA-3C8FE56528A4}"/>
              </a:ext>
            </a:extLst>
          </p:cNvPr>
          <p:cNvPicPr>
            <a:picLocks noChangeAspect="1"/>
          </p:cNvPicPr>
          <p:nvPr/>
        </p:nvPicPr>
        <p:blipFill>
          <a:blip r:embed="rId3"/>
          <a:stretch>
            <a:fillRect/>
          </a:stretch>
        </p:blipFill>
        <p:spPr>
          <a:xfrm>
            <a:off x="731541" y="5360842"/>
            <a:ext cx="1761897" cy="951058"/>
          </a:xfrm>
          <a:prstGeom prst="rect">
            <a:avLst/>
          </a:prstGeom>
        </p:spPr>
      </p:pic>
      <p:sp>
        <p:nvSpPr>
          <p:cNvPr id="6" name="Footer Placeholder 5">
            <a:extLst>
              <a:ext uri="{FF2B5EF4-FFF2-40B4-BE49-F238E27FC236}">
                <a16:creationId xmlns:a16="http://schemas.microsoft.com/office/drawing/2014/main" id="{C60CB26D-7400-070C-DF28-9DA74F03191E}"/>
              </a:ext>
            </a:extLst>
          </p:cNvPr>
          <p:cNvSpPr>
            <a:spLocks noGrp="1"/>
          </p:cNvSpPr>
          <p:nvPr>
            <p:ph type="ftr" sz="quarter" idx="11"/>
          </p:nvPr>
        </p:nvSpPr>
        <p:spPr/>
        <p:txBody>
          <a:bodyPr/>
          <a:lstStyle/>
          <a:p>
            <a:r>
              <a:rPr lang="en-US"/>
              <a:t>Lecturer at George Brown College and Ontario Tech university</a:t>
            </a:r>
            <a:endParaRPr lang="en-CA"/>
          </a:p>
        </p:txBody>
      </p:sp>
    </p:spTree>
    <p:extLst>
      <p:ext uri="{BB962C8B-B14F-4D97-AF65-F5344CB8AC3E}">
        <p14:creationId xmlns:p14="http://schemas.microsoft.com/office/powerpoint/2010/main" val="23798276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2D597-72B8-ACAC-C413-1F0E66FC03B0}"/>
              </a:ext>
            </a:extLst>
          </p:cNvPr>
          <p:cNvSpPr>
            <a:spLocks noGrp="1"/>
          </p:cNvSpPr>
          <p:nvPr>
            <p:ph type="title"/>
          </p:nvPr>
        </p:nvSpPr>
        <p:spPr/>
        <p:txBody>
          <a:bodyPr/>
          <a:lstStyle/>
          <a:p>
            <a:pPr algn="ctr"/>
            <a:r>
              <a:rPr lang="en-CA" dirty="0"/>
              <a:t>Policy &amp; Regulatory Implications</a:t>
            </a:r>
          </a:p>
        </p:txBody>
      </p:sp>
      <p:sp>
        <p:nvSpPr>
          <p:cNvPr id="3" name="Content Placeholder 2">
            <a:extLst>
              <a:ext uri="{FF2B5EF4-FFF2-40B4-BE49-F238E27FC236}">
                <a16:creationId xmlns:a16="http://schemas.microsoft.com/office/drawing/2014/main" id="{32A3FC5E-0BB2-C57F-7D10-02E353624274}"/>
              </a:ext>
            </a:extLst>
          </p:cNvPr>
          <p:cNvSpPr>
            <a:spLocks noGrp="1"/>
          </p:cNvSpPr>
          <p:nvPr>
            <p:ph idx="1"/>
          </p:nvPr>
        </p:nvSpPr>
        <p:spPr/>
        <p:txBody>
          <a:bodyPr>
            <a:normAutofit/>
          </a:bodyPr>
          <a:lstStyle/>
          <a:p>
            <a:r>
              <a:rPr lang="en-CA" dirty="0"/>
              <a:t>Systemic Risk: Bubbles cause massive capital misallocation (Martin &amp; Ventura, 2012).</a:t>
            </a:r>
          </a:p>
          <a:p>
            <a:r>
              <a:rPr lang="en-US" b="1" dirty="0"/>
              <a:t>Key insight:</a:t>
            </a:r>
            <a:r>
              <a:rPr lang="en-US" dirty="0"/>
              <a:t> Bubbles don't just hurt speculators — they distort the entire economy's resource allocation.</a:t>
            </a:r>
            <a:endParaRPr lang="en-CA" dirty="0"/>
          </a:p>
          <a:p>
            <a:r>
              <a:rPr lang="en-CA" dirty="0"/>
              <a:t>Regulatory Dilemma: "Leaning against the wind" vs. over-regulation stifling growth (Bartlett III, 2014).</a:t>
            </a:r>
          </a:p>
          <a:p>
            <a:r>
              <a:rPr lang="en-US" b="1" dirty="0"/>
              <a:t>Key insight:</a:t>
            </a:r>
            <a:r>
              <a:rPr lang="en-US" dirty="0"/>
              <a:t> There's no perfect answer — regulators must balance preventing crises vs. preserving growth.</a:t>
            </a:r>
            <a:endParaRPr lang="en-CA" dirty="0"/>
          </a:p>
        </p:txBody>
      </p:sp>
      <p:pic>
        <p:nvPicPr>
          <p:cNvPr id="4" name="Picture 3">
            <a:extLst>
              <a:ext uri="{FF2B5EF4-FFF2-40B4-BE49-F238E27FC236}">
                <a16:creationId xmlns:a16="http://schemas.microsoft.com/office/drawing/2014/main" id="{CD025A55-1CA1-0696-020C-2AF5249D407D}"/>
              </a:ext>
            </a:extLst>
          </p:cNvPr>
          <p:cNvPicPr>
            <a:picLocks noChangeAspect="1"/>
          </p:cNvPicPr>
          <p:nvPr/>
        </p:nvPicPr>
        <p:blipFill>
          <a:blip r:embed="rId2"/>
          <a:stretch>
            <a:fillRect/>
          </a:stretch>
        </p:blipFill>
        <p:spPr>
          <a:xfrm>
            <a:off x="405015" y="230188"/>
            <a:ext cx="1707028" cy="1213209"/>
          </a:xfrm>
          <a:prstGeom prst="rect">
            <a:avLst/>
          </a:prstGeom>
        </p:spPr>
      </p:pic>
      <p:pic>
        <p:nvPicPr>
          <p:cNvPr id="6" name="Picture 5">
            <a:extLst>
              <a:ext uri="{FF2B5EF4-FFF2-40B4-BE49-F238E27FC236}">
                <a16:creationId xmlns:a16="http://schemas.microsoft.com/office/drawing/2014/main" id="{91EEC9CD-455F-1300-AAB8-B16BF3ECD8D0}"/>
              </a:ext>
            </a:extLst>
          </p:cNvPr>
          <p:cNvPicPr>
            <a:picLocks noChangeAspect="1"/>
          </p:cNvPicPr>
          <p:nvPr/>
        </p:nvPicPr>
        <p:blipFill>
          <a:blip r:embed="rId3"/>
          <a:stretch>
            <a:fillRect/>
          </a:stretch>
        </p:blipFill>
        <p:spPr>
          <a:xfrm>
            <a:off x="505400" y="5441032"/>
            <a:ext cx="1761897" cy="951058"/>
          </a:xfrm>
          <a:prstGeom prst="rect">
            <a:avLst/>
          </a:prstGeom>
        </p:spPr>
      </p:pic>
      <p:sp>
        <p:nvSpPr>
          <p:cNvPr id="8" name="Footer Placeholder 7">
            <a:extLst>
              <a:ext uri="{FF2B5EF4-FFF2-40B4-BE49-F238E27FC236}">
                <a16:creationId xmlns:a16="http://schemas.microsoft.com/office/drawing/2014/main" id="{5670F211-9AB8-264D-D2ED-AAF066C77F6E}"/>
              </a:ext>
            </a:extLst>
          </p:cNvPr>
          <p:cNvSpPr>
            <a:spLocks noGrp="1"/>
          </p:cNvSpPr>
          <p:nvPr>
            <p:ph type="ftr" sz="quarter" idx="11"/>
          </p:nvPr>
        </p:nvSpPr>
        <p:spPr/>
        <p:txBody>
          <a:bodyPr/>
          <a:lstStyle/>
          <a:p>
            <a:r>
              <a:rPr lang="en-US"/>
              <a:t>Lecturer at George Brown College and Ontario Tech university</a:t>
            </a:r>
            <a:endParaRPr lang="en-CA"/>
          </a:p>
        </p:txBody>
      </p:sp>
    </p:spTree>
    <p:extLst>
      <p:ext uri="{BB962C8B-B14F-4D97-AF65-F5344CB8AC3E}">
        <p14:creationId xmlns:p14="http://schemas.microsoft.com/office/powerpoint/2010/main" val="4187799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A2EF4-248A-7A0F-1C18-43F4DE81B6C2}"/>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CB744C44-4CD4-DB0A-F466-7C663B84BFF5}"/>
              </a:ext>
            </a:extLst>
          </p:cNvPr>
          <p:cNvSpPr>
            <a:spLocks noGrp="1"/>
          </p:cNvSpPr>
          <p:nvPr>
            <p:ph idx="1"/>
          </p:nvPr>
        </p:nvSpPr>
        <p:spPr/>
        <p:txBody>
          <a:bodyPr/>
          <a:lstStyle/>
          <a:p>
            <a:r>
              <a:rPr lang="en-CA" dirty="0"/>
              <a:t>Sector Impact: Real estate bubbles vs. Equity bubbles (Li et al., 2021).</a:t>
            </a:r>
          </a:p>
          <a:p>
            <a:r>
              <a:rPr lang="en-US" dirty="0"/>
              <a:t>Real estate bubbles are more dangerous — they involve more debt and hit ordinary people harder than stock crashes.</a:t>
            </a:r>
            <a:endParaRPr lang="en-CA" dirty="0"/>
          </a:p>
        </p:txBody>
      </p:sp>
      <p:sp>
        <p:nvSpPr>
          <p:cNvPr id="4" name="Footer Placeholder 3">
            <a:extLst>
              <a:ext uri="{FF2B5EF4-FFF2-40B4-BE49-F238E27FC236}">
                <a16:creationId xmlns:a16="http://schemas.microsoft.com/office/drawing/2014/main" id="{53DDBF94-C7C7-24AD-10DE-2FAC5AA2B7FA}"/>
              </a:ext>
            </a:extLst>
          </p:cNvPr>
          <p:cNvSpPr>
            <a:spLocks noGrp="1"/>
          </p:cNvSpPr>
          <p:nvPr>
            <p:ph type="ftr" sz="quarter" idx="11"/>
          </p:nvPr>
        </p:nvSpPr>
        <p:spPr/>
        <p:txBody>
          <a:bodyPr/>
          <a:lstStyle/>
          <a:p>
            <a:r>
              <a:rPr lang="en-US"/>
              <a:t>Lecturer at George Brown College and Ontario Tech university</a:t>
            </a:r>
            <a:endParaRPr lang="en-CA"/>
          </a:p>
        </p:txBody>
      </p:sp>
      <p:pic>
        <p:nvPicPr>
          <p:cNvPr id="5" name="Picture 4">
            <a:extLst>
              <a:ext uri="{FF2B5EF4-FFF2-40B4-BE49-F238E27FC236}">
                <a16:creationId xmlns:a16="http://schemas.microsoft.com/office/drawing/2014/main" id="{B28EC368-9686-5A62-B2E7-329660B466A9}"/>
              </a:ext>
            </a:extLst>
          </p:cNvPr>
          <p:cNvPicPr>
            <a:picLocks noChangeAspect="1"/>
          </p:cNvPicPr>
          <p:nvPr/>
        </p:nvPicPr>
        <p:blipFill>
          <a:blip r:embed="rId2"/>
          <a:stretch>
            <a:fillRect/>
          </a:stretch>
        </p:blipFill>
        <p:spPr>
          <a:xfrm>
            <a:off x="405015" y="230188"/>
            <a:ext cx="1707028" cy="1213209"/>
          </a:xfrm>
          <a:prstGeom prst="rect">
            <a:avLst/>
          </a:prstGeom>
        </p:spPr>
      </p:pic>
      <p:pic>
        <p:nvPicPr>
          <p:cNvPr id="6" name="Picture 5">
            <a:extLst>
              <a:ext uri="{FF2B5EF4-FFF2-40B4-BE49-F238E27FC236}">
                <a16:creationId xmlns:a16="http://schemas.microsoft.com/office/drawing/2014/main" id="{83D545D4-5164-9DDA-6AE6-81EE384D2443}"/>
              </a:ext>
            </a:extLst>
          </p:cNvPr>
          <p:cNvPicPr>
            <a:picLocks noChangeAspect="1"/>
          </p:cNvPicPr>
          <p:nvPr/>
        </p:nvPicPr>
        <p:blipFill>
          <a:blip r:embed="rId3"/>
          <a:stretch>
            <a:fillRect/>
          </a:stretch>
        </p:blipFill>
        <p:spPr>
          <a:xfrm>
            <a:off x="505400" y="5441032"/>
            <a:ext cx="1761897" cy="951058"/>
          </a:xfrm>
          <a:prstGeom prst="rect">
            <a:avLst/>
          </a:prstGeom>
        </p:spPr>
      </p:pic>
    </p:spTree>
    <p:extLst>
      <p:ext uri="{BB962C8B-B14F-4D97-AF65-F5344CB8AC3E}">
        <p14:creationId xmlns:p14="http://schemas.microsoft.com/office/powerpoint/2010/main" val="16819301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93A98-8852-3DBC-6005-EAACE7B93E5C}"/>
              </a:ext>
            </a:extLst>
          </p:cNvPr>
          <p:cNvSpPr>
            <a:spLocks noGrp="1"/>
          </p:cNvSpPr>
          <p:nvPr>
            <p:ph type="title"/>
          </p:nvPr>
        </p:nvSpPr>
        <p:spPr/>
        <p:txBody>
          <a:bodyPr/>
          <a:lstStyle/>
          <a:p>
            <a:r>
              <a:rPr lang="en-CA" dirty="0"/>
              <a:t>Conclusion &amp; Future Work</a:t>
            </a:r>
          </a:p>
        </p:txBody>
      </p:sp>
      <p:sp>
        <p:nvSpPr>
          <p:cNvPr id="3" name="Content Placeholder 2">
            <a:extLst>
              <a:ext uri="{FF2B5EF4-FFF2-40B4-BE49-F238E27FC236}">
                <a16:creationId xmlns:a16="http://schemas.microsoft.com/office/drawing/2014/main" id="{73272571-A819-6A42-BCC5-53CD0CB7DA38}"/>
              </a:ext>
            </a:extLst>
          </p:cNvPr>
          <p:cNvSpPr>
            <a:spLocks noGrp="1"/>
          </p:cNvSpPr>
          <p:nvPr>
            <p:ph idx="1"/>
          </p:nvPr>
        </p:nvSpPr>
        <p:spPr/>
        <p:txBody>
          <a:bodyPr/>
          <a:lstStyle/>
          <a:p>
            <a:r>
              <a:rPr lang="en-CA" dirty="0"/>
              <a:t>Summary: Modern markets require multi-layered detection. Simplicity is no longer a viable strategy for risk management.</a:t>
            </a:r>
          </a:p>
          <a:p>
            <a:r>
              <a:rPr lang="en-CA" dirty="0"/>
              <a:t>Next Steps:</a:t>
            </a:r>
          </a:p>
          <a:p>
            <a:pPr marL="0" indent="0">
              <a:buNone/>
            </a:pPr>
            <a:r>
              <a:rPr lang="en-CA" dirty="0"/>
              <a:t>Integrating Social Media Sentiment (Big Data).</a:t>
            </a:r>
          </a:p>
          <a:p>
            <a:pPr marL="0" indent="0">
              <a:buNone/>
            </a:pPr>
            <a:r>
              <a:rPr lang="en-CA" dirty="0"/>
              <a:t>Reducing detection lag in real-time ML algorithms.</a:t>
            </a:r>
          </a:p>
          <a:p>
            <a:r>
              <a:rPr lang="en-CA" dirty="0"/>
              <a:t>Closing: Questions?</a:t>
            </a:r>
          </a:p>
        </p:txBody>
      </p:sp>
      <p:pic>
        <p:nvPicPr>
          <p:cNvPr id="5" name="Picture 4">
            <a:extLst>
              <a:ext uri="{FF2B5EF4-FFF2-40B4-BE49-F238E27FC236}">
                <a16:creationId xmlns:a16="http://schemas.microsoft.com/office/drawing/2014/main" id="{AACBBA6F-3F20-DF5C-ED97-A35CB637202F}"/>
              </a:ext>
            </a:extLst>
          </p:cNvPr>
          <p:cNvPicPr>
            <a:picLocks noChangeAspect="1"/>
          </p:cNvPicPr>
          <p:nvPr/>
        </p:nvPicPr>
        <p:blipFill>
          <a:blip r:embed="rId2"/>
          <a:stretch>
            <a:fillRect/>
          </a:stretch>
        </p:blipFill>
        <p:spPr>
          <a:xfrm>
            <a:off x="109061" y="5535720"/>
            <a:ext cx="1767993" cy="957155"/>
          </a:xfrm>
          <a:prstGeom prst="rect">
            <a:avLst/>
          </a:prstGeom>
        </p:spPr>
      </p:pic>
      <p:sp>
        <p:nvSpPr>
          <p:cNvPr id="6" name="Footer Placeholder 5">
            <a:extLst>
              <a:ext uri="{FF2B5EF4-FFF2-40B4-BE49-F238E27FC236}">
                <a16:creationId xmlns:a16="http://schemas.microsoft.com/office/drawing/2014/main" id="{E0662A04-F01E-77FD-329B-944F200C44C7}"/>
              </a:ext>
            </a:extLst>
          </p:cNvPr>
          <p:cNvSpPr>
            <a:spLocks noGrp="1"/>
          </p:cNvSpPr>
          <p:nvPr>
            <p:ph type="ftr" sz="quarter" idx="11"/>
          </p:nvPr>
        </p:nvSpPr>
        <p:spPr/>
        <p:txBody>
          <a:bodyPr/>
          <a:lstStyle/>
          <a:p>
            <a:r>
              <a:rPr lang="en-US"/>
              <a:t>Lecturer at George Brown College and Ontario Tech university</a:t>
            </a:r>
            <a:endParaRPr lang="en-CA"/>
          </a:p>
        </p:txBody>
      </p:sp>
      <p:pic>
        <p:nvPicPr>
          <p:cNvPr id="4" name="Picture 3">
            <a:extLst>
              <a:ext uri="{FF2B5EF4-FFF2-40B4-BE49-F238E27FC236}">
                <a16:creationId xmlns:a16="http://schemas.microsoft.com/office/drawing/2014/main" id="{58F61207-C3D4-E1F8-3A22-953F6D8C5766}"/>
              </a:ext>
            </a:extLst>
          </p:cNvPr>
          <p:cNvPicPr>
            <a:picLocks noChangeAspect="1"/>
          </p:cNvPicPr>
          <p:nvPr/>
        </p:nvPicPr>
        <p:blipFill>
          <a:blip r:embed="rId3"/>
          <a:stretch>
            <a:fillRect/>
          </a:stretch>
        </p:blipFill>
        <p:spPr>
          <a:xfrm>
            <a:off x="405015" y="230188"/>
            <a:ext cx="1707028" cy="1213209"/>
          </a:xfrm>
          <a:prstGeom prst="rect">
            <a:avLst/>
          </a:prstGeom>
        </p:spPr>
      </p:pic>
    </p:spTree>
    <p:extLst>
      <p:ext uri="{BB962C8B-B14F-4D97-AF65-F5344CB8AC3E}">
        <p14:creationId xmlns:p14="http://schemas.microsoft.com/office/powerpoint/2010/main" val="20552889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53943-AF84-D0BC-ECBC-DA091A35551F}"/>
              </a:ext>
            </a:extLst>
          </p:cNvPr>
          <p:cNvSpPr>
            <a:spLocks noGrp="1"/>
          </p:cNvSpPr>
          <p:nvPr>
            <p:ph type="title"/>
          </p:nvPr>
        </p:nvSpPr>
        <p:spPr/>
        <p:txBody>
          <a:bodyPr/>
          <a:lstStyle/>
          <a:p>
            <a:r>
              <a:rPr lang="en-CA" dirty="0"/>
              <a:t>Reference</a:t>
            </a:r>
          </a:p>
        </p:txBody>
      </p:sp>
      <p:sp>
        <p:nvSpPr>
          <p:cNvPr id="3" name="Content Placeholder 2">
            <a:extLst>
              <a:ext uri="{FF2B5EF4-FFF2-40B4-BE49-F238E27FC236}">
                <a16:creationId xmlns:a16="http://schemas.microsoft.com/office/drawing/2014/main" id="{982C53E2-8E35-D2DD-ABC7-1B0D5BE1B1C6}"/>
              </a:ext>
            </a:extLst>
          </p:cNvPr>
          <p:cNvSpPr>
            <a:spLocks noGrp="1"/>
          </p:cNvSpPr>
          <p:nvPr>
            <p:ph idx="1"/>
          </p:nvPr>
        </p:nvSpPr>
        <p:spPr/>
        <p:txBody>
          <a:bodyPr>
            <a:normAutofit fontScale="55000" lnSpcReduction="20000"/>
          </a:bodyPr>
          <a:lstStyle/>
          <a:p>
            <a:endParaRPr lang="en-US" dirty="0"/>
          </a:p>
          <a:p>
            <a:r>
              <a:rPr lang="en-US" dirty="0"/>
              <a:t>Bartlett III, R. P. (2014). The Institutional Framework for Cost-Benefit Analysis in Financial Regulation: A Tale of Four Paradigms. The Journal of Legal Studies, 43(S2), S379-S405.</a:t>
            </a:r>
          </a:p>
          <a:p>
            <a:r>
              <a:rPr lang="en-US" dirty="0"/>
              <a:t>Blanchard, O. J., &amp; Watson, M. W. (1982). Bubbles, Rational Expectations and Financial Markets. NBER Working Paper No. 945. (Also published in Crises in the Economic and Financial Structure, Lexington Books)</a:t>
            </a:r>
          </a:p>
          <a:p>
            <a:r>
              <a:rPr lang="en-US" dirty="0"/>
              <a:t>Kindleberger, C. P., &amp; </a:t>
            </a:r>
            <a:r>
              <a:rPr lang="en-US" dirty="0" err="1"/>
              <a:t>Aliber</a:t>
            </a:r>
            <a:r>
              <a:rPr lang="en-US" dirty="0"/>
              <a:t>, R. Z. (2005). Manias, Panics, and Crashes: A History of Financial Crises (5th ed.). Palgrave Macmillan</a:t>
            </a:r>
          </a:p>
          <a:p>
            <a:r>
              <a:rPr lang="en-US" dirty="0"/>
              <a:t>Li, S., Liu, J., Dong, J., &amp; Li, X. (2021). 20 Years of research on real estate bubbles, risk and exuberance: a bibliometric analysis. Sustainability, 13(17), 9657.</a:t>
            </a:r>
          </a:p>
          <a:p>
            <a:r>
              <a:rPr lang="en-US" dirty="0"/>
              <a:t>Martin, A., &amp; Ventura, J. (2012). Economic Growth with Bubbles. American Economic Review, 102(6), 3033-3058.</a:t>
            </a:r>
          </a:p>
          <a:p>
            <a:r>
              <a:rPr lang="en-US" dirty="0"/>
              <a:t>Miao, J., &amp; Wang, P. (2018). Bubbles and Credit Constraints. American Economic Review, 108(9), 2590-2628.</a:t>
            </a:r>
          </a:p>
          <a:p>
            <a:r>
              <a:rPr lang="en-US" dirty="0"/>
              <a:t>Porter, D. P., &amp; Smith, V. L. (2003). Stock Market Bubbles in the Laboratory. The Journal of Behavioral Finance, 4(1), 7-20.</a:t>
            </a:r>
          </a:p>
          <a:p>
            <a:r>
              <a:rPr lang="en-US" dirty="0"/>
              <a:t>Santos, M. S., &amp; Woodford, M. (1997). Rational Asset Pricing Bubbles. </a:t>
            </a:r>
            <a:r>
              <a:rPr lang="en-US" dirty="0" err="1"/>
              <a:t>Econometrica</a:t>
            </a:r>
            <a:r>
              <a:rPr lang="en-US" dirty="0"/>
              <a:t>, 65(1), 19-57.</a:t>
            </a:r>
          </a:p>
          <a:p>
            <a:r>
              <a:rPr lang="en-US" dirty="0" err="1"/>
              <a:t>Tirole</a:t>
            </a:r>
            <a:r>
              <a:rPr lang="en-US" dirty="0"/>
              <a:t>, J. (1985). Asset Bubbles and Overlapping Generations. </a:t>
            </a:r>
            <a:r>
              <a:rPr lang="en-US" dirty="0" err="1"/>
              <a:t>Econometrica</a:t>
            </a:r>
            <a:r>
              <a:rPr lang="en-US" dirty="0"/>
              <a:t>, 53(6), 1499-1528.</a:t>
            </a:r>
          </a:p>
          <a:p>
            <a:endParaRPr lang="en-CA" dirty="0"/>
          </a:p>
        </p:txBody>
      </p:sp>
      <p:pic>
        <p:nvPicPr>
          <p:cNvPr id="4" name="Picture 3">
            <a:extLst>
              <a:ext uri="{FF2B5EF4-FFF2-40B4-BE49-F238E27FC236}">
                <a16:creationId xmlns:a16="http://schemas.microsoft.com/office/drawing/2014/main" id="{A524D00E-9308-7C77-ED78-FBC55452C3C4}"/>
              </a:ext>
            </a:extLst>
          </p:cNvPr>
          <p:cNvPicPr>
            <a:picLocks noChangeAspect="1"/>
          </p:cNvPicPr>
          <p:nvPr/>
        </p:nvPicPr>
        <p:blipFill>
          <a:blip r:embed="rId2"/>
          <a:stretch>
            <a:fillRect/>
          </a:stretch>
        </p:blipFill>
        <p:spPr>
          <a:xfrm>
            <a:off x="689165" y="5698385"/>
            <a:ext cx="1767993" cy="957155"/>
          </a:xfrm>
          <a:prstGeom prst="rect">
            <a:avLst/>
          </a:prstGeom>
        </p:spPr>
      </p:pic>
      <p:sp>
        <p:nvSpPr>
          <p:cNvPr id="5" name="Footer Placeholder 4">
            <a:extLst>
              <a:ext uri="{FF2B5EF4-FFF2-40B4-BE49-F238E27FC236}">
                <a16:creationId xmlns:a16="http://schemas.microsoft.com/office/drawing/2014/main" id="{5D91844C-0DAA-C716-0AE1-314BE507A1E2}"/>
              </a:ext>
            </a:extLst>
          </p:cNvPr>
          <p:cNvSpPr>
            <a:spLocks noGrp="1"/>
          </p:cNvSpPr>
          <p:nvPr>
            <p:ph type="ftr" sz="quarter" idx="11"/>
          </p:nvPr>
        </p:nvSpPr>
        <p:spPr/>
        <p:txBody>
          <a:bodyPr/>
          <a:lstStyle/>
          <a:p>
            <a:r>
              <a:rPr lang="en-US"/>
              <a:t>Lecturer at George Brown College and Ontario Tech university</a:t>
            </a:r>
            <a:endParaRPr lang="en-CA"/>
          </a:p>
        </p:txBody>
      </p:sp>
      <p:pic>
        <p:nvPicPr>
          <p:cNvPr id="6" name="Picture 5">
            <a:extLst>
              <a:ext uri="{FF2B5EF4-FFF2-40B4-BE49-F238E27FC236}">
                <a16:creationId xmlns:a16="http://schemas.microsoft.com/office/drawing/2014/main" id="{C174C58A-5193-CB51-E996-605F537FD084}"/>
              </a:ext>
            </a:extLst>
          </p:cNvPr>
          <p:cNvPicPr>
            <a:picLocks noChangeAspect="1"/>
          </p:cNvPicPr>
          <p:nvPr/>
        </p:nvPicPr>
        <p:blipFill>
          <a:blip r:embed="rId3"/>
          <a:stretch>
            <a:fillRect/>
          </a:stretch>
        </p:blipFill>
        <p:spPr>
          <a:xfrm>
            <a:off x="405015" y="230188"/>
            <a:ext cx="1707028" cy="1213209"/>
          </a:xfrm>
          <a:prstGeom prst="rect">
            <a:avLst/>
          </a:prstGeom>
        </p:spPr>
      </p:pic>
    </p:spTree>
    <p:extLst>
      <p:ext uri="{BB962C8B-B14F-4D97-AF65-F5344CB8AC3E}">
        <p14:creationId xmlns:p14="http://schemas.microsoft.com/office/powerpoint/2010/main" val="39864208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5870B-6969-F5E7-84CB-0A0BB4BFFC41}"/>
              </a:ext>
            </a:extLst>
          </p:cNvPr>
          <p:cNvSpPr>
            <a:spLocks noGrp="1"/>
          </p:cNvSpPr>
          <p:nvPr>
            <p:ph type="title"/>
          </p:nvPr>
        </p:nvSpPr>
        <p:spPr/>
        <p:txBody>
          <a:bodyPr/>
          <a:lstStyle/>
          <a:p>
            <a:r>
              <a:rPr lang="en-US" dirty="0"/>
              <a:t>1. Feature Engineering (The Input)</a:t>
            </a:r>
            <a:endParaRPr lang="en-CA" dirty="0"/>
          </a:p>
        </p:txBody>
      </p:sp>
      <p:sp>
        <p:nvSpPr>
          <p:cNvPr id="3" name="Content Placeholder 2">
            <a:extLst>
              <a:ext uri="{FF2B5EF4-FFF2-40B4-BE49-F238E27FC236}">
                <a16:creationId xmlns:a16="http://schemas.microsoft.com/office/drawing/2014/main" id="{87EA9F53-812D-1337-43CC-D51FCA5A2584}"/>
              </a:ext>
            </a:extLst>
          </p:cNvPr>
          <p:cNvSpPr>
            <a:spLocks noGrp="1"/>
          </p:cNvSpPr>
          <p:nvPr>
            <p:ph idx="1"/>
          </p:nvPr>
        </p:nvSpPr>
        <p:spPr/>
        <p:txBody>
          <a:bodyPr/>
          <a:lstStyle/>
          <a:p>
            <a:r>
              <a:rPr lang="en-US" dirty="0"/>
              <a:t># Calculating 12-day momentum</a:t>
            </a:r>
          </a:p>
          <a:p>
            <a:r>
              <a:rPr lang="en-US" dirty="0" err="1"/>
              <a:t>df</a:t>
            </a:r>
            <a:r>
              <a:rPr lang="en-US" dirty="0"/>
              <a:t>['momentum'] = </a:t>
            </a:r>
            <a:r>
              <a:rPr lang="en-US" dirty="0" err="1"/>
              <a:t>df</a:t>
            </a:r>
            <a:r>
              <a:rPr lang="en-US" dirty="0"/>
              <a:t>['Close'].</a:t>
            </a:r>
            <a:r>
              <a:rPr lang="en-US" dirty="0" err="1"/>
              <a:t>pct_change</a:t>
            </a:r>
            <a:r>
              <a:rPr lang="en-US" dirty="0"/>
              <a:t>(periods=12)</a:t>
            </a:r>
          </a:p>
          <a:p>
            <a:endParaRPr lang="en-US" dirty="0"/>
          </a:p>
          <a:p>
            <a:r>
              <a:rPr lang="en-CA" dirty="0"/>
              <a:t># Calculating rolling 12-day volatility</a:t>
            </a:r>
          </a:p>
          <a:p>
            <a:r>
              <a:rPr lang="en-CA" dirty="0" err="1"/>
              <a:t>df</a:t>
            </a:r>
            <a:r>
              <a:rPr lang="en-CA" dirty="0"/>
              <a:t>['</a:t>
            </a:r>
            <a:r>
              <a:rPr lang="en-CA" dirty="0" err="1"/>
              <a:t>log_ret</a:t>
            </a:r>
            <a:r>
              <a:rPr lang="en-CA" dirty="0"/>
              <a:t>'] = np.log(</a:t>
            </a:r>
            <a:r>
              <a:rPr lang="en-CA" dirty="0" err="1"/>
              <a:t>df</a:t>
            </a:r>
            <a:r>
              <a:rPr lang="en-CA" dirty="0"/>
              <a:t>['Close'] / </a:t>
            </a:r>
            <a:r>
              <a:rPr lang="en-CA" dirty="0" err="1"/>
              <a:t>df</a:t>
            </a:r>
            <a:r>
              <a:rPr lang="en-CA" dirty="0"/>
              <a:t>['Close'].shift(1))</a:t>
            </a:r>
          </a:p>
          <a:p>
            <a:r>
              <a:rPr lang="en-CA" dirty="0" err="1"/>
              <a:t>df</a:t>
            </a:r>
            <a:r>
              <a:rPr lang="en-CA" dirty="0"/>
              <a:t>['volatility'] = </a:t>
            </a:r>
            <a:r>
              <a:rPr lang="en-CA" dirty="0" err="1"/>
              <a:t>df</a:t>
            </a:r>
            <a:r>
              <a:rPr lang="en-CA" dirty="0"/>
              <a:t>['</a:t>
            </a:r>
            <a:r>
              <a:rPr lang="en-CA" dirty="0" err="1"/>
              <a:t>log_ret</a:t>
            </a:r>
            <a:r>
              <a:rPr lang="en-CA" dirty="0"/>
              <a:t>'].rolling(window=12).std()</a:t>
            </a:r>
          </a:p>
        </p:txBody>
      </p:sp>
      <p:sp>
        <p:nvSpPr>
          <p:cNvPr id="4" name="Footer Placeholder 3">
            <a:extLst>
              <a:ext uri="{FF2B5EF4-FFF2-40B4-BE49-F238E27FC236}">
                <a16:creationId xmlns:a16="http://schemas.microsoft.com/office/drawing/2014/main" id="{0D8610F7-93A1-3008-9DFA-60850C824FBC}"/>
              </a:ext>
            </a:extLst>
          </p:cNvPr>
          <p:cNvSpPr>
            <a:spLocks noGrp="1"/>
          </p:cNvSpPr>
          <p:nvPr>
            <p:ph type="ftr" sz="quarter" idx="11"/>
          </p:nvPr>
        </p:nvSpPr>
        <p:spPr/>
        <p:txBody>
          <a:bodyPr/>
          <a:lstStyle/>
          <a:p>
            <a:r>
              <a:rPr lang="en-US"/>
              <a:t>Lecturer at George Brown College and Ontario Tech university</a:t>
            </a:r>
            <a:endParaRPr lang="en-CA"/>
          </a:p>
        </p:txBody>
      </p:sp>
      <p:pic>
        <p:nvPicPr>
          <p:cNvPr id="5" name="Picture 4">
            <a:extLst>
              <a:ext uri="{FF2B5EF4-FFF2-40B4-BE49-F238E27FC236}">
                <a16:creationId xmlns:a16="http://schemas.microsoft.com/office/drawing/2014/main" id="{E42CDC39-506D-2135-5BAC-51C5B7599E2E}"/>
              </a:ext>
            </a:extLst>
          </p:cNvPr>
          <p:cNvPicPr>
            <a:picLocks noChangeAspect="1"/>
          </p:cNvPicPr>
          <p:nvPr/>
        </p:nvPicPr>
        <p:blipFill>
          <a:blip r:embed="rId2"/>
          <a:stretch>
            <a:fillRect/>
          </a:stretch>
        </p:blipFill>
        <p:spPr>
          <a:xfrm>
            <a:off x="838200" y="5328887"/>
            <a:ext cx="1761897" cy="951058"/>
          </a:xfrm>
          <a:prstGeom prst="rect">
            <a:avLst/>
          </a:prstGeom>
        </p:spPr>
      </p:pic>
    </p:spTree>
    <p:extLst>
      <p:ext uri="{BB962C8B-B14F-4D97-AF65-F5344CB8AC3E}">
        <p14:creationId xmlns:p14="http://schemas.microsoft.com/office/powerpoint/2010/main" val="36792859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A8103-5ACC-6832-33A2-725C00AA9E0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C42C86E-5AC9-5654-9702-CD780F689926}"/>
              </a:ext>
            </a:extLst>
          </p:cNvPr>
          <p:cNvSpPr>
            <a:spLocks noGrp="1"/>
          </p:cNvSpPr>
          <p:nvPr>
            <p:ph idx="1"/>
          </p:nvPr>
        </p:nvSpPr>
        <p:spPr/>
        <p:txBody>
          <a:bodyPr/>
          <a:lstStyle/>
          <a:p>
            <a:r>
              <a:rPr lang="en-US" dirty="0"/>
              <a:t>2. The LSTM Processing (The Black Box)</a:t>
            </a:r>
          </a:p>
          <a:p>
            <a:r>
              <a:rPr lang="en-US" dirty="0"/>
              <a:t>Once these features are fed into the </a:t>
            </a:r>
            <a:r>
              <a:rPr lang="en-US" b="1" dirty="0"/>
              <a:t>LSTM (Long Short-Term Memory)</a:t>
            </a:r>
            <a:r>
              <a:rPr lang="en-US" dirty="0"/>
              <a:t> network:</a:t>
            </a:r>
          </a:p>
          <a:p>
            <a:r>
              <a:rPr lang="en-US" b="1" dirty="0"/>
              <a:t>3. Feature Importance Calculation (SHAP or Permutation)</a:t>
            </a:r>
          </a:p>
          <a:p>
            <a:r>
              <a:rPr lang="en-US" dirty="0"/>
              <a:t>The specific percentages (62.6% for Momentum and 29.4% for Volatility) are calculated using a post-training analysis method (likely </a:t>
            </a:r>
            <a:r>
              <a:rPr lang="en-US" b="1" dirty="0"/>
              <a:t>Permutation Importance</a:t>
            </a:r>
            <a:r>
              <a:rPr lang="en-US" dirty="0"/>
              <a:t> or </a:t>
            </a:r>
            <a:r>
              <a:rPr lang="en-US" b="1" dirty="0"/>
              <a:t>SHAP values</a:t>
            </a:r>
            <a:r>
              <a:rPr lang="en-US" dirty="0"/>
              <a:t>):</a:t>
            </a:r>
          </a:p>
          <a:p>
            <a:endParaRPr lang="en-CA" dirty="0"/>
          </a:p>
        </p:txBody>
      </p:sp>
      <p:sp>
        <p:nvSpPr>
          <p:cNvPr id="4" name="Footer Placeholder 3">
            <a:extLst>
              <a:ext uri="{FF2B5EF4-FFF2-40B4-BE49-F238E27FC236}">
                <a16:creationId xmlns:a16="http://schemas.microsoft.com/office/drawing/2014/main" id="{D9581A5E-D1C7-C0A7-27D5-3A9FD3C3E881}"/>
              </a:ext>
            </a:extLst>
          </p:cNvPr>
          <p:cNvSpPr>
            <a:spLocks noGrp="1"/>
          </p:cNvSpPr>
          <p:nvPr>
            <p:ph type="ftr" sz="quarter" idx="11"/>
          </p:nvPr>
        </p:nvSpPr>
        <p:spPr/>
        <p:txBody>
          <a:bodyPr/>
          <a:lstStyle/>
          <a:p>
            <a:r>
              <a:rPr lang="en-US"/>
              <a:t>Lecturer at George Brown College and Ontario Tech university</a:t>
            </a:r>
            <a:endParaRPr lang="en-CA"/>
          </a:p>
        </p:txBody>
      </p:sp>
      <p:pic>
        <p:nvPicPr>
          <p:cNvPr id="5" name="Picture 4">
            <a:extLst>
              <a:ext uri="{FF2B5EF4-FFF2-40B4-BE49-F238E27FC236}">
                <a16:creationId xmlns:a16="http://schemas.microsoft.com/office/drawing/2014/main" id="{1E40B5EB-5C17-0CBE-39D1-4E765407888E}"/>
              </a:ext>
            </a:extLst>
          </p:cNvPr>
          <p:cNvPicPr>
            <a:picLocks noChangeAspect="1"/>
          </p:cNvPicPr>
          <p:nvPr/>
        </p:nvPicPr>
        <p:blipFill>
          <a:blip r:embed="rId2"/>
          <a:stretch>
            <a:fillRect/>
          </a:stretch>
        </p:blipFill>
        <p:spPr>
          <a:xfrm>
            <a:off x="838200" y="5328887"/>
            <a:ext cx="1761897" cy="951058"/>
          </a:xfrm>
          <a:prstGeom prst="rect">
            <a:avLst/>
          </a:prstGeom>
        </p:spPr>
      </p:pic>
    </p:spTree>
    <p:extLst>
      <p:ext uri="{BB962C8B-B14F-4D97-AF65-F5344CB8AC3E}">
        <p14:creationId xmlns:p14="http://schemas.microsoft.com/office/powerpoint/2010/main" val="34360466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193</TotalTime>
  <Words>3647</Words>
  <Application>Microsoft Office PowerPoint</Application>
  <PresentationFormat>Widescreen</PresentationFormat>
  <Paragraphs>297</Paragraphs>
  <Slides>43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Aptos</vt:lpstr>
      <vt:lpstr>Aptos Display</vt:lpstr>
      <vt:lpstr>Arial</vt:lpstr>
      <vt:lpstr>Calibri</vt:lpstr>
      <vt:lpstr>Google Sans Text</vt:lpstr>
      <vt:lpstr>system-ui</vt:lpstr>
      <vt:lpstr>Office Theme</vt:lpstr>
      <vt:lpstr>PowerPoint Presentation</vt:lpstr>
      <vt:lpstr>Summary </vt:lpstr>
      <vt:lpstr>The Core Problem</vt:lpstr>
      <vt:lpstr>PowerPoint Presentation</vt:lpstr>
      <vt:lpstr>Review of Literature</vt:lpstr>
      <vt:lpstr>PowerPoint Presentation</vt:lpstr>
      <vt:lpstr>PowerPoint Presentation</vt:lpstr>
      <vt:lpstr>PowerPoint Presentation</vt:lpstr>
      <vt:lpstr>PowerPoint Presentation</vt:lpstr>
      <vt:lpstr>Theoretical Foundations</vt:lpstr>
      <vt:lpstr>Blanchard &amp; Watson (1982) – Rational Bubbles </vt:lpstr>
      <vt:lpstr>Tirole (1985) – Overlapping Generations (OLG) Model </vt:lpstr>
      <vt:lpstr>Porter &amp; Smith (2003) – Bubbles with Perfect Information </vt:lpstr>
      <vt:lpstr>Kindleberger’s (2005) 5 stages:  </vt:lpstr>
      <vt:lpstr>PowerPoint Presentation</vt:lpstr>
      <vt:lpstr>PowerPoint Presentation</vt:lpstr>
      <vt:lpstr>Data Procurement &amp; Sources</vt:lpstr>
      <vt:lpstr>PowerPoint Presentation</vt:lpstr>
      <vt:lpstr>PowerPoint Presentation</vt:lpstr>
      <vt:lpstr>PowerPoint Presentation</vt:lpstr>
      <vt:lpstr>The "Accuracy Trap" (Crucial Slide)</vt:lpstr>
      <vt:lpstr>Traditional Econometric Specification</vt:lpstr>
      <vt:lpstr>the inflation-adjusted S&amp;P 500 price over nearly three decades.</vt:lpstr>
      <vt:lpstr>PowerPoint Presentation</vt:lpstr>
      <vt:lpstr>PowerPoint Presentation</vt:lpstr>
      <vt:lpstr>PowerPoint Presentation</vt:lpstr>
      <vt:lpstr>Proposed Hybrid Framework</vt:lpstr>
      <vt:lpstr>ML Layer Results for Historical Episodes</vt:lpstr>
      <vt:lpstr>Feature Importance in ML Layer</vt:lpstr>
      <vt:lpstr>PowerPoint Presentation</vt:lpstr>
      <vt:lpstr>1. Momentum (62.6%) — The #1 Signal </vt:lpstr>
      <vt:lpstr>2. Volatility (29.4%) — The Instability Gauge </vt:lpstr>
      <vt:lpstr>3. Adaptive Quantiles (75th/70th thresholds) — The Smart Baseline </vt:lpstr>
      <vt:lpstr>The logic:</vt:lpstr>
      <vt:lpstr>Empirical Results &amp; Comparisons</vt:lpstr>
      <vt:lpstr>Key Insight </vt:lpstr>
      <vt:lpstr>Detection Highlights (Case Studies)</vt:lpstr>
      <vt:lpstr>Policy &amp; Regulatory Implications</vt:lpstr>
      <vt:lpstr>PowerPoint Presentation</vt:lpstr>
      <vt:lpstr>Conclusion &amp; Future Work</vt:lpstr>
      <vt:lpstr>Reference</vt:lpstr>
      <vt:lpstr>1. Feature Engineering (The Input)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Mohsen Selseleh</dc:creator>
  <cp:lastModifiedBy>Mohsen Selseleh</cp:lastModifiedBy>
  <cp:revision>2</cp:revision>
  <dcterms:created xsi:type="dcterms:W3CDTF">2026-03-10T16:06:08Z</dcterms:created>
  <dcterms:modified xsi:type="dcterms:W3CDTF">2026-03-26T19:27:45Z</dcterms:modified>
</cp:coreProperties>
</file>